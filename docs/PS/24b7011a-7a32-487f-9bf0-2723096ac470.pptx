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7651-3882-5B64-4DD2-7D4C16B9B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9D6B4-9A52-AEDD-19C9-8F5D32C68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20BEB-3272-1CF3-97B2-941F6A27E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94A10-1418-0723-0374-186C4367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2DF37-5CE7-9ECA-1B5D-8A6BBE22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7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1C64-D7A1-1D64-3784-76C30B91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93A99-0464-A352-7BB3-E9A6A0283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39265-D8AE-947D-A0FA-015025FA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384C2-7911-A946-A3A7-E2EB14E5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CA396-48E0-5351-5F63-832404B0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46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79C21-6D87-4207-667C-E878EF9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78C6F-9269-1E7A-0C9E-C72E3ACA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2924E-2A52-10C5-EC84-3E1C26601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E518E-609F-159A-73F3-A2927A13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51B9C-0E49-D202-B6C0-89422047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9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48DE-F12C-7511-E94B-D876D7C2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C473A-D3D8-4425-8DC8-4CCEBE9CA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522C2-E407-4E6A-028F-02C272D69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2507A-91CC-CF67-935D-6EA0F4FE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024FF-4BB9-8B2C-4B53-527E1EFB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EBC37-5032-A7F9-073C-B1F2F280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7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E780-79CF-8531-DCFE-279D9BAD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5DCF3-1918-D1B3-2986-ACD5FA156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7D848-70DD-BEE0-5620-F2FB39366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48210-7DD7-A253-5A88-BC9ECFC15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B5B76-9E40-610E-F115-560B111DC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43037-A7A9-8622-DA28-B46105CA4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F0BF1-2358-D263-5FE2-291877CC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574CE6-B1F6-F1BB-CF54-4A5154EF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8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4635-8E7F-35D6-072C-9D0181CC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67694-747F-E4C5-2F32-F56A7DD0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AD9B7-C8DF-673C-C5A4-F783C556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B6C68-2006-5DDA-3895-30842D4F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6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EF59B-AE63-2205-80FD-67E95783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F26F4-79F9-A183-DBA6-AF4254F3A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5EB02-732B-EF8E-BF88-0C1F2AC1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7548-50BC-3B66-F56D-7BE60B21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34DB-F479-FE33-50CD-FF9FF4D5F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26015-8E40-ECF5-BE19-32AD5ED61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70083-AFB8-F6F1-0FC7-BCEF44680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CFD6F-D9A5-5D16-2B75-DD0BCBFA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0A786-8D14-030E-391E-99BA01E4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5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1AD3-54E4-DC3B-CF2B-C8333912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C51D-2265-9926-99CD-8E30BA504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2319D-CAB6-FF56-CFE0-55E56EF5D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AA773-EA34-0F16-283B-F11E589D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D0E9D-958A-52BD-92E6-9F42BF74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513D0-5DB4-2C22-DF89-B507490BB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7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5465-A904-86D2-B63A-95D9C3B3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0D50A-CB3B-0812-A1FA-62C835536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D1491-F301-044D-0FCA-D5987E33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3A181-23E8-9F2D-F1F2-70936196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A4E4A-335A-C783-9E7B-5A1112CD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7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81FC37-A522-1252-F511-68E8C4C81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4735-0F35-D310-3D0A-1F268171D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489A-9909-0178-115B-4718CC6E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C0DC-D3CE-830D-C70D-A426A8DD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00A8E-DC0E-DF2D-2251-E8DAC215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7EEE1-905B-7670-901D-89C35DEF0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317FD-7741-F08F-0293-8B703DDD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B6E5D-CD8E-6882-E973-A57255C8C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9E42D-04C6-404E-BB39-5DB3E1A22D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77940-1FE1-7B7F-2DFF-04D658CD2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F6ADD-A557-E4C5-27C0-BC0390EEE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589B4-9884-4419-81DD-2AB6E4A1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9906-3ABD-847B-A0A0-FFA6C607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9" y="329184"/>
            <a:ext cx="11274425" cy="685800"/>
          </a:xfrm>
        </p:spPr>
        <p:txBody>
          <a:bodyPr anchor="ctr"/>
          <a:lstStyle/>
          <a:p>
            <a:pPr algn="l"/>
            <a:r>
              <a:rPr lang="en-US" sz="2800" b="1" dirty="0">
                <a:solidFill>
                  <a:srgbClr val="1F497D"/>
                </a:solidFill>
                <a:latin typeface="Arial" panose="020B0604020202020204" pitchFamily="34" charset="0"/>
              </a:rPr>
              <a:t>RTL for AXI4 (Master &amp; Slave) to PCIe 6 Link</a:t>
            </a:r>
          </a:p>
        </p:txBody>
      </p:sp>
      <p:sp>
        <p:nvSpPr>
          <p:cNvPr id="8" name="Accent Rule"/>
          <p:cNvSpPr/>
          <p:nvPr/>
        </p:nvSpPr>
        <p:spPr>
          <a:xfrm>
            <a:off x="468313" y="1076325"/>
            <a:ext cx="182880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tent"/>
          <p:cNvSpPr>
            <a:spLocks noGrp="1"/>
          </p:cNvSpPr>
          <p:nvPr/>
        </p:nvSpPr>
        <p:spPr>
          <a:xfrm>
            <a:off x="458789" y="1404144"/>
            <a:ext cx="11274425" cy="5133816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45720" bIns="45720" anchor="t">
            <a:normAutofit/>
          </a:bodyPr>
          <a:lstStyle/>
          <a:p>
            <a:pPr>
              <a:spcAft>
                <a:spcPts val="300"/>
              </a:spcAft>
            </a:pPr>
            <a:r>
              <a:rPr lang="en-US" sz="1500" b="1" dirty="0">
                <a:solidFill>
                  <a:srgbClr val="1F497D"/>
                </a:solidFill>
                <a:latin typeface="Arial" panose="020B0604020202020204" pitchFamily="34" charset="0"/>
              </a:rPr>
              <a:t>Problem Statement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AXI4 to PCIe link has multiple use cases. For instance, </a:t>
            </a:r>
          </a:p>
          <a:p>
            <a:pPr marL="228600" indent="-228600">
              <a:spcAft>
                <a:spcPts val="300"/>
              </a:spcAft>
              <a:buAutoNum type="alphaLcParenBoth"/>
            </a:pP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Network Packet Processing: </a:t>
            </a:r>
            <a:r>
              <a:rPr lang="en-US" sz="1200" dirty="0" err="1">
                <a:solidFill>
                  <a:srgbClr val="404040"/>
                </a:solidFill>
                <a:latin typeface="Arial" panose="020B0604020202020204" pitchFamily="34" charset="0"/>
              </a:rPr>
              <a:t>SmartNICs</a:t>
            </a: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 and networking hardware use AXI-Stream interfaces to process continuous streams of packets (e.g., Ethernet packets). The conversion hardware bridges these streams into PCIe to route them straight into host server memory.</a:t>
            </a:r>
          </a:p>
          <a:p>
            <a:pPr marL="228600" indent="-228600">
              <a:spcAft>
                <a:spcPts val="300"/>
              </a:spcAft>
              <a:buFontTx/>
              <a:buAutoNum type="alphaLcParenBoth"/>
            </a:pP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Machine Learning Inference Accelerators: AI acceleration cards (like those based on Xilinx/AMD or Intel FPGAs) take a stream of processed neural network weights or pixel data and send it directly into the host memory buffer.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1F497D"/>
                </a:solidFill>
                <a:latin typeface="Arial" panose="020B0604020202020204" pitchFamily="34" charset="0"/>
              </a:rPr>
              <a:t>Objective</a:t>
            </a:r>
          </a:p>
          <a:p>
            <a:pPr>
              <a:spcAft>
                <a:spcPts val="200"/>
              </a:spcAft>
            </a:pPr>
            <a:r>
              <a:rPr lang="en-US" sz="1200" i="1" dirty="0">
                <a:solidFill>
                  <a:srgbClr val="404040"/>
                </a:solidFill>
                <a:latin typeface="Arial" panose="020B0604020202020204" pitchFamily="34" charset="0"/>
              </a:rPr>
              <a:t>Develop a synthesizable RTL Design based on the block diagram shown (next slide)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1F497D"/>
                </a:solidFill>
                <a:latin typeface="Arial" panose="020B0604020202020204" pitchFamily="34" charset="0"/>
              </a:rPr>
              <a:t>Deliverables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404040"/>
                </a:solidFill>
                <a:latin typeface="Arial" panose="020B0604020202020204" pitchFamily="34" charset="0"/>
              </a:rPr>
              <a:t>Complete Synthesized RTL &amp; GDSII (block diagram in the next slide) using </a:t>
            </a:r>
            <a:r>
              <a:rPr lang="en-US" sz="1200" i="1" dirty="0" err="1">
                <a:solidFill>
                  <a:srgbClr val="404040"/>
                </a:solidFill>
                <a:latin typeface="Arial" panose="020B0604020202020204" pitchFamily="34" charset="0"/>
              </a:rPr>
              <a:t>OpenRoad</a:t>
            </a:r>
            <a:r>
              <a:rPr lang="en-US" sz="1200" i="1" dirty="0">
                <a:solidFill>
                  <a:srgbClr val="404040"/>
                </a:solidFill>
                <a:latin typeface="Arial" panose="020B0604020202020204" pitchFamily="34" charset="0"/>
              </a:rPr>
              <a:t>/</a:t>
            </a:r>
            <a:r>
              <a:rPr lang="en-US" sz="1200" i="1" dirty="0" err="1">
                <a:solidFill>
                  <a:srgbClr val="404040"/>
                </a:solidFill>
                <a:latin typeface="Arial" panose="020B0604020202020204" pitchFamily="34" charset="0"/>
              </a:rPr>
              <a:t>OpenLane</a:t>
            </a:r>
            <a:r>
              <a:rPr lang="en-US" sz="1200" i="1" dirty="0">
                <a:solidFill>
                  <a:srgbClr val="404040"/>
                </a:solidFill>
                <a:latin typeface="Arial" panose="020B0604020202020204" pitchFamily="34" charset="0"/>
              </a:rPr>
              <a:t> (Data Rate may be reduced depending on the tech node) </a:t>
            </a:r>
            <a:endParaRPr lang="en-US" sz="1200" dirty="0">
              <a:solidFill>
                <a:srgbClr val="40404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404040"/>
                </a:solidFill>
                <a:latin typeface="Arial" panose="020B0604020202020204" pitchFamily="34" charset="0"/>
              </a:rPr>
              <a:t>Exhaustive functional test cases (relevant workloads corresponding to the two use cases)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404040"/>
                </a:solidFill>
                <a:latin typeface="Arial" panose="020B0604020202020204" pitchFamily="34" charset="0"/>
              </a:rPr>
              <a:t>Bonus: FPGA tested AXI4 to PCIe IP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1F497D"/>
                </a:solidFill>
                <a:latin typeface="Arial" panose="020B0604020202020204" pitchFamily="34" charset="0"/>
              </a:rPr>
              <a:t>Tools &amp; Resources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Python, Verilog/</a:t>
            </a:r>
            <a:r>
              <a:rPr lang="en-US" sz="1200" dirty="0" err="1">
                <a:solidFill>
                  <a:srgbClr val="404040"/>
                </a:solidFill>
                <a:latin typeface="Arial" panose="020B0604020202020204" pitchFamily="34" charset="0"/>
              </a:rPr>
              <a:t>SystemVerilog</a:t>
            </a: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/SVA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Icarus Verilog, Xilinx </a:t>
            </a:r>
            <a:r>
              <a:rPr lang="en-US" sz="1200" dirty="0" err="1">
                <a:solidFill>
                  <a:srgbClr val="404040"/>
                </a:solidFill>
                <a:latin typeface="Arial" panose="020B0604020202020204" pitchFamily="34" charset="0"/>
              </a:rPr>
              <a:t>Vivado</a:t>
            </a: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 (cannot use host controller IPs from </a:t>
            </a:r>
            <a:r>
              <a:rPr lang="en-US" sz="1200" dirty="0" err="1">
                <a:solidFill>
                  <a:srgbClr val="404040"/>
                </a:solidFill>
                <a:latin typeface="Arial" panose="020B0604020202020204" pitchFamily="34" charset="0"/>
              </a:rPr>
              <a:t>Xlinix</a:t>
            </a: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)</a:t>
            </a:r>
          </a:p>
          <a:p>
            <a:pPr marL="228600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404040"/>
                </a:solidFill>
                <a:latin typeface="Arial" panose="020B0604020202020204" pitchFamily="34" charset="0"/>
              </a:rPr>
              <a:t>OpenRoad</a:t>
            </a: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 or </a:t>
            </a:r>
            <a:r>
              <a:rPr lang="en-US" sz="1200" dirty="0" err="1">
                <a:solidFill>
                  <a:srgbClr val="404040"/>
                </a:solidFill>
                <a:latin typeface="Arial" panose="020B0604020202020204" pitchFamily="34" charset="0"/>
              </a:rPr>
              <a:t>OpenLane</a:t>
            </a:r>
            <a:r>
              <a:rPr lang="en-US" sz="1200" dirty="0">
                <a:solidFill>
                  <a:srgbClr val="404040"/>
                </a:solidFill>
                <a:latin typeface="Arial" panose="020B0604020202020204" pitchFamily="34" charset="0"/>
              </a:rPr>
              <a:t> with opensource PDKs</a:t>
            </a:r>
          </a:p>
        </p:txBody>
      </p:sp>
    </p:spTree>
    <p:extLst>
      <p:ext uri="{BB962C8B-B14F-4D97-AF65-F5344CB8AC3E}">
        <p14:creationId xmlns:p14="http://schemas.microsoft.com/office/powerpoint/2010/main" val="3267399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9906-3ABD-847B-A0A0-FFA6C607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9" y="329184"/>
            <a:ext cx="11274425" cy="685800"/>
          </a:xfrm>
        </p:spPr>
        <p:txBody>
          <a:bodyPr anchor="ctr"/>
          <a:lstStyle/>
          <a:p>
            <a:pPr algn="l"/>
            <a:r>
              <a:rPr lang="en-US" sz="2800" b="1" dirty="0">
                <a:solidFill>
                  <a:srgbClr val="1F497D"/>
                </a:solidFill>
                <a:latin typeface="Arial" panose="020B0604020202020204" pitchFamily="34" charset="0"/>
              </a:rPr>
              <a:t>RTL for AXI4 (Master &amp; Slave) to PCIe 6 Link</a:t>
            </a:r>
          </a:p>
        </p:txBody>
      </p:sp>
      <p:sp>
        <p:nvSpPr>
          <p:cNvPr id="8" name="Accent Rule"/>
          <p:cNvSpPr/>
          <p:nvPr/>
        </p:nvSpPr>
        <p:spPr>
          <a:xfrm>
            <a:off x="468313" y="1076325"/>
            <a:ext cx="182880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tent"/>
          <p:cNvSpPr>
            <a:spLocks noGrp="1"/>
          </p:cNvSpPr>
          <p:nvPr/>
        </p:nvSpPr>
        <p:spPr>
          <a:xfrm>
            <a:off x="458789" y="1404144"/>
            <a:ext cx="11274425" cy="5133816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45720" bIns="45720" anchor="t">
            <a:normAutofit/>
          </a:bodyPr>
          <a:lstStyle/>
          <a:p>
            <a:pPr>
              <a:spcAft>
                <a:spcPts val="300"/>
              </a:spcAft>
            </a:pPr>
            <a:r>
              <a:rPr lang="en-US" sz="1500" b="1" dirty="0">
                <a:solidFill>
                  <a:srgbClr val="1F497D"/>
                </a:solidFill>
                <a:latin typeface="Arial" panose="020B0604020202020204" pitchFamily="34" charset="0"/>
              </a:rPr>
              <a:t>Block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0A407-225C-4D92-A3D9-8F19A18F7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12" y="1682768"/>
            <a:ext cx="8186839" cy="487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71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64d6687-5155-4a0e-a628-49dd428607fb}" enabled="1" method="Standard" siteId="{f47c88fd-08a9-4016-b488-3f361c03ff2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221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RTL for AXI4 (Master &amp; Slave) to PCIe 6 Link</vt:lpstr>
      <vt:lpstr>RTL for AXI4 (Master &amp; Slave) to PCIe 6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Nebula 2026 </dc:title>
  <dc:creator>Pallavi Atha</dc:creator>
  <cp:lastModifiedBy>Laxmeesha  Somappa</cp:lastModifiedBy>
  <cp:revision>21</cp:revision>
  <dcterms:created xsi:type="dcterms:W3CDTF">2026-07-17T09:09:39Z</dcterms:created>
  <dcterms:modified xsi:type="dcterms:W3CDTF">2026-08-27T09:36:53Z</dcterms:modified>
</cp:coreProperties>
</file>