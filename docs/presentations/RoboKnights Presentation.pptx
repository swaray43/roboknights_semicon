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40 s) · Aditya</a:t>
            </a:r>
          </a:p>
          <a:p/>
          <a:p>
            <a:r>
              <a:t>*[Title slide on screen]*</a:t>
            </a:r>
          </a:p>
          <a:p/>
          <a:p>
            <a:r>
              <a:t>&gt; Good morning. We're Team RoboKnights: I'm Aditya, with Swaray and Kshitij.</a:t>
            </a:r>
          </a:p>
          <a:p>
            <a:r>
              <a:t>&gt;</a:t>
            </a:r>
          </a:p>
          <a:p>
            <a:r>
              <a:t>&gt; Our project is an RTL bridge that takes data from two FPGA-fabric producers — a SmartNIC and an ML inference accelerator, each on a 512-bit AXI4-Stream port — and delivers it into host memory over a PCIe 6.0 Flit-mode link.</a:t>
            </a:r>
          </a:p>
          <a:p>
            <a:r>
              <a:t>&gt;</a:t>
            </a:r>
          </a:p>
          <a:p>
            <a:r>
              <a:t>&gt; The design is split into three layers, one per person:</a:t>
            </a:r>
          </a:p>
          <a:p>
            <a:r>
              <a:t>&gt; - I built the interconnect: the two ingest ports, the arbiter and the clock crossing.</a:t>
            </a:r>
          </a:p>
          <a:p>
            <a:r>
              <a:t>&gt; - Swaray built the link layer: TLPs, Flits, CRC and FEC, and replay.</a:t>
            </a:r>
          </a:p>
          <a:p>
            <a:r>
              <a:t>&gt; - Kshitij built the protocol-to-PHY layer: the PAM4 lanes, link training, resets, config space, BAR0 registers and MSI-X interrupts.</a:t>
            </a:r>
          </a:p>
          <a:p>
            <a:r>
              <a:t>&gt;</a:t>
            </a:r>
          </a:p>
          <a:p>
            <a:r>
              <a:t>&gt; We took it to FPGA timing closure on a Xilinx Alveo U250 part, and through the open-source flow to GDSII on SkyWater 130 nanometre.</a:t>
            </a:r>
          </a:p>
          <a:p/>
          <a:p>
            <a:r>
              <a:t>*[Point to the layout image]* This is the interconnect layout from that flow.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1 (≈ 50 s) · Aditya</a:t>
            </a:r>
          </a:p>
          <a:p/>
          <a:p>
            <a:r>
              <a:t>&gt; In Round 1, up to 15 October, each of us built and unit-tested our own layer.</a:t>
            </a:r>
          </a:p>
          <a:p>
            <a:r>
              <a:t>&gt;</a:t>
            </a:r>
          </a:p>
          <a:p>
            <a:r>
              <a:t>&gt; *[Left column]* The interconnect was complete. We fixed four real bugs, including an arbiter deadlock and a combinational loop in the FIFO's full flag, and the integration bench passed 128 out of 128 beats.</a:t>
            </a:r>
          </a:p>
          <a:p>
            <a:r>
              <a:t>&gt;</a:t>
            </a:r>
          </a:p>
          <a:p>
            <a:r>
              <a:t>&gt; *[Middle column]* The link layer's core blocks — write buffer, replay buffer, Flit framing — were working and unit-tested, but the transaction blocks weren't yet wired into one path.</a:t>
            </a:r>
          </a:p>
          <a:p>
            <a:r>
              <a:t>&gt;</a:t>
            </a:r>
          </a:p>
          <a:p>
            <a:r>
              <a:t>&gt; *[Right column]* The PHY lane chain was bit-exact in loopback, the reset, config and MSI-X control plane existed, and 4 out of 4 cocotb tests passed.</a:t>
            </a:r>
          </a:p>
          <a:p>
            <a:r>
              <a:t>&gt;</a:t>
            </a:r>
          </a:p>
          <a:p>
            <a:r>
              <a:t>&gt; *[Bottom bar]* So at the Round 1 submission the layers were connected, but we hadn't yet shown data correctness end to end: there was no TLP packetizer, and no back-pressure between the link and the PHY. Round 2 started there.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integration (≈ 70 s) · Kshitij</a:t>
            </a:r>
          </a:p>
          <a:p/>
          <a:p>
            <a:r>
              <a:t>&gt; Round 2 started with an honest review of the merged repository: all three layers in one tree, one layer at a time.</a:t>
            </a:r>
          </a:p>
          <a:p>
            <a:r>
              <a:t>&gt;</a:t>
            </a:r>
          </a:p>
          <a:p>
            <a:r>
              <a:t>&gt; It found real problems:</a:t>
            </a:r>
          </a:p>
          <a:p>
            <a:r>
              <a:t>&gt; - the layers didn't even compile together, because one module was defined twice;</a:t>
            </a:r>
          </a:p>
          <a:p>
            <a:r>
              <a:t>&gt; - the link layer's replay buffer had no ACK source, so it stopped after 31 beats;</a:t>
            </a:r>
          </a:p>
          <a:p>
            <a:r>
              <a:t>&gt; - the PHY drained data 32 times slower than the link wrote it, with no ready signal between them;</a:t>
            </a:r>
          </a:p>
          <a:p>
            <a:r>
              <a:t>&gt; - the TUSER bits between the interconnect and the link were in a different order, so every beat was routed as channel 0.</a:t>
            </a:r>
          </a:p>
          <a:p>
            <a:r>
              <a:t>&gt;</a:t>
            </a:r>
          </a:p>
          <a:p>
            <a:r>
              <a:t>&gt; *[Point to the diagram]* We fixed those layer by layer.</a:t>
            </a:r>
          </a:p>
          <a:p>
            <a:r>
              <a:t>&gt; - A FIFO and an explicit ready signal between link and PHY.</a:t>
            </a:r>
          </a:p>
          <a:p>
            <a:r>
              <a:t>&gt; - One shared TUSER definition, so the layout can't drift again.</a:t>
            </a:r>
          </a:p>
          <a:p>
            <a:r>
              <a:t>&gt; - Host BAR0 registers for the per-channel base addresses and limits.</a:t>
            </a:r>
          </a:p>
          <a:p>
            <a:r>
              <a:t>&gt; - ACK/NAK replay, and recovery when the link goes down.</a:t>
            </a:r>
          </a:p>
          <a:p>
            <a:r>
              <a:t>&gt;</a:t>
            </a:r>
          </a:p>
          <a:p>
            <a:r>
              <a:t>&gt; On the PHY side we also made the link train itself over the lanes — Detect, Polling with TS1, Configuration with TS2, then L0 — with lane deskew and lane-reversal detection, instead of being told it was trained.</a:t>
            </a:r>
          </a:p>
          <a:p>
            <a:r>
              <a:t>&gt;</a:t>
            </a:r>
          </a:p>
          <a:p>
            <a:r>
              <a:t>&gt; *[Point to the numbers]* The checkpoint at the end of this step:</a:t>
            </a:r>
          </a:p>
          <a:p>
            <a:r>
              <a:t>&gt; - 144 out of 144 TLPs delivered end to end in the integration test.</a:t>
            </a:r>
          </a:p>
          <a:p>
            <a:r>
              <a:t>&gt; - Then CI with 46 protected-code guard rules.</a:t>
            </a:r>
          </a:p>
          <a:p>
            <a:r>
              <a:t>&gt; - A randomized bench over 40 seeds hitting all 73 required coverage bins.</a:t>
            </a:r>
          </a:p>
          <a:p>
            <a:r>
              <a:t>&gt; - 4 formal proofs with SymbiYosys.</a:t>
            </a:r>
          </a:p>
          <a:p>
            <a:r>
              <a:t>&gt;</a:t>
            </a:r>
          </a:p>
          <a:p>
            <a:r>
              <a:t>&gt; Across Round 2 that came to 44 design bugs and 21 testbench bugs, each one tracked in our ledger with who found it, who fixed it and which patch carries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Vivado schematic (≈ 30 s) · Swaray</a:t>
            </a:r>
          </a:p>
          <a:p/>
          <a:p>
            <a:r>
              <a:t>&gt; This is the synthesized netlist of the whole bridge from Vivado. It isn't a timing result; it's evidence that the full hierarchy synthesizes as one design.</a:t>
            </a:r>
          </a:p>
          <a:p>
            <a:r>
              <a:t>&gt;</a:t>
            </a:r>
          </a:p>
          <a:p>
            <a:r>
              <a:t>&gt; *[Right panel]* You can see `interconnect_top`, the link-and-PHY block and the reset structures, with the AXI4-Stream, BAR0 and lane interfaces at the boundary. The functional and timing claims are backed separately by the testbenches and the Vivado reports on the next slides.</a:t>
            </a:r>
          </a:p>
          <a:p/>
          <a:p>
            <a:r>
              <a:t>*(Keep this short — it's a visual check, not a talking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progression (≈ 70 s) · Swaray</a:t>
            </a:r>
          </a:p>
          <a:p/>
          <a:p>
            <a:r>
              <a:t>&gt; This chart is the story of our clock speed. The target is 250 MHz on the PCIe clock.</a:t>
            </a:r>
          </a:p>
          <a:p>
            <a:r>
              <a:t>&gt;</a:t>
            </a:r>
          </a:p>
          <a:p>
            <a:r>
              <a:t>&gt; *[Point along the bars]*</a:t>
            </a:r>
          </a:p>
          <a:p>
            <a:r>
              <a:t>&gt; - The very first build ran at 39 MHz.</a:t>
            </a:r>
          </a:p>
          <a:p>
            <a:r>
              <a:t>&gt; - After the integration fixes we had a clean, fully verified base at 118 MHz.</a:t>
            </a:r>
          </a:p>
          <a:p>
            <a:r>
              <a:t>&gt; - Then we did the obvious thing for throughput and widened the datapath to 512 bits end to end — and Fmax dropped to 49 MHz.</a:t>
            </a:r>
          </a:p>
          <a:p>
            <a:r>
              <a:t>&gt;</a:t>
            </a:r>
          </a:p>
          <a:p>
            <a:r>
              <a:t>&gt; We didn't hide that. The timing report showed exactly why: the CRC-64 over the whole Flit had become one combinational cone, 51 logic levels in a single cycle.</a:t>
            </a:r>
          </a:p>
          <a:p>
            <a:r>
              <a:t>&gt;</a:t>
            </a:r>
          </a:p>
          <a:p>
            <a:r>
              <a:t>&gt; So we split the CRC into per-chunk parts that are combined, which got us to 147 MHz. We then rewrote CRC and FEC as constant-mask XOR trees and registered the inbound beat, which got us to 248 MHz at the freeze. The last step, to 255 MHz, came from a fix the ASIC flow forced on us, on the next slide.</a:t>
            </a:r>
          </a:p>
          <a:p>
            <a:r>
              <a:t>&gt;</a:t>
            </a:r>
          </a:p>
          <a:p>
            <a:r>
              <a:t>&gt; *[Bottom line]* Failing timing endpoints went from 19,046 to zero.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RTL changes that mattered most (≈ 100 s) · Swaray + Kshitij</a:t>
            </a:r>
          </a:p>
          <a:p/>
          <a:p>
            <a:r>
              <a:t>&gt; Here are the five changes with the biggest measurable result, each with its number. The pattern is: widen the datapath for throughput, pipeline it for clock speed, then make the protocol lose nothing.</a:t>
            </a:r>
          </a:p>
          <a:p/>
          <a:p>
            <a:r>
              <a:t>*[Row 1 — Swaray]*</a:t>
            </a:r>
          </a:p>
          <a:p>
            <a:r>
              <a:t>&gt; The old design squeezed 512-bit beats through a 32-bit serialiser and put one TLP in each Flit. We made the TLP engine as wide as the bus and merged beats into max-payload TLPs that never cross a 4 KB boundary. ML throughput went from 0.06 to 6.17 gigabytes per second — about 100 times.</a:t>
            </a:r>
          </a:p>
          <a:p/>
          <a:p>
            <a:r>
              <a:t>*[Row 2 — Kshitij]*</a:t>
            </a:r>
          </a:p>
          <a:p>
            <a:r>
              <a:t>&gt; Receive and PHY had to keep up with the wider transmit side, or the latency would just move downstream. The RX now decodes 16 DWs per clock instead of one, and the PHY moves 8 bytes per lane per clock instead of one byte per four clocks, with FIFO back-pressure so nothing is dropped. SmartNIC tail latency went from 58 to 0.59 microseconds, at 4.84 million packets per second.</a:t>
            </a:r>
          </a:p>
          <a:p/>
          <a:p>
            <a:r>
              <a:t>*[Row 3 — Swaray]*</a:t>
            </a:r>
          </a:p>
          <a:p>
            <a:r>
              <a:t>&gt; Widening first dropped us to 49 MHz, because CRC-64 became one huge cycle. Splitting it into XOR trees got us to 248.</a:t>
            </a:r>
          </a:p>
          <a:p/>
          <a:p>
            <a:r>
              <a:t>*[Row 4 — Aditya or Swaray]*</a:t>
            </a:r>
          </a:p>
          <a:p>
            <a:r>
              <a:t>&gt; On the ASIC slow corner, the path from TKEEP through a popcount and the limit compare to TREADY took 27 nanoseconds. We made TREADY independent of TKEEP and check only a beat near the session limit one cycle later. That fixed the ASIC slack, from −12 to −0.5 nanoseconds, and it also gave the FPGA its last margin: 255 MHz with every path met.</a:t>
            </a:r>
          </a:p>
          <a:p/>
          <a:p>
            <a:r>
              <a:t>*[Row 5 — Kshitij]*</a:t>
            </a:r>
          </a:p>
          <a:p>
            <a:r>
              <a:t>&gt; Speed means nothing if data is lost. The replay buffer now really gets ACKs and NAKs, FEC actually corrects, there's CRC-64 and real credit flow control, and the PHY recovers when the cable is pulled. Over 40 random seeds the bench corrected 1,069 errors and recovered from 7 cable pulls with zero data loss. These fixes came from a random test bench that reaches every error path.</a:t>
            </a:r>
          </a:p>
          <a:p/>
          <a:p>
            <a:r>
              <a:t>*[Footer]*</a:t>
            </a:r>
          </a:p>
          <a:p>
            <a:r>
              <a:t>&gt; Overall: 118 to 255 MHz, 2.2 times faster, with only 2% more LUTs, because the wide path replaced the serial one instead of being added next to it.</a:t>
            </a:r>
          </a:p>
          <a:p/>
          <a:p>
            <a:r>
              <a:t>*(If time is short: rows 3 and 4 are the strongest for judges. Something broke, we measured why, and we fixed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FPGA results and workloads (≈ 70 s) · Aditya</a:t>
            </a:r>
          </a:p>
          <a:p/>
          <a:p>
            <a:r>
              <a:t>&gt; *[Left table]* Final FPGA numbers on the xcu250:</a:t>
            </a:r>
          </a:p>
          <a:p>
            <a:r>
              <a:t>&gt; - PCIe clock 255 MHz with worst negative slack +0.072 ns; AXI clock 221 MHz.</a:t>
            </a:r>
          </a:p>
          <a:p>
            <a:r>
              <a:t>&gt; - Zero failing endpoints.</a:t>
            </a:r>
          </a:p>
          <a:p>
            <a:r>
              <a:t>&gt; - LUTs barely moved: 56k to 57k.</a:t>
            </a:r>
          </a:p>
          <a:p>
            <a:r>
              <a:t>&gt; - Flip-flops went up because of the pipelining — that's the deliberate trade.</a:t>
            </a:r>
          </a:p>
          <a:p>
            <a:r>
              <a:t>&gt;</a:t>
            </a:r>
          </a:p>
          <a:p>
            <a:r>
              <a:t>&gt; *[Right table]* Fmax alone doesn't tell you whether the bridge serves its two users, so we built our own traffic analyser and ran real workloads in simulation, normalised to 250 MHz:</a:t>
            </a:r>
          </a:p>
          <a:p>
            <a:r>
              <a:t>&gt; - ML tensors: 0.06 to 6.17 GB/s.</a:t>
            </a:r>
          </a:p>
          <a:p>
            <a:r>
              <a:t>&gt; - SmartNIC IMIX packets: 0.15 to 4.84 million per second.</a:t>
            </a:r>
          </a:p>
          <a:p>
            <a:r>
              <a:t>&gt; - Back-to-back 64-byte packets: 0.48 to 11.6 million per second.</a:t>
            </a:r>
          </a:p>
          <a:p>
            <a:r>
              <a:t>&gt; - NIC p99 latency: 58 to 0.59 microseconds.</a:t>
            </a:r>
          </a:p>
          <a:p>
            <a:r>
              <a:t>&gt; - With the ML stream saturating the link at a 1:7 weighting, the NIC's p99 still drops from 241 to 4.2 microseconds. That's the weighted arbiter doing its job.</a:t>
            </a:r>
          </a:p>
          <a:p>
            <a:r>
              <a:t>&gt;</a:t>
            </a:r>
          </a:p>
          <a:p>
            <a:r>
              <a:t>&gt; *[Resource note]* No block RAM, URAM or DSP is used: every buffer is LUT RAM, about 3% of the device.</a:t>
            </a:r>
          </a:p>
          <a:p>
            <a:r>
              <a:t>&gt;</a:t>
            </a:r>
          </a:p>
          <a:p>
            <a:r>
              <a:t>&gt; To be clear, these workload numbers are RTL simulation, not board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SKY130 physical implementation (≈ 60 s) · Aditya</a:t>
            </a:r>
          </a:p>
          <a:p/>
          <a:p>
            <a:r>
              <a:t>&gt; We also took the design through LibreLane on SkyWater 130 nanometre.</a:t>
            </a:r>
          </a:p>
          <a:p>
            <a:r>
              <a:t>&gt;</a:t>
            </a:r>
          </a:p>
          <a:p>
            <a:r>
              <a:t>&gt; *[Left]* The interconnect went all the way to GDSII:</a:t>
            </a:r>
          </a:p>
          <a:p>
            <a:r>
              <a:t>&gt; - DRC, LVS and antenna clean, hold met.</a:t>
            </a:r>
          </a:p>
          <a:p>
            <a:r>
              <a:t>&gt; - 1.20 square millimetres at 41% utilisation, about 49,000 cells, 104 milliwatts.</a:t>
            </a:r>
          </a:p>
          <a:p>
            <a:r>
              <a:t>&gt; - Setup at the slow corner was −0.95 nanoseconds, which our X.1 fix improved to −0.52.</a:t>
            </a:r>
          </a:p>
          <a:p>
            <a:r>
              <a:t>&gt;</a:t>
            </a:r>
          </a:p>
          <a:p>
            <a:r>
              <a:t>&gt; *[Right]* For the full bridge we built a narrow ASIC profile from the same RTL: narrow PHY, smaller buffers, 30-nanosecond clock.</a:t>
            </a:r>
          </a:p>
          <a:p>
            <a:r>
              <a:t>&gt; - It went through synthesis, floorplan, placement, clock tree and global routing, about 3.9 square millimetres of cells.</a:t>
            </a:r>
          </a:p>
          <a:p>
            <a:r>
              <a:t>&gt; - Detailed routing didn't converge before the cutoff, so we're not claiming full-bridge sign-off.</a:t>
            </a:r>
          </a:p>
          <a:p>
            <a:r>
              <a:t>&gt;</a:t>
            </a:r>
          </a:p>
          <a:p>
            <a:r>
              <a:t>&gt; *(The reason is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full-bridge GDSII wasn't completed (≈ 60 s) · Aditya</a:t>
            </a:r>
          </a:p>
          <a:p/>
          <a:p>
            <a:r>
              <a:t>&gt; We want to be upfront about what we didn't finish, and why.</a:t>
            </a:r>
          </a:p>
          <a:p>
            <a:r>
              <a:t>&gt;</a:t>
            </a:r>
          </a:p>
          <a:p>
            <a:r>
              <a:t>&gt; 1. The design itself. The same wide 512-bit processing, parallel CRC/FEC and replay buffering that gave us the throughput also make placement and routing much harder.</a:t>
            </a:r>
          </a:p>
          <a:p>
            <a:r>
              <a:t>&gt; 2. The ASIC flow. It exposed Yosys latch and logic-loop issues in the RX correction path that the FPGA tools never complained about. Our patches X.1 to X.4 fixed those, and we created the narrow implementation profile.</a:t>
            </a:r>
          </a:p>
          <a:p>
            <a:r>
              <a:t>&gt; 3. Compute and time. Our first machines didn't have enough memory for full-design routing. We secured campus compute, but debugging and reruns ran into the deadline. The router ran out of memory once, and on the restart the violations grew instead of falling, which tells us the floorplan is too congested. The next step is a looser floorplan, around 20% core utilisation, with capped router threads.</a:t>
            </a:r>
          </a:p>
          <a:p>
            <a:r>
              <a:t>&gt;</a:t>
            </a:r>
          </a:p>
          <a:p>
            <a:r>
              <a:t>&gt; *[Evidence bar]* At the cutoff:</a:t>
            </a:r>
          </a:p>
          <a:p>
            <a:r>
              <a:t>&gt; - Interconnect GDSII generated and clean.</a:t>
            </a:r>
          </a:p>
          <a:p>
            <a:r>
              <a:t>&gt; - Full bridge synthesized at about 3.9 mm², with routing and sign-off still open.</a:t>
            </a:r>
          </a:p>
          <a:p>
            <a:r>
              <a:t>&gt; - FPGA at 255 MHz with positive slack.</a:t>
            </a:r>
          </a:p>
          <a:p>
            <a:r>
              <a:t>&gt; - The latest team-reported RTL simulation shows 6.71 GB/s with zero data mismatches.</a:t>
            </a:r>
          </a:p>
          <a:p>
            <a:r>
              <a:t>&gt;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decisions (≈ 70 s) · Kshitij</a:t>
            </a:r>
          </a:p>
          <a:p/>
          <a:p>
            <a:r>
              <a:t>&gt; To close: six things go beyond a basic RTL bridge. These are what we actually built and tested, not claims of anything industry-first.</a:t>
            </a:r>
          </a:p>
          <a:p>
            <a:r>
              <a:t>&gt;</a:t>
            </a:r>
          </a:p>
          <a:p>
            <a:r>
              <a:t>&gt; 1. Two workloads on one fabric. A programmable weighted arbiter shares the link between SmartNIC packets and ML tensors, each with its own session, base address and limit.</a:t>
            </a:r>
          </a:p>
          <a:p>
            <a:r>
              <a:t>&gt; 2. Application-level profiling. Our analyser measures packet rate, tail latency, tensor throughput, 4 KB crossings and mixed weights, not just Fmax.</a:t>
            </a:r>
          </a:p>
          <a:p>
            <a:r>
              <a:t>&gt; 3. Design for recoverability. ACK/NAK replay, FEC correction, overflow handling, hot reset and link-down retrain are all exercised by tests. On the PHY, the link now sends logical idle when it has no data, so a silent lane really means a dead link. The training state machine leaves L0 on signal loss, lost framing or the partner retraining, resets the datapath cleanly and retrains, in about 1,700 clocks.</a:t>
            </a:r>
          </a:p>
          <a:p>
            <a:r>
              <a:t>&gt; 4. Regression protection. At one point two fixes were applied to stale copies of files and nine earlier fixes were silently lost. After that we added 46 guard rules that fail CI if an earlier fix disappears, plus the 40-seed randomized suite.</a:t>
            </a:r>
          </a:p>
          <a:p>
            <a:r>
              <a:t>&gt; 5. Measured trade-offs. We documented the 118-to-49 MHz regression, traced it to CRC-64 and recovered to 255.</a:t>
            </a:r>
          </a:p>
          <a:p>
            <a:r>
              <a:t>&gt; 6. Two technology profiles from one RTL. A wide FPGA configuration and a resource-reduced SKY130 configuration, with Yosys-safe logic for the ASIC.</a:t>
            </a:r>
          </a:p>
          <a:p>
            <a:r>
              <a:t>&gt;</a:t>
            </a:r>
          </a:p>
          <a:p>
            <a:r>
              <a:t>&gt; *[Bottom bar]* What's left: full-bridge SKY130 sign-off, complete I/O timing constraints, and better throughput under heavy channel noise.</a:t>
            </a:r>
          </a:p>
          <a:p>
            <a:r>
              <a:t>&gt;</a:t>
            </a:r>
          </a:p>
          <a:p>
            <a:r>
              <a:t>&gt; Thank you. We're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207">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520280"/>
            <a:ext cx="10972080" cy="3768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 name="PlaceHolder 2"/>
          <p:cNvSpPr>
            <a:spLocks noGrp="1"/>
          </p:cNvSpPr>
          <p:nvPr>
            <p:ph type="body"/>
          </p:nvPr>
        </p:nvSpPr>
        <p:spPr>
          <a:xfrm>
            <a:off x="609480" y="1520280"/>
            <a:ext cx="10972080" cy="3768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2" r:id="rId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
          <p:cNvSpPr/>
          <p:nvPr/>
        </p:nvSpPr>
        <p:spPr>
          <a:xfrm>
            <a:off x="0" y="0"/>
            <a:ext cx="12191760" cy="6858000"/>
          </a:xfrm>
          <a:custGeom>
            <a:avLst/>
            <a:gdLst/>
            <a:ahLst/>
            <a:rect l="0" t="0" r="r" b="b"/>
            <a:pathLst>
              <a:path w="33866" h="19050">
                <a:moveTo>
                  <a:pt x="0" y="0"/>
                </a:moveTo>
                <a:lnTo>
                  <a:pt x="33866" y="0"/>
                </a:lnTo>
                <a:lnTo>
                  <a:pt x="33866"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7" name=""/>
          <p:cNvSpPr/>
          <p:nvPr/>
        </p:nvSpPr>
        <p:spPr>
          <a:xfrm>
            <a:off x="0" y="0"/>
            <a:ext cx="12192120" cy="6858360"/>
          </a:xfrm>
          <a:custGeom>
            <a:avLst/>
            <a:gdLst/>
            <a:ahLst/>
            <a:rect l="0" t="0" r="r" b="b"/>
            <a:pathLst>
              <a:path w="33867" h="19051">
                <a:moveTo>
                  <a:pt x="0" y="0"/>
                </a:moveTo>
                <a:lnTo>
                  <a:pt x="33867" y="0"/>
                </a:lnTo>
                <a:lnTo>
                  <a:pt x="33867" y="19051"/>
                </a:lnTo>
                <a:lnTo>
                  <a:pt x="0" y="19051"/>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8" name=""/>
          <p:cNvSpPr/>
          <p:nvPr/>
        </p:nvSpPr>
        <p:spPr>
          <a:xfrm>
            <a:off x="-360" y="-360"/>
            <a:ext cx="118800" cy="6857640"/>
          </a:xfrm>
          <a:custGeom>
            <a:avLst/>
            <a:gdLst/>
            <a:ahLst/>
            <a:rect l="0" t="0" r="r" b="b"/>
            <a:pathLst>
              <a:path w="330" h="19049">
                <a:moveTo>
                  <a:pt x="165" y="19049"/>
                </a:moveTo>
                <a:lnTo>
                  <a:pt x="0" y="19049"/>
                </a:lnTo>
                <a:lnTo>
                  <a:pt x="0" y="0"/>
                </a:lnTo>
                <a:lnTo>
                  <a:pt x="330" y="0"/>
                </a:lnTo>
                <a:lnTo>
                  <a:pt x="330" y="19049"/>
                </a:lnTo>
                <a:lnTo>
                  <a:pt x="165" y="19049"/>
                </a:lnTo>
                <a:close/>
              </a:path>
            </a:pathLst>
          </a:custGeom>
          <a:solidFill>
            <a:srgbClr val="1d3859"/>
          </a:solidFill>
          <a:ln w="12240">
            <a:solidFill>
              <a:srgbClr val="1d3859"/>
            </a:solidFill>
            <a:round/>
          </a:ln>
        </p:spPr>
        <p:txBody>
          <a:bodyPr lIns="6120" rIns="6120" tIns="6120" bIns="6120" anchor="t">
            <a:noAutofit/>
          </a:bodyPr>
          <a:p>
            <a:endParaRPr b="0" lang="en-US" sz="2400" spc="-1" strike="noStrike">
              <a:solidFill>
                <a:srgbClr val="ffffff"/>
              </a:solidFill>
              <a:latin typeface="Times New Roman"/>
            </a:endParaRPr>
          </a:p>
        </p:txBody>
      </p:sp>
      <p:sp>
        <p:nvSpPr>
          <p:cNvPr id="9" name=""/>
          <p:cNvSpPr/>
          <p:nvPr/>
        </p:nvSpPr>
        <p:spPr>
          <a:xfrm>
            <a:off x="694800" y="1042200"/>
            <a:ext cx="6894360" cy="0"/>
          </a:xfrm>
          <a:prstGeom prst="line">
            <a:avLst/>
          </a:prstGeom>
          <a:ln w="15480">
            <a:solidFill>
              <a:srgbClr val="284f78"/>
            </a:solidFill>
            <a:round/>
          </a:ln>
        </p:spPr>
        <p:style>
          <a:lnRef idx="0"/>
          <a:fillRef idx="0"/>
          <a:effectRef idx="0"/>
          <a:fontRef idx="minor"/>
        </p:style>
        <p:txBody>
          <a:bodyPr lIns="7560" rIns="7560" tIns="-7560" bIns="-7560" anchor="t">
            <a:noAutofit/>
          </a:bodyPr>
          <a:p>
            <a:endParaRPr b="0" lang="en-US" sz="2400" spc="-1" strike="noStrike">
              <a:solidFill>
                <a:srgbClr val="000000"/>
              </a:solidFill>
              <a:latin typeface="Times New Roman"/>
            </a:endParaRPr>
          </a:p>
        </p:txBody>
      </p:sp>
      <p:sp>
        <p:nvSpPr>
          <p:cNvPr id="10" name=""/>
          <p:cNvSpPr txBox="1"/>
          <p:nvPr/>
        </p:nvSpPr>
        <p:spPr>
          <a:xfrm>
            <a:off x="685440" y="630360"/>
            <a:ext cx="3178440" cy="163440"/>
          </a:xfrm>
          <a:prstGeom prst="rect">
            <a:avLst/>
          </a:prstGeom>
          <a:noFill/>
          <a:ln w="0">
            <a:noFill/>
          </a:ln>
        </p:spPr>
        <p:txBody>
          <a:bodyPr wrap="none" lIns="0" rIns="0" tIns="0" bIns="0" anchor="t">
            <a:noAutofit/>
          </a:bodyPr>
          <a:p>
            <a:r>
              <a:rPr b="1" lang="en-US" sz="1150" spc="-1" strike="noStrike">
                <a:solidFill>
                  <a:srgbClr val="284f78"/>
                </a:solidFill>
                <a:latin typeface="Arial"/>
                <a:ea typeface="Arial"/>
              </a:rPr>
              <a:t>SARCATHON 2026  ·  SEMICON HACKATHON</a:t>
            </a:r>
            <a:endParaRPr b="0" lang="en-US" sz="1150" spc="-1" strike="noStrike">
              <a:solidFill>
                <a:srgbClr val="000000"/>
              </a:solidFill>
              <a:latin typeface="Times New Roman"/>
            </a:endParaRPr>
          </a:p>
        </p:txBody>
      </p:sp>
      <p:sp>
        <p:nvSpPr>
          <p:cNvPr id="11" name=""/>
          <p:cNvSpPr txBox="1"/>
          <p:nvPr/>
        </p:nvSpPr>
        <p:spPr>
          <a:xfrm>
            <a:off x="694440" y="1574280"/>
            <a:ext cx="3463200" cy="540000"/>
          </a:xfrm>
          <a:prstGeom prst="rect">
            <a:avLst/>
          </a:prstGeom>
          <a:noFill/>
          <a:ln w="0">
            <a:noFill/>
          </a:ln>
        </p:spPr>
        <p:txBody>
          <a:bodyPr wrap="none" lIns="0" rIns="0" tIns="0" bIns="0" anchor="t">
            <a:noAutofit/>
          </a:bodyPr>
          <a:p>
            <a:r>
              <a:rPr b="1" lang="en-US" sz="3800" spc="-1" strike="noStrike">
                <a:solidFill>
                  <a:srgbClr val="20252c"/>
                </a:solidFill>
                <a:latin typeface="Arial"/>
                <a:ea typeface="Arial"/>
              </a:rPr>
              <a:t>AXI4-Stream to</a:t>
            </a:r>
            <a:endParaRPr b="0" lang="en-US" sz="3800" spc="-1" strike="noStrike">
              <a:solidFill>
                <a:srgbClr val="000000"/>
              </a:solidFill>
              <a:latin typeface="Times New Roman"/>
            </a:endParaRPr>
          </a:p>
        </p:txBody>
      </p:sp>
      <p:sp>
        <p:nvSpPr>
          <p:cNvPr id="12" name=""/>
          <p:cNvSpPr txBox="1"/>
          <p:nvPr/>
        </p:nvSpPr>
        <p:spPr>
          <a:xfrm>
            <a:off x="694440" y="2153880"/>
            <a:ext cx="3544200" cy="540000"/>
          </a:xfrm>
          <a:prstGeom prst="rect">
            <a:avLst/>
          </a:prstGeom>
          <a:noFill/>
          <a:ln w="0">
            <a:noFill/>
          </a:ln>
        </p:spPr>
        <p:txBody>
          <a:bodyPr wrap="none" lIns="0" rIns="0" tIns="0" bIns="0" anchor="t">
            <a:noAutofit/>
          </a:bodyPr>
          <a:p>
            <a:r>
              <a:rPr b="1" lang="en-US" sz="3800" spc="-1" strike="noStrike">
                <a:solidFill>
                  <a:srgbClr val="20252c"/>
                </a:solidFill>
                <a:latin typeface="Arial"/>
                <a:ea typeface="Arial"/>
              </a:rPr>
              <a:t>PCIe 6.0 Bridge</a:t>
            </a:r>
            <a:endParaRPr b="0" lang="en-US" sz="3800" spc="-1" strike="noStrike">
              <a:solidFill>
                <a:srgbClr val="000000"/>
              </a:solidFill>
              <a:latin typeface="Times New Roman"/>
            </a:endParaRPr>
          </a:p>
        </p:txBody>
      </p:sp>
      <p:sp>
        <p:nvSpPr>
          <p:cNvPr id="13" name=""/>
          <p:cNvSpPr txBox="1"/>
          <p:nvPr/>
        </p:nvSpPr>
        <p:spPr>
          <a:xfrm>
            <a:off x="712800" y="3122280"/>
            <a:ext cx="6986880" cy="268560"/>
          </a:xfrm>
          <a:prstGeom prst="rect">
            <a:avLst/>
          </a:prstGeom>
          <a:noFill/>
          <a:ln w="0">
            <a:noFill/>
          </a:ln>
        </p:spPr>
        <p:txBody>
          <a:bodyPr wrap="none" lIns="0" rIns="0" tIns="0" bIns="0" anchor="t">
            <a:noAutofit/>
          </a:bodyPr>
          <a:p>
            <a:r>
              <a:rPr b="0" lang="en-US" sz="1900" spc="-1" strike="noStrike">
                <a:solidFill>
                  <a:srgbClr val="525b65"/>
                </a:solidFill>
                <a:latin typeface="Arial"/>
                <a:ea typeface="Arial"/>
              </a:rPr>
              <a:t>RTL integration, Vivado optimisation and SKY130 implementation</a:t>
            </a:r>
            <a:endParaRPr b="0" lang="en-US" sz="1900" spc="-1" strike="noStrike">
              <a:solidFill>
                <a:srgbClr val="000000"/>
              </a:solidFill>
              <a:latin typeface="Times New Roman"/>
            </a:endParaRPr>
          </a:p>
        </p:txBody>
      </p:sp>
      <p:sp>
        <p:nvSpPr>
          <p:cNvPr id="14" name=""/>
          <p:cNvSpPr txBox="1"/>
          <p:nvPr/>
        </p:nvSpPr>
        <p:spPr>
          <a:xfrm>
            <a:off x="713160" y="4257360"/>
            <a:ext cx="1983600" cy="242640"/>
          </a:xfrm>
          <a:prstGeom prst="rect">
            <a:avLst/>
          </a:prstGeom>
          <a:noFill/>
          <a:ln w="0">
            <a:noFill/>
          </a:ln>
        </p:spPr>
        <p:txBody>
          <a:bodyPr wrap="none" lIns="0" rIns="0" tIns="0" bIns="0" anchor="t">
            <a:noAutofit/>
          </a:bodyPr>
          <a:p>
            <a:r>
              <a:rPr b="1" lang="en-US" sz="1700" spc="-1" strike="noStrike">
                <a:solidFill>
                  <a:srgbClr val="1d3859"/>
                </a:solidFill>
                <a:latin typeface="Arial"/>
                <a:ea typeface="Arial"/>
              </a:rPr>
              <a:t>Team RoboKnights</a:t>
            </a:r>
            <a:endParaRPr b="0" lang="en-US" sz="1700" spc="-1" strike="noStrike">
              <a:solidFill>
                <a:srgbClr val="000000"/>
              </a:solidFill>
              <a:latin typeface="Times New Roman"/>
            </a:endParaRPr>
          </a:p>
        </p:txBody>
      </p:sp>
      <p:sp>
        <p:nvSpPr>
          <p:cNvPr id="15" name=""/>
          <p:cNvSpPr txBox="1"/>
          <p:nvPr/>
        </p:nvSpPr>
        <p:spPr>
          <a:xfrm>
            <a:off x="712800" y="4709160"/>
            <a:ext cx="3970800" cy="203040"/>
          </a:xfrm>
          <a:prstGeom prst="rect">
            <a:avLst/>
          </a:prstGeom>
          <a:noFill/>
          <a:ln w="0">
            <a:noFill/>
          </a:ln>
        </p:spPr>
        <p:txBody>
          <a:bodyPr wrap="none" lIns="0" rIns="0" tIns="0" bIns="0" anchor="t">
            <a:noAutofit/>
          </a:bodyPr>
          <a:p>
            <a:r>
              <a:rPr b="0" lang="en-US" sz="1430" spc="-1" strike="noStrike">
                <a:solidFill>
                  <a:srgbClr val="20252c"/>
                </a:solidFill>
                <a:latin typeface="Arial"/>
                <a:ea typeface="Arial"/>
              </a:rPr>
              <a:t>Aditya Jain  ·  Swaray Agrawal  ·  Kshitij Seshadri</a:t>
            </a:r>
            <a:endParaRPr b="0" lang="en-US" sz="1430" spc="-1" strike="noStrike">
              <a:solidFill>
                <a:srgbClr val="000000"/>
              </a:solidFill>
              <a:latin typeface="Times New Roman"/>
            </a:endParaRPr>
          </a:p>
        </p:txBody>
      </p:sp>
      <p:sp>
        <p:nvSpPr>
          <p:cNvPr id="16" name=""/>
          <p:cNvSpPr/>
          <p:nvPr/>
        </p:nvSpPr>
        <p:spPr>
          <a:xfrm>
            <a:off x="8321040" y="1106280"/>
            <a:ext cx="0" cy="4645080"/>
          </a:xfrm>
          <a:prstGeom prst="line">
            <a:avLst/>
          </a:prstGeom>
          <a:ln w="9720">
            <a:solidFill>
              <a:srgbClr val="ced4da"/>
            </a:solidFill>
            <a:round/>
          </a:ln>
        </p:spPr>
        <p:style>
          <a:lnRef idx="0"/>
          <a:fillRef idx="0"/>
          <a:effectRef idx="0"/>
          <a:fontRef idx="minor"/>
        </p:style>
        <p:txBody>
          <a:bodyPr lIns="4680" rIns="4680" tIns="4680" bIns="4680" anchor="t">
            <a:noAutofit/>
          </a:bodyPr>
          <a:p>
            <a:endParaRPr b="0" lang="en-US" sz="2400" spc="-1" strike="noStrike">
              <a:solidFill>
                <a:srgbClr val="000000"/>
              </a:solidFill>
              <a:latin typeface="Times New Roman"/>
            </a:endParaRPr>
          </a:p>
        </p:txBody>
      </p:sp>
      <p:pic>
        <p:nvPicPr>
          <p:cNvPr id="17" name="" descr=""/>
          <p:cNvPicPr/>
          <p:nvPr/>
        </p:nvPicPr>
        <p:blipFill>
          <a:blip r:embed="rId1"/>
          <a:stretch/>
        </p:blipFill>
        <p:spPr>
          <a:xfrm>
            <a:off x="8558640" y="1462680"/>
            <a:ext cx="2907000" cy="3300120"/>
          </a:xfrm>
          <a:prstGeom prst="rect">
            <a:avLst/>
          </a:prstGeom>
          <a:ln w="0">
            <a:noFill/>
          </a:ln>
        </p:spPr>
      </p:pic>
      <p:sp>
        <p:nvSpPr>
          <p:cNvPr id="18" name=""/>
          <p:cNvSpPr txBox="1"/>
          <p:nvPr/>
        </p:nvSpPr>
        <p:spPr>
          <a:xfrm>
            <a:off x="712800" y="6030360"/>
            <a:ext cx="1067400" cy="160560"/>
          </a:xfrm>
          <a:prstGeom prst="rect">
            <a:avLst/>
          </a:prstGeom>
          <a:noFill/>
          <a:ln w="0">
            <a:noFill/>
          </a:ln>
        </p:spPr>
        <p:txBody>
          <a:bodyPr wrap="none" lIns="0" rIns="0" tIns="0" bIns="0" anchor="t">
            <a:noAutofit/>
          </a:bodyPr>
          <a:p>
            <a:r>
              <a:rPr b="0" lang="en-US" sz="1130" spc="-1" strike="noStrike">
                <a:solidFill>
                  <a:srgbClr val="525b65"/>
                </a:solidFill>
                <a:latin typeface="Arial"/>
                <a:ea typeface="Arial"/>
              </a:rPr>
              <a:t>24 October 2026</a:t>
            </a:r>
            <a:endParaRPr b="0" lang="en-US" sz="1130" spc="-1" strike="noStrike">
              <a:solidFill>
                <a:srgbClr val="000000"/>
              </a:solidFill>
              <a:latin typeface="Times New Roman"/>
            </a:endParaRPr>
          </a:p>
        </p:txBody>
      </p:sp>
      <p:sp>
        <p:nvSpPr>
          <p:cNvPr id="19" name=""/>
          <p:cNvSpPr txBox="1"/>
          <p:nvPr/>
        </p:nvSpPr>
        <p:spPr>
          <a:xfrm>
            <a:off x="9055440" y="5025240"/>
            <a:ext cx="1960560" cy="151200"/>
          </a:xfrm>
          <a:prstGeom prst="rect">
            <a:avLst/>
          </a:prstGeom>
          <a:noFill/>
          <a:ln w="0">
            <a:noFill/>
          </a:ln>
        </p:spPr>
        <p:txBody>
          <a:bodyPr wrap="none" lIns="0" rIns="0" tIns="0" bIns="0" anchor="t">
            <a:noAutofit/>
          </a:bodyPr>
          <a:p>
            <a:r>
              <a:rPr b="0" i="1" lang="en-US" sz="1060" spc="-1" strike="noStrike">
                <a:solidFill>
                  <a:srgbClr val="525b65"/>
                </a:solidFill>
                <a:latin typeface="Arial"/>
                <a:ea typeface="Arial"/>
              </a:rPr>
              <a:t>SKY130 interconnect layout view</a:t>
            </a:r>
            <a:endParaRPr b="0" lang="en-US" sz="1060" spc="-1" strike="noStrike">
              <a:solidFill>
                <a:srgbClr val="000000"/>
              </a:solidFill>
              <a:latin typeface="Times New Roman"/>
            </a:endParaRPr>
          </a:p>
        </p:txBody>
      </p:sp>
      <p:sp>
        <p:nvSpPr>
          <p:cNvPr id="20" name=""/>
          <p:cNvSpPr txBox="1"/>
          <p:nvPr/>
        </p:nvSpPr>
        <p:spPr>
          <a:xfrm>
            <a:off x="712800" y="6399360"/>
            <a:ext cx="2760840" cy="136080"/>
          </a:xfrm>
          <a:prstGeom prst="rect">
            <a:avLst/>
          </a:prstGeom>
          <a:noFill/>
          <a:ln w="0">
            <a:noFill/>
          </a:ln>
        </p:spPr>
        <p:txBody>
          <a:bodyPr wrap="none" lIns="0" rIns="0" tIns="0" bIns="0" anchor="t">
            <a:noAutofit/>
          </a:bodyPr>
          <a:p>
            <a:r>
              <a:rPr b="0" lang="en-US" sz="950" spc="-1" strike="noStrike">
                <a:solidFill>
                  <a:srgbClr val="525b65"/>
                </a:solidFill>
                <a:latin typeface="Arial"/>
                <a:ea typeface="Arial"/>
              </a:rPr>
              <a:t>FPGA: Xilinx xcu250   |   ASIC: SkyWater SKY130A</a:t>
            </a:r>
            <a:endParaRPr b="0" lang="en-US" sz="95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
          <p:cNvSpPr/>
          <p:nvPr/>
        </p:nvSpPr>
        <p:spPr>
          <a:xfrm>
            <a:off x="0" y="0"/>
            <a:ext cx="12191760" cy="6858000"/>
          </a:xfrm>
          <a:custGeom>
            <a:avLst/>
            <a:gdLst/>
            <a:ahLst/>
            <a:rect l="0" t="0" r="r" b="b"/>
            <a:pathLst>
              <a:path w="33866" h="19050">
                <a:moveTo>
                  <a:pt x="0" y="0"/>
                </a:moveTo>
                <a:lnTo>
                  <a:pt x="33866" y="0"/>
                </a:lnTo>
                <a:lnTo>
                  <a:pt x="33866"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2" name=""/>
          <p:cNvSpPr/>
          <p:nvPr/>
        </p:nvSpPr>
        <p:spPr>
          <a:xfrm>
            <a:off x="0" y="0"/>
            <a:ext cx="12192120" cy="6858360"/>
          </a:xfrm>
          <a:custGeom>
            <a:avLst/>
            <a:gdLst/>
            <a:ahLst/>
            <a:rect l="0" t="0" r="r" b="b"/>
            <a:pathLst>
              <a:path w="33867" h="19051">
                <a:moveTo>
                  <a:pt x="0" y="0"/>
                </a:moveTo>
                <a:lnTo>
                  <a:pt x="33867" y="0"/>
                </a:lnTo>
                <a:lnTo>
                  <a:pt x="33867" y="19051"/>
                </a:lnTo>
                <a:lnTo>
                  <a:pt x="0" y="19051"/>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3" name=""/>
          <p:cNvSpPr txBox="1"/>
          <p:nvPr/>
        </p:nvSpPr>
        <p:spPr>
          <a:xfrm>
            <a:off x="612360" y="226440"/>
            <a:ext cx="181584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RoboKnights  /  SARCathon 2026</a:t>
            </a:r>
            <a:endParaRPr b="0" lang="en-US" sz="960" spc="-1" strike="noStrike">
              <a:solidFill>
                <a:srgbClr val="000000"/>
              </a:solidFill>
              <a:latin typeface="Times New Roman"/>
            </a:endParaRPr>
          </a:p>
        </p:txBody>
      </p:sp>
      <p:sp>
        <p:nvSpPr>
          <p:cNvPr id="24" name=""/>
          <p:cNvSpPr/>
          <p:nvPr/>
        </p:nvSpPr>
        <p:spPr>
          <a:xfrm>
            <a:off x="612000" y="466200"/>
            <a:ext cx="10954800" cy="0"/>
          </a:xfrm>
          <a:prstGeom prst="line">
            <a:avLst/>
          </a:prstGeom>
          <a:ln w="9720">
            <a:solidFill>
              <a:srgbClr val="ced4da"/>
            </a:solidFill>
            <a:round/>
          </a:ln>
        </p:spPr>
        <p:style>
          <a:lnRef idx="0"/>
          <a:fillRef idx="0"/>
          <a:effectRef idx="0"/>
          <a:fontRef idx="minor"/>
        </p:style>
        <p:txBody>
          <a:bodyPr lIns="4680" rIns="4680" tIns="-4680" bIns="-4680" anchor="t">
            <a:noAutofit/>
          </a:bodyPr>
          <a:p>
            <a:endParaRPr b="0" lang="en-US" sz="2400" spc="-1" strike="noStrike">
              <a:solidFill>
                <a:srgbClr val="000000"/>
              </a:solidFill>
              <a:latin typeface="Times New Roman"/>
            </a:endParaRPr>
          </a:p>
        </p:txBody>
      </p:sp>
      <p:sp>
        <p:nvSpPr>
          <p:cNvPr id="25" name=""/>
          <p:cNvSpPr txBox="1"/>
          <p:nvPr/>
        </p:nvSpPr>
        <p:spPr>
          <a:xfrm>
            <a:off x="11413440" y="230760"/>
            <a:ext cx="13500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02</a:t>
            </a:r>
            <a:endParaRPr b="0" lang="en-US" sz="960" spc="-1" strike="noStrike">
              <a:solidFill>
                <a:srgbClr val="000000"/>
              </a:solidFill>
              <a:latin typeface="Times New Roman"/>
            </a:endParaRPr>
          </a:p>
        </p:txBody>
      </p:sp>
      <p:sp>
        <p:nvSpPr>
          <p:cNvPr id="26" name=""/>
          <p:cNvSpPr txBox="1"/>
          <p:nvPr/>
        </p:nvSpPr>
        <p:spPr>
          <a:xfrm>
            <a:off x="639720" y="737640"/>
            <a:ext cx="8327880" cy="379800"/>
          </a:xfrm>
          <a:prstGeom prst="rect">
            <a:avLst/>
          </a:prstGeom>
          <a:noFill/>
          <a:ln w="0">
            <a:noFill/>
          </a:ln>
        </p:spPr>
        <p:txBody>
          <a:bodyPr wrap="none" lIns="0" rIns="0" tIns="0" bIns="0" anchor="t">
            <a:noAutofit/>
          </a:bodyPr>
          <a:p>
            <a:r>
              <a:rPr b="1" lang="en-US" sz="2680" spc="-1" strike="noStrike">
                <a:solidFill>
                  <a:srgbClr val="20252c"/>
                </a:solidFill>
                <a:latin typeface="Arial"/>
                <a:ea typeface="Arial"/>
              </a:rPr>
              <a:t>Round 1 — RTL development and initial verification</a:t>
            </a:r>
            <a:endParaRPr b="0" lang="en-US" sz="2680" spc="-1" strike="noStrike">
              <a:solidFill>
                <a:srgbClr val="000000"/>
              </a:solidFill>
              <a:latin typeface="Times New Roman"/>
            </a:endParaRPr>
          </a:p>
        </p:txBody>
      </p:sp>
      <p:sp>
        <p:nvSpPr>
          <p:cNvPr id="27" name=""/>
          <p:cNvSpPr/>
          <p:nvPr/>
        </p:nvSpPr>
        <p:spPr>
          <a:xfrm>
            <a:off x="612000" y="6482880"/>
            <a:ext cx="10954800" cy="0"/>
          </a:xfrm>
          <a:prstGeom prst="line">
            <a:avLst/>
          </a:prstGeom>
          <a:ln w="7920">
            <a:solidFill>
              <a:srgbClr val="ced4da"/>
            </a:solidFill>
            <a:round/>
          </a:ln>
        </p:spPr>
        <p:style>
          <a:lnRef idx="0"/>
          <a:fillRef idx="0"/>
          <a:effectRef idx="0"/>
          <a:fontRef idx="minor"/>
        </p:style>
        <p:txBody>
          <a:bodyPr lIns="3960" rIns="3960" tIns="-3960" bIns="-3960" anchor="t">
            <a:noAutofit/>
          </a:bodyPr>
          <a:p>
            <a:endParaRPr b="0" lang="en-US" sz="2400" spc="-1" strike="noStrike">
              <a:solidFill>
                <a:srgbClr val="000000"/>
              </a:solidFill>
              <a:latin typeface="Times New Roman"/>
            </a:endParaRPr>
          </a:p>
        </p:txBody>
      </p:sp>
      <p:sp>
        <p:nvSpPr>
          <p:cNvPr id="28" name=""/>
          <p:cNvSpPr txBox="1"/>
          <p:nvPr/>
        </p:nvSpPr>
        <p:spPr>
          <a:xfrm>
            <a:off x="639720" y="1332720"/>
            <a:ext cx="7497360" cy="177120"/>
          </a:xfrm>
          <a:prstGeom prst="rect">
            <a:avLst/>
          </a:prstGeom>
          <a:noFill/>
          <a:ln w="0">
            <a:noFill/>
          </a:ln>
        </p:spPr>
        <p:txBody>
          <a:bodyPr wrap="none" lIns="0" rIns="0" tIns="0" bIns="0" anchor="t">
            <a:noAutofit/>
          </a:bodyPr>
          <a:p>
            <a:r>
              <a:rPr b="0" lang="en-US" sz="1250" spc="-1" strike="noStrike">
                <a:solidFill>
                  <a:srgbClr val="525b65"/>
                </a:solidFill>
                <a:latin typeface="Arial"/>
                <a:ea typeface="Arial"/>
              </a:rPr>
              <a:t>By 15 October, the three layers passed their unit tests and were connected in a first system-level loopback.</a:t>
            </a:r>
            <a:endParaRPr b="0" lang="en-US" sz="1250" spc="-1" strike="noStrike">
              <a:solidFill>
                <a:srgbClr val="000000"/>
              </a:solidFill>
              <a:latin typeface="Times New Roman"/>
            </a:endParaRPr>
          </a:p>
        </p:txBody>
      </p:sp>
      <p:sp>
        <p:nvSpPr>
          <p:cNvPr id="29" name=""/>
          <p:cNvSpPr txBox="1"/>
          <p:nvPr/>
        </p:nvSpPr>
        <p:spPr>
          <a:xfrm>
            <a:off x="639720" y="6578280"/>
            <a:ext cx="299088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AXI4-Stream → PCIe 6.0 Bridge  |  Round 2 technical review</a:t>
            </a:r>
            <a:endParaRPr b="0" lang="en-US" sz="870" spc="-1" strike="noStrike">
              <a:solidFill>
                <a:srgbClr val="000000"/>
              </a:solidFill>
              <a:latin typeface="Times New Roman"/>
            </a:endParaRPr>
          </a:p>
        </p:txBody>
      </p:sp>
      <p:sp>
        <p:nvSpPr>
          <p:cNvPr id="30" name=""/>
          <p:cNvSpPr txBox="1"/>
          <p:nvPr/>
        </p:nvSpPr>
        <p:spPr>
          <a:xfrm>
            <a:off x="11261520" y="6578280"/>
            <a:ext cx="27792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2 / 10</a:t>
            </a:r>
            <a:endParaRPr b="0" lang="en-US" sz="870" spc="-1" strike="noStrike">
              <a:solidFill>
                <a:srgbClr val="000000"/>
              </a:solidFill>
              <a:latin typeface="Times New Roman"/>
            </a:endParaRPr>
          </a:p>
        </p:txBody>
      </p:sp>
      <p:sp>
        <p:nvSpPr>
          <p:cNvPr id="31" name=""/>
          <p:cNvSpPr txBox="1"/>
          <p:nvPr/>
        </p:nvSpPr>
        <p:spPr>
          <a:xfrm>
            <a:off x="704160" y="1891800"/>
            <a:ext cx="1317600" cy="245880"/>
          </a:xfrm>
          <a:prstGeom prst="rect">
            <a:avLst/>
          </a:prstGeom>
          <a:noFill/>
          <a:ln w="0">
            <a:noFill/>
          </a:ln>
        </p:spPr>
        <p:txBody>
          <a:bodyPr wrap="none" lIns="0" rIns="0" tIns="0" bIns="0" anchor="t">
            <a:noAutofit/>
          </a:bodyPr>
          <a:p>
            <a:r>
              <a:rPr b="1" lang="en-US" sz="1729" spc="-1" strike="noStrike">
                <a:solidFill>
                  <a:srgbClr val="1d3859"/>
                </a:solidFill>
                <a:latin typeface="Arial"/>
                <a:ea typeface="Arial"/>
              </a:rPr>
              <a:t>Interconnect</a:t>
            </a:r>
            <a:endParaRPr b="0" lang="en-US" sz="1729" spc="-1" strike="noStrike">
              <a:solidFill>
                <a:srgbClr val="000000"/>
              </a:solidFill>
              <a:latin typeface="Times New Roman"/>
            </a:endParaRPr>
          </a:p>
        </p:txBody>
      </p:sp>
      <p:sp>
        <p:nvSpPr>
          <p:cNvPr id="32" name=""/>
          <p:cNvSpPr/>
          <p:nvPr/>
        </p:nvSpPr>
        <p:spPr>
          <a:xfrm>
            <a:off x="703440" y="2642400"/>
            <a:ext cx="3402000" cy="0"/>
          </a:xfrm>
          <a:prstGeom prst="line">
            <a:avLst/>
          </a:prstGeom>
          <a:ln w="9720">
            <a:solidFill>
              <a:srgbClr val="ced4da"/>
            </a:solidFill>
            <a:round/>
          </a:ln>
        </p:spPr>
        <p:style>
          <a:lnRef idx="0"/>
          <a:fillRef idx="0"/>
          <a:effectRef idx="0"/>
          <a:fontRef idx="minor"/>
        </p:style>
        <p:txBody>
          <a:bodyPr lIns="4680" rIns="4680" tIns="-4680" bIns="-4680" anchor="t">
            <a:noAutofit/>
          </a:bodyPr>
          <a:p>
            <a:endParaRPr b="0" lang="en-US" sz="2400" spc="-1" strike="noStrike">
              <a:solidFill>
                <a:srgbClr val="000000"/>
              </a:solidFill>
              <a:latin typeface="Times New Roman"/>
            </a:endParaRPr>
          </a:p>
        </p:txBody>
      </p:sp>
      <p:sp>
        <p:nvSpPr>
          <p:cNvPr id="33" name=""/>
          <p:cNvSpPr txBox="1"/>
          <p:nvPr/>
        </p:nvSpPr>
        <p:spPr>
          <a:xfrm>
            <a:off x="704160" y="2268000"/>
            <a:ext cx="432000" cy="174240"/>
          </a:xfrm>
          <a:prstGeom prst="rect">
            <a:avLst/>
          </a:prstGeom>
          <a:noFill/>
          <a:ln w="0">
            <a:noFill/>
          </a:ln>
        </p:spPr>
        <p:txBody>
          <a:bodyPr wrap="none" lIns="0" rIns="0" tIns="0" bIns="0" anchor="t">
            <a:noAutofit/>
          </a:bodyPr>
          <a:p>
            <a:r>
              <a:rPr b="0" lang="en-US" sz="1220" spc="-1" strike="noStrike">
                <a:solidFill>
                  <a:srgbClr val="525b65"/>
                </a:solidFill>
                <a:latin typeface="Arial"/>
                <a:ea typeface="Arial"/>
              </a:rPr>
              <a:t>Aditya</a:t>
            </a:r>
            <a:endParaRPr b="0" lang="en-US" sz="1220" spc="-1" strike="noStrike">
              <a:solidFill>
                <a:srgbClr val="000000"/>
              </a:solidFill>
              <a:latin typeface="Times New Roman"/>
            </a:endParaRPr>
          </a:p>
        </p:txBody>
      </p:sp>
      <p:sp>
        <p:nvSpPr>
          <p:cNvPr id="34" name=""/>
          <p:cNvSpPr txBox="1"/>
          <p:nvPr/>
        </p:nvSpPr>
        <p:spPr>
          <a:xfrm>
            <a:off x="703800" y="2888280"/>
            <a:ext cx="191520" cy="215280"/>
          </a:xfrm>
          <a:prstGeom prst="rect">
            <a:avLst/>
          </a:prstGeom>
          <a:noFill/>
          <a:ln w="0">
            <a:noFill/>
          </a:ln>
        </p:spPr>
        <p:txBody>
          <a:bodyPr wrap="none" lIns="0" rIns="0" tIns="0" bIns="0" anchor="t">
            <a:noAutofit/>
          </a:bodyPr>
          <a:p>
            <a:r>
              <a:rPr b="0" lang="en-US" sz="1510" spc="-1" strike="noStrike">
                <a:solidFill>
                  <a:srgbClr val="284f78"/>
                </a:solidFill>
                <a:latin typeface="Arial"/>
                <a:ea typeface="Arial"/>
              </a:rPr>
              <a:t>•</a:t>
            </a:r>
            <a:endParaRPr b="0" lang="en-US" sz="1510" spc="-1" strike="noStrike">
              <a:solidFill>
                <a:srgbClr val="000000"/>
              </a:solidFill>
              <a:latin typeface="Times New Roman"/>
            </a:endParaRPr>
          </a:p>
        </p:txBody>
      </p:sp>
      <p:sp>
        <p:nvSpPr>
          <p:cNvPr id="35" name=""/>
          <p:cNvSpPr txBox="1"/>
          <p:nvPr/>
        </p:nvSpPr>
        <p:spPr>
          <a:xfrm>
            <a:off x="914040" y="2877120"/>
            <a:ext cx="284292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Dual 512-bit AXI4-Stream ingest ports </a:t>
            </a:r>
            <a:endParaRPr b="0" lang="en-US" sz="1310" spc="-1" strike="noStrike">
              <a:solidFill>
                <a:srgbClr val="000000"/>
              </a:solidFill>
              <a:latin typeface="Times New Roman"/>
            </a:endParaRPr>
          </a:p>
        </p:txBody>
      </p:sp>
      <p:sp>
        <p:nvSpPr>
          <p:cNvPr id="36" name=""/>
          <p:cNvSpPr txBox="1"/>
          <p:nvPr/>
        </p:nvSpPr>
        <p:spPr>
          <a:xfrm>
            <a:off x="914040" y="3076200"/>
            <a:ext cx="148680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(SmartNIC and ML).</a:t>
            </a:r>
            <a:endParaRPr b="0" lang="en-US" sz="1310" spc="-1" strike="noStrike">
              <a:solidFill>
                <a:srgbClr val="000000"/>
              </a:solidFill>
              <a:latin typeface="Times New Roman"/>
            </a:endParaRPr>
          </a:p>
        </p:txBody>
      </p:sp>
      <p:sp>
        <p:nvSpPr>
          <p:cNvPr id="37" name=""/>
          <p:cNvSpPr txBox="1"/>
          <p:nvPr/>
        </p:nvSpPr>
        <p:spPr>
          <a:xfrm>
            <a:off x="703800" y="3702240"/>
            <a:ext cx="191520" cy="215280"/>
          </a:xfrm>
          <a:prstGeom prst="rect">
            <a:avLst/>
          </a:prstGeom>
          <a:noFill/>
          <a:ln w="0">
            <a:noFill/>
          </a:ln>
        </p:spPr>
        <p:txBody>
          <a:bodyPr wrap="none" lIns="0" rIns="0" tIns="0" bIns="0" anchor="t">
            <a:noAutofit/>
          </a:bodyPr>
          <a:p>
            <a:r>
              <a:rPr b="0" lang="en-US" sz="1510" spc="-1" strike="noStrike">
                <a:solidFill>
                  <a:srgbClr val="284f78"/>
                </a:solidFill>
                <a:latin typeface="Arial"/>
                <a:ea typeface="Arial"/>
              </a:rPr>
              <a:t>•</a:t>
            </a:r>
            <a:endParaRPr b="0" lang="en-US" sz="1510" spc="-1" strike="noStrike">
              <a:solidFill>
                <a:srgbClr val="000000"/>
              </a:solidFill>
              <a:latin typeface="Times New Roman"/>
            </a:endParaRPr>
          </a:p>
        </p:txBody>
      </p:sp>
      <p:sp>
        <p:nvSpPr>
          <p:cNvPr id="38" name=""/>
          <p:cNvSpPr txBox="1"/>
          <p:nvPr/>
        </p:nvSpPr>
        <p:spPr>
          <a:xfrm>
            <a:off x="914040" y="3691080"/>
            <a:ext cx="273312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Weighted arbitration, session / offset </a:t>
            </a:r>
            <a:endParaRPr b="0" lang="en-US" sz="1310" spc="-1" strike="noStrike">
              <a:solidFill>
                <a:srgbClr val="000000"/>
              </a:solidFill>
              <a:latin typeface="Times New Roman"/>
            </a:endParaRPr>
          </a:p>
        </p:txBody>
      </p:sp>
      <p:sp>
        <p:nvSpPr>
          <p:cNvPr id="39" name=""/>
          <p:cNvSpPr txBox="1"/>
          <p:nvPr/>
        </p:nvSpPr>
        <p:spPr>
          <a:xfrm>
            <a:off x="914040" y="3890160"/>
            <a:ext cx="185544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tracking and async FIFO.</a:t>
            </a:r>
            <a:endParaRPr b="0" lang="en-US" sz="1310" spc="-1" strike="noStrike">
              <a:solidFill>
                <a:srgbClr val="000000"/>
              </a:solidFill>
              <a:latin typeface="Times New Roman"/>
            </a:endParaRPr>
          </a:p>
        </p:txBody>
      </p:sp>
      <p:sp>
        <p:nvSpPr>
          <p:cNvPr id="40" name=""/>
          <p:cNvSpPr txBox="1"/>
          <p:nvPr/>
        </p:nvSpPr>
        <p:spPr>
          <a:xfrm>
            <a:off x="703800" y="4515840"/>
            <a:ext cx="191520" cy="215280"/>
          </a:xfrm>
          <a:prstGeom prst="rect">
            <a:avLst/>
          </a:prstGeom>
          <a:noFill/>
          <a:ln w="0">
            <a:noFill/>
          </a:ln>
        </p:spPr>
        <p:txBody>
          <a:bodyPr wrap="none" lIns="0" rIns="0" tIns="0" bIns="0" anchor="t">
            <a:noAutofit/>
          </a:bodyPr>
          <a:p>
            <a:r>
              <a:rPr b="0" lang="en-US" sz="1510" spc="-1" strike="noStrike">
                <a:solidFill>
                  <a:srgbClr val="284f78"/>
                </a:solidFill>
                <a:latin typeface="Arial"/>
                <a:ea typeface="Arial"/>
              </a:rPr>
              <a:t>•</a:t>
            </a:r>
            <a:endParaRPr b="0" lang="en-US" sz="1510" spc="-1" strike="noStrike">
              <a:solidFill>
                <a:srgbClr val="000000"/>
              </a:solidFill>
              <a:latin typeface="Times New Roman"/>
            </a:endParaRPr>
          </a:p>
        </p:txBody>
      </p:sp>
      <p:sp>
        <p:nvSpPr>
          <p:cNvPr id="41" name=""/>
          <p:cNvSpPr txBox="1"/>
          <p:nvPr/>
        </p:nvSpPr>
        <p:spPr>
          <a:xfrm>
            <a:off x="914040" y="4504680"/>
            <a:ext cx="290844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Four RTL bugs fixed; 128/128 checked </a:t>
            </a:r>
            <a:endParaRPr b="0" lang="en-US" sz="1310" spc="-1" strike="noStrike">
              <a:solidFill>
                <a:srgbClr val="000000"/>
              </a:solidFill>
              <a:latin typeface="Times New Roman"/>
            </a:endParaRPr>
          </a:p>
        </p:txBody>
      </p:sp>
      <p:sp>
        <p:nvSpPr>
          <p:cNvPr id="42" name=""/>
          <p:cNvSpPr/>
          <p:nvPr/>
        </p:nvSpPr>
        <p:spPr>
          <a:xfrm>
            <a:off x="4242600" y="1874520"/>
            <a:ext cx="0" cy="3721320"/>
          </a:xfrm>
          <a:prstGeom prst="line">
            <a:avLst/>
          </a:prstGeom>
          <a:ln w="9000">
            <a:solidFill>
              <a:srgbClr val="ced4da"/>
            </a:solidFill>
            <a:round/>
          </a:ln>
        </p:spPr>
        <p:style>
          <a:lnRef idx="0"/>
          <a:fillRef idx="0"/>
          <a:effectRef idx="0"/>
          <a:fontRef idx="minor"/>
        </p:style>
        <p:txBody>
          <a:bodyPr lIns="4320" rIns="4320" tIns="4320" bIns="4320" anchor="t">
            <a:noAutofit/>
          </a:bodyPr>
          <a:p>
            <a:endParaRPr b="0" lang="en-US" sz="2400" spc="-1" strike="noStrike">
              <a:solidFill>
                <a:srgbClr val="000000"/>
              </a:solidFill>
              <a:latin typeface="Times New Roman"/>
            </a:endParaRPr>
          </a:p>
        </p:txBody>
      </p:sp>
      <p:sp>
        <p:nvSpPr>
          <p:cNvPr id="43" name=""/>
          <p:cNvSpPr txBox="1"/>
          <p:nvPr/>
        </p:nvSpPr>
        <p:spPr>
          <a:xfrm>
            <a:off x="914040" y="4703760"/>
            <a:ext cx="134784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beats, zero errors.</a:t>
            </a:r>
            <a:endParaRPr b="0" lang="en-US" sz="1310" spc="-1" strike="noStrike">
              <a:solidFill>
                <a:srgbClr val="000000"/>
              </a:solidFill>
              <a:latin typeface="Times New Roman"/>
            </a:endParaRPr>
          </a:p>
        </p:txBody>
      </p:sp>
      <p:sp>
        <p:nvSpPr>
          <p:cNvPr id="44" name=""/>
          <p:cNvSpPr txBox="1"/>
          <p:nvPr/>
        </p:nvSpPr>
        <p:spPr>
          <a:xfrm>
            <a:off x="4361400" y="1891800"/>
            <a:ext cx="1024920" cy="245880"/>
          </a:xfrm>
          <a:prstGeom prst="rect">
            <a:avLst/>
          </a:prstGeom>
          <a:noFill/>
          <a:ln w="0">
            <a:noFill/>
          </a:ln>
        </p:spPr>
        <p:txBody>
          <a:bodyPr wrap="none" lIns="0" rIns="0" tIns="0" bIns="0" anchor="t">
            <a:noAutofit/>
          </a:bodyPr>
          <a:p>
            <a:r>
              <a:rPr b="1" lang="en-US" sz="1729" spc="-1" strike="noStrike">
                <a:solidFill>
                  <a:srgbClr val="1d3859"/>
                </a:solidFill>
                <a:latin typeface="Arial"/>
                <a:ea typeface="Arial"/>
              </a:rPr>
              <a:t>Link layer</a:t>
            </a:r>
            <a:endParaRPr b="0" lang="en-US" sz="1729" spc="-1" strike="noStrike">
              <a:solidFill>
                <a:srgbClr val="000000"/>
              </a:solidFill>
              <a:latin typeface="Times New Roman"/>
            </a:endParaRPr>
          </a:p>
        </p:txBody>
      </p:sp>
      <p:sp>
        <p:nvSpPr>
          <p:cNvPr id="45" name=""/>
          <p:cNvSpPr/>
          <p:nvPr/>
        </p:nvSpPr>
        <p:spPr>
          <a:xfrm>
            <a:off x="4361040" y="2642400"/>
            <a:ext cx="3411000" cy="0"/>
          </a:xfrm>
          <a:prstGeom prst="line">
            <a:avLst/>
          </a:prstGeom>
          <a:ln w="9720">
            <a:solidFill>
              <a:srgbClr val="ced4da"/>
            </a:solidFill>
            <a:round/>
          </a:ln>
        </p:spPr>
        <p:style>
          <a:lnRef idx="0"/>
          <a:fillRef idx="0"/>
          <a:effectRef idx="0"/>
          <a:fontRef idx="minor"/>
        </p:style>
        <p:txBody>
          <a:bodyPr lIns="4680" rIns="4680" tIns="-4680" bIns="-4680" anchor="t">
            <a:noAutofit/>
          </a:bodyPr>
          <a:p>
            <a:endParaRPr b="0" lang="en-US" sz="2400" spc="-1" strike="noStrike">
              <a:solidFill>
                <a:srgbClr val="000000"/>
              </a:solidFill>
              <a:latin typeface="Times New Roman"/>
            </a:endParaRPr>
          </a:p>
        </p:txBody>
      </p:sp>
      <p:sp>
        <p:nvSpPr>
          <p:cNvPr id="46" name=""/>
          <p:cNvSpPr txBox="1"/>
          <p:nvPr/>
        </p:nvSpPr>
        <p:spPr>
          <a:xfrm>
            <a:off x="4361400" y="2268000"/>
            <a:ext cx="518760" cy="174240"/>
          </a:xfrm>
          <a:prstGeom prst="rect">
            <a:avLst/>
          </a:prstGeom>
          <a:noFill/>
          <a:ln w="0">
            <a:noFill/>
          </a:ln>
        </p:spPr>
        <p:txBody>
          <a:bodyPr wrap="none" lIns="0" rIns="0" tIns="0" bIns="0" anchor="t">
            <a:noAutofit/>
          </a:bodyPr>
          <a:p>
            <a:r>
              <a:rPr b="0" lang="en-US" sz="1220" spc="-1" strike="noStrike">
                <a:solidFill>
                  <a:srgbClr val="525b65"/>
                </a:solidFill>
                <a:latin typeface="Arial"/>
                <a:ea typeface="Arial"/>
              </a:rPr>
              <a:t>Swaray</a:t>
            </a:r>
            <a:endParaRPr b="0" lang="en-US" sz="1220" spc="-1" strike="noStrike">
              <a:solidFill>
                <a:srgbClr val="000000"/>
              </a:solidFill>
              <a:latin typeface="Times New Roman"/>
            </a:endParaRPr>
          </a:p>
        </p:txBody>
      </p:sp>
      <p:sp>
        <p:nvSpPr>
          <p:cNvPr id="47" name=""/>
          <p:cNvSpPr txBox="1"/>
          <p:nvPr/>
        </p:nvSpPr>
        <p:spPr>
          <a:xfrm>
            <a:off x="4361400" y="2888280"/>
            <a:ext cx="191520" cy="215280"/>
          </a:xfrm>
          <a:prstGeom prst="rect">
            <a:avLst/>
          </a:prstGeom>
          <a:noFill/>
          <a:ln w="0">
            <a:noFill/>
          </a:ln>
        </p:spPr>
        <p:txBody>
          <a:bodyPr wrap="none" lIns="0" rIns="0" tIns="0" bIns="0" anchor="t">
            <a:noAutofit/>
          </a:bodyPr>
          <a:p>
            <a:r>
              <a:rPr b="0" lang="en-US" sz="1510" spc="-1" strike="noStrike">
                <a:solidFill>
                  <a:srgbClr val="284f78"/>
                </a:solidFill>
                <a:latin typeface="Arial"/>
                <a:ea typeface="Arial"/>
              </a:rPr>
              <a:t>•</a:t>
            </a:r>
            <a:endParaRPr b="0" lang="en-US" sz="1510" spc="-1" strike="noStrike">
              <a:solidFill>
                <a:srgbClr val="000000"/>
              </a:solidFill>
              <a:latin typeface="Times New Roman"/>
            </a:endParaRPr>
          </a:p>
        </p:txBody>
      </p:sp>
      <p:sp>
        <p:nvSpPr>
          <p:cNvPr id="48" name=""/>
          <p:cNvSpPr txBox="1"/>
          <p:nvPr/>
        </p:nvSpPr>
        <p:spPr>
          <a:xfrm>
            <a:off x="4572000" y="2877120"/>
            <a:ext cx="281556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Write and replay buffers, 256-byte Flit </a:t>
            </a:r>
            <a:endParaRPr b="0" lang="en-US" sz="1310" spc="-1" strike="noStrike">
              <a:solidFill>
                <a:srgbClr val="000000"/>
              </a:solidFill>
              <a:latin typeface="Times New Roman"/>
            </a:endParaRPr>
          </a:p>
        </p:txBody>
      </p:sp>
      <p:sp>
        <p:nvSpPr>
          <p:cNvPr id="49" name=""/>
          <p:cNvSpPr txBox="1"/>
          <p:nvPr/>
        </p:nvSpPr>
        <p:spPr>
          <a:xfrm>
            <a:off x="4572000" y="3076200"/>
            <a:ext cx="169848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framing, DLLP parsing.</a:t>
            </a:r>
            <a:endParaRPr b="0" lang="en-US" sz="1310" spc="-1" strike="noStrike">
              <a:solidFill>
                <a:srgbClr val="000000"/>
              </a:solidFill>
              <a:latin typeface="Times New Roman"/>
            </a:endParaRPr>
          </a:p>
        </p:txBody>
      </p:sp>
      <p:sp>
        <p:nvSpPr>
          <p:cNvPr id="50" name=""/>
          <p:cNvSpPr txBox="1"/>
          <p:nvPr/>
        </p:nvSpPr>
        <p:spPr>
          <a:xfrm>
            <a:off x="4361400" y="3702240"/>
            <a:ext cx="191520" cy="215280"/>
          </a:xfrm>
          <a:prstGeom prst="rect">
            <a:avLst/>
          </a:prstGeom>
          <a:noFill/>
          <a:ln w="0">
            <a:noFill/>
          </a:ln>
        </p:spPr>
        <p:txBody>
          <a:bodyPr wrap="none" lIns="0" rIns="0" tIns="0" bIns="0" anchor="t">
            <a:noAutofit/>
          </a:bodyPr>
          <a:p>
            <a:r>
              <a:rPr b="0" lang="en-US" sz="1510" spc="-1" strike="noStrike">
                <a:solidFill>
                  <a:srgbClr val="284f78"/>
                </a:solidFill>
                <a:latin typeface="Arial"/>
                <a:ea typeface="Arial"/>
              </a:rPr>
              <a:t>•</a:t>
            </a:r>
            <a:endParaRPr b="0" lang="en-US" sz="1510" spc="-1" strike="noStrike">
              <a:solidFill>
                <a:srgbClr val="000000"/>
              </a:solidFill>
              <a:latin typeface="Times New Roman"/>
            </a:endParaRPr>
          </a:p>
        </p:txBody>
      </p:sp>
      <p:sp>
        <p:nvSpPr>
          <p:cNvPr id="51" name=""/>
          <p:cNvSpPr txBox="1"/>
          <p:nvPr/>
        </p:nvSpPr>
        <p:spPr>
          <a:xfrm>
            <a:off x="4572000" y="3691080"/>
            <a:ext cx="253836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CRC/FEC and TLP-related blocks </a:t>
            </a:r>
            <a:endParaRPr b="0" lang="en-US" sz="1310" spc="-1" strike="noStrike">
              <a:solidFill>
                <a:srgbClr val="000000"/>
              </a:solidFill>
              <a:latin typeface="Times New Roman"/>
            </a:endParaRPr>
          </a:p>
        </p:txBody>
      </p:sp>
      <p:sp>
        <p:nvSpPr>
          <p:cNvPr id="52" name=""/>
          <p:cNvSpPr txBox="1"/>
          <p:nvPr/>
        </p:nvSpPr>
        <p:spPr>
          <a:xfrm>
            <a:off x="4572000" y="3890160"/>
            <a:ext cx="168012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individually unit-tested.</a:t>
            </a:r>
            <a:endParaRPr b="0" lang="en-US" sz="1310" spc="-1" strike="noStrike">
              <a:solidFill>
                <a:srgbClr val="000000"/>
              </a:solidFill>
              <a:latin typeface="Times New Roman"/>
            </a:endParaRPr>
          </a:p>
        </p:txBody>
      </p:sp>
      <p:sp>
        <p:nvSpPr>
          <p:cNvPr id="53" name=""/>
          <p:cNvSpPr txBox="1"/>
          <p:nvPr/>
        </p:nvSpPr>
        <p:spPr>
          <a:xfrm>
            <a:off x="4361400" y="4515840"/>
            <a:ext cx="191520" cy="215280"/>
          </a:xfrm>
          <a:prstGeom prst="rect">
            <a:avLst/>
          </a:prstGeom>
          <a:noFill/>
          <a:ln w="0">
            <a:noFill/>
          </a:ln>
        </p:spPr>
        <p:txBody>
          <a:bodyPr wrap="none" lIns="0" rIns="0" tIns="0" bIns="0" anchor="t">
            <a:noAutofit/>
          </a:bodyPr>
          <a:p>
            <a:r>
              <a:rPr b="0" lang="en-US" sz="1510" spc="-1" strike="noStrike">
                <a:solidFill>
                  <a:srgbClr val="284f78"/>
                </a:solidFill>
                <a:latin typeface="Arial"/>
                <a:ea typeface="Arial"/>
              </a:rPr>
              <a:t>•</a:t>
            </a:r>
            <a:endParaRPr b="0" lang="en-US" sz="1510" spc="-1" strike="noStrike">
              <a:solidFill>
                <a:srgbClr val="000000"/>
              </a:solidFill>
              <a:latin typeface="Times New Roman"/>
            </a:endParaRPr>
          </a:p>
        </p:txBody>
      </p:sp>
      <p:sp>
        <p:nvSpPr>
          <p:cNvPr id="54" name=""/>
          <p:cNvSpPr txBox="1"/>
          <p:nvPr/>
        </p:nvSpPr>
        <p:spPr>
          <a:xfrm>
            <a:off x="4572000" y="4504680"/>
            <a:ext cx="301068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Transaction blocks not yet wired into the </a:t>
            </a:r>
            <a:endParaRPr b="0" lang="en-US" sz="1310" spc="-1" strike="noStrike">
              <a:solidFill>
                <a:srgbClr val="000000"/>
              </a:solidFill>
              <a:latin typeface="Times New Roman"/>
            </a:endParaRPr>
          </a:p>
        </p:txBody>
      </p:sp>
      <p:sp>
        <p:nvSpPr>
          <p:cNvPr id="55" name=""/>
          <p:cNvSpPr/>
          <p:nvPr/>
        </p:nvSpPr>
        <p:spPr>
          <a:xfrm>
            <a:off x="7909560" y="1874520"/>
            <a:ext cx="360" cy="3721320"/>
          </a:xfrm>
          <a:prstGeom prst="line">
            <a:avLst/>
          </a:prstGeom>
          <a:ln w="9000">
            <a:solidFill>
              <a:srgbClr val="ced4da"/>
            </a:solidFill>
            <a:round/>
          </a:ln>
        </p:spPr>
        <p:style>
          <a:lnRef idx="0"/>
          <a:fillRef idx="0"/>
          <a:effectRef idx="0"/>
          <a:fontRef idx="minor"/>
        </p:style>
        <p:txBody>
          <a:bodyPr lIns="4320" rIns="4320" tIns="4320" bIns="4320" anchor="t">
            <a:noAutofit/>
          </a:bodyPr>
          <a:p>
            <a:endParaRPr b="0" lang="en-US" sz="2400" spc="-1" strike="noStrike">
              <a:solidFill>
                <a:srgbClr val="000000"/>
              </a:solidFill>
              <a:latin typeface="Times New Roman"/>
            </a:endParaRPr>
          </a:p>
        </p:txBody>
      </p:sp>
      <p:sp>
        <p:nvSpPr>
          <p:cNvPr id="56" name=""/>
          <p:cNvSpPr txBox="1"/>
          <p:nvPr/>
        </p:nvSpPr>
        <p:spPr>
          <a:xfrm>
            <a:off x="4572000" y="4703760"/>
            <a:ext cx="108900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complete path.</a:t>
            </a:r>
            <a:endParaRPr b="0" lang="en-US" sz="1310" spc="-1" strike="noStrike">
              <a:solidFill>
                <a:srgbClr val="000000"/>
              </a:solidFill>
              <a:latin typeface="Times New Roman"/>
            </a:endParaRPr>
          </a:p>
        </p:txBody>
      </p:sp>
      <p:sp>
        <p:nvSpPr>
          <p:cNvPr id="57" name=""/>
          <p:cNvSpPr txBox="1"/>
          <p:nvPr/>
        </p:nvSpPr>
        <p:spPr>
          <a:xfrm>
            <a:off x="8010000" y="1891800"/>
            <a:ext cx="1524600" cy="245880"/>
          </a:xfrm>
          <a:prstGeom prst="rect">
            <a:avLst/>
          </a:prstGeom>
          <a:noFill/>
          <a:ln w="0">
            <a:noFill/>
          </a:ln>
        </p:spPr>
        <p:txBody>
          <a:bodyPr wrap="none" lIns="0" rIns="0" tIns="0" bIns="0" anchor="t">
            <a:noAutofit/>
          </a:bodyPr>
          <a:p>
            <a:r>
              <a:rPr b="1" lang="en-US" sz="1729" spc="-1" strike="noStrike">
                <a:solidFill>
                  <a:srgbClr val="1d3859"/>
                </a:solidFill>
                <a:latin typeface="Arial"/>
                <a:ea typeface="Arial"/>
              </a:rPr>
              <a:t>Protocol / PHY</a:t>
            </a:r>
            <a:endParaRPr b="0" lang="en-US" sz="1729" spc="-1" strike="noStrike">
              <a:solidFill>
                <a:srgbClr val="000000"/>
              </a:solidFill>
              <a:latin typeface="Times New Roman"/>
            </a:endParaRPr>
          </a:p>
        </p:txBody>
      </p:sp>
      <p:sp>
        <p:nvSpPr>
          <p:cNvPr id="58" name=""/>
          <p:cNvSpPr/>
          <p:nvPr/>
        </p:nvSpPr>
        <p:spPr>
          <a:xfrm>
            <a:off x="8010000" y="2642400"/>
            <a:ext cx="3456360" cy="0"/>
          </a:xfrm>
          <a:prstGeom prst="line">
            <a:avLst/>
          </a:prstGeom>
          <a:ln w="9720">
            <a:solidFill>
              <a:srgbClr val="ced4da"/>
            </a:solidFill>
            <a:round/>
          </a:ln>
        </p:spPr>
        <p:style>
          <a:lnRef idx="0"/>
          <a:fillRef idx="0"/>
          <a:effectRef idx="0"/>
          <a:fontRef idx="minor"/>
        </p:style>
        <p:txBody>
          <a:bodyPr lIns="4680" rIns="4680" tIns="-4680" bIns="-4680" anchor="t">
            <a:noAutofit/>
          </a:bodyPr>
          <a:p>
            <a:endParaRPr b="0" lang="en-US" sz="2400" spc="-1" strike="noStrike">
              <a:solidFill>
                <a:srgbClr val="000000"/>
              </a:solidFill>
              <a:latin typeface="Times New Roman"/>
            </a:endParaRPr>
          </a:p>
        </p:txBody>
      </p:sp>
      <p:sp>
        <p:nvSpPr>
          <p:cNvPr id="59" name=""/>
          <p:cNvSpPr txBox="1"/>
          <p:nvPr/>
        </p:nvSpPr>
        <p:spPr>
          <a:xfrm>
            <a:off x="8010000" y="2268000"/>
            <a:ext cx="415080" cy="174240"/>
          </a:xfrm>
          <a:prstGeom prst="rect">
            <a:avLst/>
          </a:prstGeom>
          <a:noFill/>
          <a:ln w="0">
            <a:noFill/>
          </a:ln>
        </p:spPr>
        <p:txBody>
          <a:bodyPr wrap="none" lIns="0" rIns="0" tIns="0" bIns="0" anchor="t">
            <a:noAutofit/>
          </a:bodyPr>
          <a:p>
            <a:r>
              <a:rPr b="0" lang="en-US" sz="1220" spc="-1" strike="noStrike">
                <a:solidFill>
                  <a:srgbClr val="525b65"/>
                </a:solidFill>
                <a:latin typeface="Arial"/>
                <a:ea typeface="Arial"/>
              </a:rPr>
              <a:t>Kshitij</a:t>
            </a:r>
            <a:endParaRPr b="0" lang="en-US" sz="1220" spc="-1" strike="noStrike">
              <a:solidFill>
                <a:srgbClr val="000000"/>
              </a:solidFill>
              <a:latin typeface="Times New Roman"/>
            </a:endParaRPr>
          </a:p>
        </p:txBody>
      </p:sp>
      <p:sp>
        <p:nvSpPr>
          <p:cNvPr id="60" name=""/>
          <p:cNvSpPr txBox="1"/>
          <p:nvPr/>
        </p:nvSpPr>
        <p:spPr>
          <a:xfrm>
            <a:off x="8009640" y="2888280"/>
            <a:ext cx="191520" cy="215280"/>
          </a:xfrm>
          <a:prstGeom prst="rect">
            <a:avLst/>
          </a:prstGeom>
          <a:noFill/>
          <a:ln w="0">
            <a:noFill/>
          </a:ln>
        </p:spPr>
        <p:txBody>
          <a:bodyPr wrap="none" lIns="0" rIns="0" tIns="0" bIns="0" anchor="t">
            <a:noAutofit/>
          </a:bodyPr>
          <a:p>
            <a:r>
              <a:rPr b="0" lang="en-US" sz="1510" spc="-1" strike="noStrike">
                <a:solidFill>
                  <a:srgbClr val="284f78"/>
                </a:solidFill>
                <a:latin typeface="Arial"/>
                <a:ea typeface="Arial"/>
              </a:rPr>
              <a:t>•</a:t>
            </a:r>
            <a:endParaRPr b="0" lang="en-US" sz="1510" spc="-1" strike="noStrike">
              <a:solidFill>
                <a:srgbClr val="000000"/>
              </a:solidFill>
              <a:latin typeface="Times New Roman"/>
            </a:endParaRPr>
          </a:p>
        </p:txBody>
      </p:sp>
      <p:sp>
        <p:nvSpPr>
          <p:cNvPr id="61" name=""/>
          <p:cNvSpPr txBox="1"/>
          <p:nvPr/>
        </p:nvSpPr>
        <p:spPr>
          <a:xfrm>
            <a:off x="8220240" y="2877120"/>
            <a:ext cx="317664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Gray/PAM4 lane mapping and logical PHY </a:t>
            </a:r>
            <a:endParaRPr b="0" lang="en-US" sz="1310" spc="-1" strike="noStrike">
              <a:solidFill>
                <a:srgbClr val="000000"/>
              </a:solidFill>
              <a:latin typeface="Times New Roman"/>
            </a:endParaRPr>
          </a:p>
        </p:txBody>
      </p:sp>
      <p:sp>
        <p:nvSpPr>
          <p:cNvPr id="62" name=""/>
          <p:cNvSpPr txBox="1"/>
          <p:nvPr/>
        </p:nvSpPr>
        <p:spPr>
          <a:xfrm>
            <a:off x="8220240" y="3076200"/>
            <a:ext cx="71100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loopback.</a:t>
            </a:r>
            <a:endParaRPr b="0" lang="en-US" sz="1310" spc="-1" strike="noStrike">
              <a:solidFill>
                <a:srgbClr val="000000"/>
              </a:solidFill>
              <a:latin typeface="Times New Roman"/>
            </a:endParaRPr>
          </a:p>
        </p:txBody>
      </p:sp>
      <p:sp>
        <p:nvSpPr>
          <p:cNvPr id="63" name=""/>
          <p:cNvSpPr txBox="1"/>
          <p:nvPr/>
        </p:nvSpPr>
        <p:spPr>
          <a:xfrm>
            <a:off x="8009640" y="3702240"/>
            <a:ext cx="191520" cy="215280"/>
          </a:xfrm>
          <a:prstGeom prst="rect">
            <a:avLst/>
          </a:prstGeom>
          <a:noFill/>
          <a:ln w="0">
            <a:noFill/>
          </a:ln>
        </p:spPr>
        <p:txBody>
          <a:bodyPr wrap="none" lIns="0" rIns="0" tIns="0" bIns="0" anchor="t">
            <a:noAutofit/>
          </a:bodyPr>
          <a:p>
            <a:r>
              <a:rPr b="0" lang="en-US" sz="1510" spc="-1" strike="noStrike">
                <a:solidFill>
                  <a:srgbClr val="284f78"/>
                </a:solidFill>
                <a:latin typeface="Arial"/>
                <a:ea typeface="Arial"/>
              </a:rPr>
              <a:t>•</a:t>
            </a:r>
            <a:endParaRPr b="0" lang="en-US" sz="1510" spc="-1" strike="noStrike">
              <a:solidFill>
                <a:srgbClr val="000000"/>
              </a:solidFill>
              <a:latin typeface="Times New Roman"/>
            </a:endParaRPr>
          </a:p>
        </p:txBody>
      </p:sp>
      <p:sp>
        <p:nvSpPr>
          <p:cNvPr id="64" name=""/>
          <p:cNvSpPr txBox="1"/>
          <p:nvPr/>
        </p:nvSpPr>
        <p:spPr>
          <a:xfrm>
            <a:off x="8220240" y="3691080"/>
            <a:ext cx="312048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Reset, configuration, MSI-X and sideband </a:t>
            </a:r>
            <a:endParaRPr b="0" lang="en-US" sz="1310" spc="-1" strike="noStrike">
              <a:solidFill>
                <a:srgbClr val="000000"/>
              </a:solidFill>
              <a:latin typeface="Times New Roman"/>
            </a:endParaRPr>
          </a:p>
        </p:txBody>
      </p:sp>
      <p:sp>
        <p:nvSpPr>
          <p:cNvPr id="65" name=""/>
          <p:cNvSpPr txBox="1"/>
          <p:nvPr/>
        </p:nvSpPr>
        <p:spPr>
          <a:xfrm>
            <a:off x="8220240" y="3890160"/>
            <a:ext cx="62712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controls.</a:t>
            </a:r>
            <a:endParaRPr b="0" lang="en-US" sz="1310" spc="-1" strike="noStrike">
              <a:solidFill>
                <a:srgbClr val="000000"/>
              </a:solidFill>
              <a:latin typeface="Times New Roman"/>
            </a:endParaRPr>
          </a:p>
        </p:txBody>
      </p:sp>
      <p:sp>
        <p:nvSpPr>
          <p:cNvPr id="66" name=""/>
          <p:cNvSpPr txBox="1"/>
          <p:nvPr/>
        </p:nvSpPr>
        <p:spPr>
          <a:xfrm>
            <a:off x="8009640" y="4515840"/>
            <a:ext cx="191520" cy="215280"/>
          </a:xfrm>
          <a:prstGeom prst="rect">
            <a:avLst/>
          </a:prstGeom>
          <a:noFill/>
          <a:ln w="0">
            <a:noFill/>
          </a:ln>
        </p:spPr>
        <p:txBody>
          <a:bodyPr wrap="none" lIns="0" rIns="0" tIns="0" bIns="0" anchor="t">
            <a:noAutofit/>
          </a:bodyPr>
          <a:p>
            <a:r>
              <a:rPr b="0" lang="en-US" sz="1510" spc="-1" strike="noStrike">
                <a:solidFill>
                  <a:srgbClr val="284f78"/>
                </a:solidFill>
                <a:latin typeface="Arial"/>
                <a:ea typeface="Arial"/>
              </a:rPr>
              <a:t>•</a:t>
            </a:r>
            <a:endParaRPr b="0" lang="en-US" sz="1510" spc="-1" strike="noStrike">
              <a:solidFill>
                <a:srgbClr val="000000"/>
              </a:solidFill>
              <a:latin typeface="Times New Roman"/>
            </a:endParaRPr>
          </a:p>
        </p:txBody>
      </p:sp>
      <p:sp>
        <p:nvSpPr>
          <p:cNvPr id="67" name=""/>
          <p:cNvSpPr txBox="1"/>
          <p:nvPr/>
        </p:nvSpPr>
        <p:spPr>
          <a:xfrm>
            <a:off x="8220240" y="4504680"/>
            <a:ext cx="313092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4/4 initial cocotb tests passed; lane proofs </a:t>
            </a:r>
            <a:endParaRPr b="0" lang="en-US" sz="1310" spc="-1" strike="noStrike">
              <a:solidFill>
                <a:srgbClr val="000000"/>
              </a:solidFill>
              <a:latin typeface="Times New Roman"/>
            </a:endParaRPr>
          </a:p>
        </p:txBody>
      </p:sp>
      <p:sp>
        <p:nvSpPr>
          <p:cNvPr id="68" name=""/>
          <p:cNvSpPr/>
          <p:nvPr/>
        </p:nvSpPr>
        <p:spPr>
          <a:xfrm>
            <a:off x="703440" y="5632560"/>
            <a:ext cx="10762920" cy="0"/>
          </a:xfrm>
          <a:prstGeom prst="line">
            <a:avLst/>
          </a:prstGeom>
          <a:ln w="11160">
            <a:solidFill>
              <a:srgbClr val="ced4da"/>
            </a:solidFill>
            <a:round/>
          </a:ln>
        </p:spPr>
        <p:style>
          <a:lnRef idx="0"/>
          <a:fillRef idx="0"/>
          <a:effectRef idx="0"/>
          <a:fontRef idx="minor"/>
        </p:style>
        <p:txBody>
          <a:bodyPr lIns="5400" rIns="5400" tIns="-5400" bIns="-5400" anchor="t">
            <a:noAutofit/>
          </a:bodyPr>
          <a:p>
            <a:endParaRPr b="0" lang="en-US" sz="2400" spc="-1" strike="noStrike">
              <a:solidFill>
                <a:srgbClr val="000000"/>
              </a:solidFill>
              <a:latin typeface="Times New Roman"/>
            </a:endParaRPr>
          </a:p>
        </p:txBody>
      </p:sp>
      <p:sp>
        <p:nvSpPr>
          <p:cNvPr id="69" name=""/>
          <p:cNvSpPr txBox="1"/>
          <p:nvPr/>
        </p:nvSpPr>
        <p:spPr>
          <a:xfrm>
            <a:off x="8220240" y="4703760"/>
            <a:ext cx="665280" cy="186120"/>
          </a:xfrm>
          <a:prstGeom prst="rect">
            <a:avLst/>
          </a:prstGeom>
          <a:noFill/>
          <a:ln w="0">
            <a:noFill/>
          </a:ln>
        </p:spPr>
        <p:txBody>
          <a:bodyPr wrap="none" lIns="0" rIns="0" tIns="0" bIns="0" anchor="t">
            <a:noAutofit/>
          </a:bodyPr>
          <a:p>
            <a:r>
              <a:rPr b="0" lang="en-US" sz="1310" spc="-1" strike="noStrike">
                <a:solidFill>
                  <a:srgbClr val="20252c"/>
                </a:solidFill>
                <a:latin typeface="Arial"/>
                <a:ea typeface="Arial"/>
              </a:rPr>
              <a:t>checked.</a:t>
            </a:r>
            <a:endParaRPr b="0" lang="en-US" sz="1310" spc="-1" strike="noStrike">
              <a:solidFill>
                <a:srgbClr val="000000"/>
              </a:solidFill>
              <a:latin typeface="Times New Roman"/>
            </a:endParaRPr>
          </a:p>
        </p:txBody>
      </p:sp>
      <p:sp>
        <p:nvSpPr>
          <p:cNvPr id="70" name=""/>
          <p:cNvSpPr txBox="1"/>
          <p:nvPr/>
        </p:nvSpPr>
        <p:spPr>
          <a:xfrm>
            <a:off x="712800" y="5811840"/>
            <a:ext cx="1609920" cy="178560"/>
          </a:xfrm>
          <a:prstGeom prst="rect">
            <a:avLst/>
          </a:prstGeom>
          <a:noFill/>
          <a:ln w="0">
            <a:noFill/>
          </a:ln>
        </p:spPr>
        <p:txBody>
          <a:bodyPr wrap="none" lIns="0" rIns="0" tIns="0" bIns="0" anchor="t">
            <a:noAutofit/>
          </a:bodyPr>
          <a:p>
            <a:r>
              <a:rPr b="1" lang="en-US" sz="1260" spc="-1" strike="noStrike">
                <a:solidFill>
                  <a:srgbClr val="1d3859"/>
                </a:solidFill>
                <a:latin typeface="Arial"/>
                <a:ea typeface="Arial"/>
              </a:rPr>
              <a:t>Status at submission</a:t>
            </a:r>
            <a:endParaRPr b="0" lang="en-US" sz="1260" spc="-1" strike="noStrike">
              <a:solidFill>
                <a:srgbClr val="000000"/>
              </a:solidFill>
              <a:latin typeface="Times New Roman"/>
            </a:endParaRPr>
          </a:p>
        </p:txBody>
      </p:sp>
      <p:sp>
        <p:nvSpPr>
          <p:cNvPr id="71" name=""/>
          <p:cNvSpPr txBox="1"/>
          <p:nvPr/>
        </p:nvSpPr>
        <p:spPr>
          <a:xfrm>
            <a:off x="2797560" y="5827320"/>
            <a:ext cx="7788240" cy="177120"/>
          </a:xfrm>
          <a:prstGeom prst="rect">
            <a:avLst/>
          </a:prstGeom>
          <a:noFill/>
          <a:ln w="0">
            <a:noFill/>
          </a:ln>
        </p:spPr>
        <p:txBody>
          <a:bodyPr wrap="none" lIns="0" rIns="0" tIns="0" bIns="0" anchor="t">
            <a:noAutofit/>
          </a:bodyPr>
          <a:p>
            <a:r>
              <a:rPr b="0" lang="en-US" sz="1250" spc="-1" strike="noStrike">
                <a:solidFill>
                  <a:srgbClr val="20252c"/>
                </a:solidFill>
                <a:latin typeface="Arial"/>
                <a:ea typeface="Arial"/>
              </a:rPr>
              <a:t>Connectivity was demonstrated; end-to-end TLP data correctness, complete address handling and link-to-PHY </a:t>
            </a:r>
            <a:endParaRPr b="0" lang="en-US" sz="1250" spc="-1" strike="noStrike">
              <a:solidFill>
                <a:srgbClr val="000000"/>
              </a:solidFill>
              <a:latin typeface="Times New Roman"/>
            </a:endParaRPr>
          </a:p>
        </p:txBody>
      </p:sp>
      <p:sp>
        <p:nvSpPr>
          <p:cNvPr id="72" name=""/>
          <p:cNvSpPr txBox="1"/>
          <p:nvPr/>
        </p:nvSpPr>
        <p:spPr>
          <a:xfrm>
            <a:off x="2797560" y="6017400"/>
            <a:ext cx="2096280" cy="177120"/>
          </a:xfrm>
          <a:prstGeom prst="rect">
            <a:avLst/>
          </a:prstGeom>
          <a:noFill/>
          <a:ln w="0">
            <a:noFill/>
          </a:ln>
        </p:spPr>
        <p:txBody>
          <a:bodyPr wrap="none" lIns="0" rIns="0" tIns="0" bIns="0" anchor="t">
            <a:noAutofit/>
          </a:bodyPr>
          <a:p>
            <a:r>
              <a:rPr b="0" lang="en-US" sz="1250" spc="-1" strike="noStrike">
                <a:solidFill>
                  <a:srgbClr val="20252c"/>
                </a:solidFill>
                <a:latin typeface="Arial"/>
                <a:ea typeface="Arial"/>
              </a:rPr>
              <a:t>backpressure remained open.</a:t>
            </a:r>
            <a:endParaRPr b="0" lang="en-US" sz="125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
          <p:cNvSpPr/>
          <p:nvPr/>
        </p:nvSpPr>
        <p:spPr>
          <a:xfrm>
            <a:off x="0" y="0"/>
            <a:ext cx="12191760" cy="6858000"/>
          </a:xfrm>
          <a:custGeom>
            <a:avLst/>
            <a:gdLst/>
            <a:ahLst/>
            <a:rect l="0" t="0" r="r" b="b"/>
            <a:pathLst>
              <a:path w="33866" h="19050">
                <a:moveTo>
                  <a:pt x="0" y="0"/>
                </a:moveTo>
                <a:lnTo>
                  <a:pt x="33866" y="0"/>
                </a:lnTo>
                <a:lnTo>
                  <a:pt x="33866"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74" name=""/>
          <p:cNvSpPr/>
          <p:nvPr/>
        </p:nvSpPr>
        <p:spPr>
          <a:xfrm>
            <a:off x="0" y="0"/>
            <a:ext cx="12192120" cy="6858360"/>
          </a:xfrm>
          <a:custGeom>
            <a:avLst/>
            <a:gdLst/>
            <a:ahLst/>
            <a:rect l="0" t="0" r="r" b="b"/>
            <a:pathLst>
              <a:path w="33867" h="19051">
                <a:moveTo>
                  <a:pt x="0" y="0"/>
                </a:moveTo>
                <a:lnTo>
                  <a:pt x="33867" y="0"/>
                </a:lnTo>
                <a:lnTo>
                  <a:pt x="33867" y="19051"/>
                </a:lnTo>
                <a:lnTo>
                  <a:pt x="0" y="19051"/>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75" name=""/>
          <p:cNvSpPr txBox="1"/>
          <p:nvPr/>
        </p:nvSpPr>
        <p:spPr>
          <a:xfrm>
            <a:off x="612360" y="226440"/>
            <a:ext cx="181584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RoboKnights  /  SARCathon 2026</a:t>
            </a:r>
            <a:endParaRPr b="0" lang="en-US" sz="960" spc="-1" strike="noStrike">
              <a:solidFill>
                <a:srgbClr val="000000"/>
              </a:solidFill>
              <a:latin typeface="Times New Roman"/>
            </a:endParaRPr>
          </a:p>
        </p:txBody>
      </p:sp>
      <p:sp>
        <p:nvSpPr>
          <p:cNvPr id="76" name=""/>
          <p:cNvSpPr/>
          <p:nvPr/>
        </p:nvSpPr>
        <p:spPr>
          <a:xfrm>
            <a:off x="612000" y="466200"/>
            <a:ext cx="10954800" cy="0"/>
          </a:xfrm>
          <a:prstGeom prst="line">
            <a:avLst/>
          </a:prstGeom>
          <a:ln w="9720">
            <a:solidFill>
              <a:srgbClr val="ced4da"/>
            </a:solidFill>
            <a:round/>
          </a:ln>
        </p:spPr>
        <p:style>
          <a:lnRef idx="0"/>
          <a:fillRef idx="0"/>
          <a:effectRef idx="0"/>
          <a:fontRef idx="minor"/>
        </p:style>
        <p:txBody>
          <a:bodyPr lIns="4680" rIns="4680" tIns="-4680" bIns="-4680" anchor="t">
            <a:noAutofit/>
          </a:bodyPr>
          <a:p>
            <a:endParaRPr b="0" lang="en-US" sz="2400" spc="-1" strike="noStrike">
              <a:solidFill>
                <a:srgbClr val="000000"/>
              </a:solidFill>
              <a:latin typeface="Times New Roman"/>
            </a:endParaRPr>
          </a:p>
        </p:txBody>
      </p:sp>
      <p:sp>
        <p:nvSpPr>
          <p:cNvPr id="77" name=""/>
          <p:cNvSpPr txBox="1"/>
          <p:nvPr/>
        </p:nvSpPr>
        <p:spPr>
          <a:xfrm>
            <a:off x="11413440" y="230760"/>
            <a:ext cx="13500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03</a:t>
            </a:r>
            <a:endParaRPr b="0" lang="en-US" sz="960" spc="-1" strike="noStrike">
              <a:solidFill>
                <a:srgbClr val="000000"/>
              </a:solidFill>
              <a:latin typeface="Times New Roman"/>
            </a:endParaRPr>
          </a:p>
        </p:txBody>
      </p:sp>
      <p:sp>
        <p:nvSpPr>
          <p:cNvPr id="78" name=""/>
          <p:cNvSpPr txBox="1"/>
          <p:nvPr/>
        </p:nvSpPr>
        <p:spPr>
          <a:xfrm>
            <a:off x="639720" y="737640"/>
            <a:ext cx="7986600" cy="379800"/>
          </a:xfrm>
          <a:prstGeom prst="rect">
            <a:avLst/>
          </a:prstGeom>
          <a:noFill/>
          <a:ln w="0">
            <a:noFill/>
          </a:ln>
        </p:spPr>
        <p:txBody>
          <a:bodyPr wrap="none" lIns="0" rIns="0" tIns="0" bIns="0" anchor="t">
            <a:noAutofit/>
          </a:bodyPr>
          <a:p>
            <a:r>
              <a:rPr b="1" lang="en-US" sz="2680" spc="-1" strike="noStrike">
                <a:solidFill>
                  <a:srgbClr val="20252c"/>
                </a:solidFill>
                <a:latin typeface="Arial"/>
                <a:ea typeface="Arial"/>
              </a:rPr>
              <a:t>Round 2 — full integration and regression testing</a:t>
            </a:r>
            <a:endParaRPr b="0" lang="en-US" sz="2680" spc="-1" strike="noStrike">
              <a:solidFill>
                <a:srgbClr val="000000"/>
              </a:solidFill>
              <a:latin typeface="Times New Roman"/>
            </a:endParaRPr>
          </a:p>
        </p:txBody>
      </p:sp>
      <p:sp>
        <p:nvSpPr>
          <p:cNvPr id="79" name=""/>
          <p:cNvSpPr/>
          <p:nvPr/>
        </p:nvSpPr>
        <p:spPr>
          <a:xfrm>
            <a:off x="612000" y="6482880"/>
            <a:ext cx="10954800" cy="0"/>
          </a:xfrm>
          <a:prstGeom prst="line">
            <a:avLst/>
          </a:prstGeom>
          <a:ln w="7920">
            <a:solidFill>
              <a:srgbClr val="ced4da"/>
            </a:solidFill>
            <a:round/>
          </a:ln>
        </p:spPr>
        <p:style>
          <a:lnRef idx="0"/>
          <a:fillRef idx="0"/>
          <a:effectRef idx="0"/>
          <a:fontRef idx="minor"/>
        </p:style>
        <p:txBody>
          <a:bodyPr lIns="3960" rIns="3960" tIns="-3960" bIns="-3960" anchor="t">
            <a:noAutofit/>
          </a:bodyPr>
          <a:p>
            <a:endParaRPr b="0" lang="en-US" sz="2400" spc="-1" strike="noStrike">
              <a:solidFill>
                <a:srgbClr val="000000"/>
              </a:solidFill>
              <a:latin typeface="Times New Roman"/>
            </a:endParaRPr>
          </a:p>
        </p:txBody>
      </p:sp>
      <p:sp>
        <p:nvSpPr>
          <p:cNvPr id="80" name=""/>
          <p:cNvSpPr txBox="1"/>
          <p:nvPr/>
        </p:nvSpPr>
        <p:spPr>
          <a:xfrm>
            <a:off x="639720" y="1332720"/>
            <a:ext cx="7092000" cy="177120"/>
          </a:xfrm>
          <a:prstGeom prst="rect">
            <a:avLst/>
          </a:prstGeom>
          <a:noFill/>
          <a:ln w="0">
            <a:noFill/>
          </a:ln>
        </p:spPr>
        <p:txBody>
          <a:bodyPr wrap="none" lIns="0" rIns="0" tIns="0" bIns="0" anchor="t">
            <a:noAutofit/>
          </a:bodyPr>
          <a:p>
            <a:r>
              <a:rPr b="0" lang="en-US" sz="1250" spc="-1" strike="noStrike">
                <a:solidFill>
                  <a:srgbClr val="525b65"/>
                </a:solidFill>
                <a:latin typeface="Arial"/>
                <a:ea typeface="Arial"/>
              </a:rPr>
              <a:t>Closed the gaps between the three RTL layers before committing to FPGA performance optimisation.</a:t>
            </a:r>
            <a:endParaRPr b="0" lang="en-US" sz="1250" spc="-1" strike="noStrike">
              <a:solidFill>
                <a:srgbClr val="000000"/>
              </a:solidFill>
              <a:latin typeface="Times New Roman"/>
            </a:endParaRPr>
          </a:p>
        </p:txBody>
      </p:sp>
      <p:sp>
        <p:nvSpPr>
          <p:cNvPr id="81" name=""/>
          <p:cNvSpPr txBox="1"/>
          <p:nvPr/>
        </p:nvSpPr>
        <p:spPr>
          <a:xfrm>
            <a:off x="639720" y="6578280"/>
            <a:ext cx="299088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AXI4-Stream → PCIe 6.0 Bridge  |  Round 2 technical review</a:t>
            </a:r>
            <a:endParaRPr b="0" lang="en-US" sz="870" spc="-1" strike="noStrike">
              <a:solidFill>
                <a:srgbClr val="000000"/>
              </a:solidFill>
              <a:latin typeface="Times New Roman"/>
            </a:endParaRPr>
          </a:p>
        </p:txBody>
      </p:sp>
      <p:sp>
        <p:nvSpPr>
          <p:cNvPr id="82" name=""/>
          <p:cNvSpPr txBox="1"/>
          <p:nvPr/>
        </p:nvSpPr>
        <p:spPr>
          <a:xfrm>
            <a:off x="11261520" y="6578280"/>
            <a:ext cx="27792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3 / 10</a:t>
            </a:r>
            <a:endParaRPr b="0" lang="en-US" sz="870" spc="-1" strike="noStrike">
              <a:solidFill>
                <a:srgbClr val="000000"/>
              </a:solidFill>
              <a:latin typeface="Times New Roman"/>
            </a:endParaRPr>
          </a:p>
        </p:txBody>
      </p:sp>
      <p:sp>
        <p:nvSpPr>
          <p:cNvPr id="83" name=""/>
          <p:cNvSpPr/>
          <p:nvPr/>
        </p:nvSpPr>
        <p:spPr>
          <a:xfrm>
            <a:off x="849960" y="2221560"/>
            <a:ext cx="1526760" cy="493920"/>
          </a:xfrm>
          <a:custGeom>
            <a:avLst/>
            <a:gdLst/>
            <a:ahLst/>
            <a:rect l="0" t="0" r="r" b="b"/>
            <a:pathLst>
              <a:path w="4241" h="1372">
                <a:moveTo>
                  <a:pt x="2121" y="1372"/>
                </a:moveTo>
                <a:lnTo>
                  <a:pt x="0" y="1372"/>
                </a:lnTo>
                <a:lnTo>
                  <a:pt x="0" y="0"/>
                </a:lnTo>
                <a:lnTo>
                  <a:pt x="4241" y="0"/>
                </a:lnTo>
                <a:lnTo>
                  <a:pt x="4241" y="1372"/>
                </a:lnTo>
                <a:lnTo>
                  <a:pt x="2121" y="1372"/>
                </a:lnTo>
                <a:close/>
              </a:path>
            </a:pathLst>
          </a:custGeom>
          <a:solidFill>
            <a:srgbClr val="ffffff"/>
          </a:solidFill>
          <a:ln w="12240">
            <a:solidFill>
              <a:srgbClr val="284f78"/>
            </a:solidFill>
            <a:round/>
          </a:ln>
        </p:spPr>
        <p:txBody>
          <a:bodyPr lIns="6120" rIns="6120" tIns="6120" bIns="6120" anchor="t">
            <a:noAutofit/>
          </a:bodyPr>
          <a:p>
            <a:endParaRPr b="0" lang="en-US" sz="2400" spc="-1" strike="noStrike">
              <a:solidFill>
                <a:srgbClr val="000000"/>
              </a:solidFill>
              <a:latin typeface="Times New Roman"/>
            </a:endParaRPr>
          </a:p>
        </p:txBody>
      </p:sp>
      <p:sp>
        <p:nvSpPr>
          <p:cNvPr id="84" name=""/>
          <p:cNvSpPr/>
          <p:nvPr/>
        </p:nvSpPr>
        <p:spPr>
          <a:xfrm>
            <a:off x="2715120" y="2221560"/>
            <a:ext cx="1527480" cy="493920"/>
          </a:xfrm>
          <a:custGeom>
            <a:avLst/>
            <a:gdLst/>
            <a:ahLst/>
            <a:rect l="0" t="0" r="r" b="b"/>
            <a:pathLst>
              <a:path w="4243" h="1372">
                <a:moveTo>
                  <a:pt x="2121" y="1372"/>
                </a:moveTo>
                <a:lnTo>
                  <a:pt x="0" y="1372"/>
                </a:lnTo>
                <a:lnTo>
                  <a:pt x="0" y="0"/>
                </a:lnTo>
                <a:lnTo>
                  <a:pt x="4243" y="0"/>
                </a:lnTo>
                <a:lnTo>
                  <a:pt x="4243" y="1372"/>
                </a:lnTo>
                <a:lnTo>
                  <a:pt x="2121" y="1372"/>
                </a:lnTo>
                <a:close/>
              </a:path>
            </a:pathLst>
          </a:custGeom>
          <a:solidFill>
            <a:srgbClr val="ffffff"/>
          </a:solidFill>
          <a:ln w="12240">
            <a:solidFill>
              <a:srgbClr val="284f78"/>
            </a:solidFill>
            <a:round/>
          </a:ln>
        </p:spPr>
        <p:txBody>
          <a:bodyPr lIns="6120" rIns="6120" tIns="6120" bIns="6120" anchor="t">
            <a:noAutofit/>
          </a:bodyPr>
          <a:p>
            <a:endParaRPr b="0" lang="en-US" sz="2400" spc="-1" strike="noStrike">
              <a:solidFill>
                <a:srgbClr val="000000"/>
              </a:solidFill>
              <a:latin typeface="Times New Roman"/>
            </a:endParaRPr>
          </a:p>
        </p:txBody>
      </p:sp>
      <p:sp>
        <p:nvSpPr>
          <p:cNvPr id="85" name=""/>
          <p:cNvSpPr txBox="1"/>
          <p:nvPr/>
        </p:nvSpPr>
        <p:spPr>
          <a:xfrm>
            <a:off x="849960" y="1841760"/>
            <a:ext cx="1824840" cy="215280"/>
          </a:xfrm>
          <a:prstGeom prst="rect">
            <a:avLst/>
          </a:prstGeom>
          <a:noFill/>
          <a:ln w="0">
            <a:noFill/>
          </a:ln>
        </p:spPr>
        <p:txBody>
          <a:bodyPr wrap="none" lIns="0" rIns="0" tIns="0" bIns="0" anchor="t">
            <a:noAutofit/>
          </a:bodyPr>
          <a:p>
            <a:r>
              <a:rPr b="1" lang="en-US" sz="1510" spc="-1" strike="noStrike">
                <a:solidFill>
                  <a:srgbClr val="1d3859"/>
                </a:solidFill>
                <a:latin typeface="Arial"/>
                <a:ea typeface="Arial"/>
              </a:rPr>
              <a:t>Simplified data path</a:t>
            </a:r>
            <a:endParaRPr b="0" lang="en-US" sz="1510" spc="-1" strike="noStrike">
              <a:solidFill>
                <a:srgbClr val="000000"/>
              </a:solidFill>
              <a:latin typeface="Times New Roman"/>
            </a:endParaRPr>
          </a:p>
        </p:txBody>
      </p:sp>
      <p:sp>
        <p:nvSpPr>
          <p:cNvPr id="86" name=""/>
          <p:cNvSpPr txBox="1"/>
          <p:nvPr/>
        </p:nvSpPr>
        <p:spPr>
          <a:xfrm>
            <a:off x="1116000" y="2368800"/>
            <a:ext cx="986760" cy="160560"/>
          </a:xfrm>
          <a:prstGeom prst="rect">
            <a:avLst/>
          </a:prstGeom>
          <a:noFill/>
          <a:ln w="0">
            <a:noFill/>
          </a:ln>
        </p:spPr>
        <p:txBody>
          <a:bodyPr wrap="none" lIns="0" rIns="0" tIns="0" bIns="0" anchor="t">
            <a:noAutofit/>
          </a:bodyPr>
          <a:p>
            <a:r>
              <a:rPr b="1" lang="en-US" sz="1130" spc="-1" strike="noStrike">
                <a:solidFill>
                  <a:srgbClr val="20252c"/>
                </a:solidFill>
                <a:latin typeface="Arial"/>
                <a:ea typeface="Arial"/>
              </a:rPr>
              <a:t>ch0: SmartNIC</a:t>
            </a:r>
            <a:endParaRPr b="0" lang="en-US" sz="1130" spc="-1" strike="noStrike">
              <a:solidFill>
                <a:srgbClr val="000000"/>
              </a:solidFill>
              <a:latin typeface="Times New Roman"/>
            </a:endParaRPr>
          </a:p>
        </p:txBody>
      </p:sp>
      <p:sp>
        <p:nvSpPr>
          <p:cNvPr id="87" name=""/>
          <p:cNvSpPr/>
          <p:nvPr/>
        </p:nvSpPr>
        <p:spPr>
          <a:xfrm>
            <a:off x="1609200" y="2715120"/>
            <a:ext cx="0" cy="128520"/>
          </a:xfrm>
          <a:prstGeom prst="line">
            <a:avLst/>
          </a:prstGeom>
          <a:ln w="14400">
            <a:solidFill>
              <a:srgbClr val="284f78"/>
            </a:solidFill>
            <a:round/>
          </a:ln>
        </p:spPr>
        <p:style>
          <a:lnRef idx="0"/>
          <a:fillRef idx="0"/>
          <a:effectRef idx="0"/>
          <a:fontRef idx="minor"/>
        </p:style>
        <p:txBody>
          <a:bodyPr lIns="7200" rIns="7200" tIns="7200" bIns="7200" anchor="t">
            <a:noAutofit/>
          </a:bodyPr>
          <a:p>
            <a:endParaRPr b="0" lang="en-US" sz="2400" spc="-1" strike="noStrike">
              <a:solidFill>
                <a:srgbClr val="000000"/>
              </a:solidFill>
              <a:latin typeface="Times New Roman"/>
            </a:endParaRPr>
          </a:p>
        </p:txBody>
      </p:sp>
      <p:sp>
        <p:nvSpPr>
          <p:cNvPr id="88" name=""/>
          <p:cNvSpPr/>
          <p:nvPr/>
        </p:nvSpPr>
        <p:spPr>
          <a:xfrm>
            <a:off x="3474720" y="2715120"/>
            <a:ext cx="0" cy="128520"/>
          </a:xfrm>
          <a:prstGeom prst="line">
            <a:avLst/>
          </a:prstGeom>
          <a:ln w="14400">
            <a:solidFill>
              <a:srgbClr val="284f78"/>
            </a:solidFill>
            <a:round/>
          </a:ln>
        </p:spPr>
        <p:style>
          <a:lnRef idx="0"/>
          <a:fillRef idx="0"/>
          <a:effectRef idx="0"/>
          <a:fontRef idx="minor"/>
        </p:style>
        <p:txBody>
          <a:bodyPr lIns="7200" rIns="7200" tIns="7200" bIns="7200" anchor="t">
            <a:noAutofit/>
          </a:bodyPr>
          <a:p>
            <a:endParaRPr b="0" lang="en-US" sz="2400" spc="-1" strike="noStrike">
              <a:solidFill>
                <a:srgbClr val="000000"/>
              </a:solidFill>
              <a:latin typeface="Times New Roman"/>
            </a:endParaRPr>
          </a:p>
        </p:txBody>
      </p:sp>
      <p:sp>
        <p:nvSpPr>
          <p:cNvPr id="89" name=""/>
          <p:cNvSpPr/>
          <p:nvPr/>
        </p:nvSpPr>
        <p:spPr>
          <a:xfrm>
            <a:off x="1609200" y="2843640"/>
            <a:ext cx="1865520" cy="0"/>
          </a:xfrm>
          <a:prstGeom prst="line">
            <a:avLst/>
          </a:prstGeom>
          <a:ln w="14400">
            <a:solidFill>
              <a:srgbClr val="284f78"/>
            </a:solidFill>
            <a:round/>
          </a:ln>
        </p:spPr>
        <p:style>
          <a:lnRef idx="0"/>
          <a:fillRef idx="0"/>
          <a:effectRef idx="0"/>
          <a:fontRef idx="minor"/>
        </p:style>
        <p:txBody>
          <a:bodyPr lIns="7200" rIns="7200" tIns="-7200" bIns="-7200" anchor="t">
            <a:noAutofit/>
          </a:bodyPr>
          <a:p>
            <a:endParaRPr b="0" lang="en-US" sz="2400" spc="-1" strike="noStrike">
              <a:solidFill>
                <a:srgbClr val="000000"/>
              </a:solidFill>
              <a:latin typeface="Times New Roman"/>
            </a:endParaRPr>
          </a:p>
        </p:txBody>
      </p:sp>
      <p:sp>
        <p:nvSpPr>
          <p:cNvPr id="90" name=""/>
          <p:cNvSpPr/>
          <p:nvPr/>
        </p:nvSpPr>
        <p:spPr>
          <a:xfrm>
            <a:off x="2541600" y="2843640"/>
            <a:ext cx="1440" cy="146160"/>
          </a:xfrm>
          <a:prstGeom prst="line">
            <a:avLst/>
          </a:prstGeom>
          <a:ln w="14400">
            <a:solidFill>
              <a:srgbClr val="284f78"/>
            </a:solidFill>
            <a:round/>
          </a:ln>
        </p:spPr>
        <p:style>
          <a:lnRef idx="0"/>
          <a:fillRef idx="0"/>
          <a:effectRef idx="0"/>
          <a:fontRef idx="minor"/>
        </p:style>
        <p:txBody>
          <a:bodyPr lIns="7200" rIns="7200" tIns="7200" bIns="7200" anchor="t">
            <a:noAutofit/>
          </a:bodyPr>
          <a:p>
            <a:endParaRPr b="0" lang="en-US" sz="2400" spc="-1" strike="noStrike">
              <a:solidFill>
                <a:srgbClr val="000000"/>
              </a:solidFill>
              <a:latin typeface="Times New Roman"/>
            </a:endParaRPr>
          </a:p>
        </p:txBody>
      </p:sp>
      <p:sp>
        <p:nvSpPr>
          <p:cNvPr id="91" name=""/>
          <p:cNvSpPr/>
          <p:nvPr/>
        </p:nvSpPr>
        <p:spPr>
          <a:xfrm>
            <a:off x="849960" y="2989440"/>
            <a:ext cx="3392640" cy="695160"/>
          </a:xfrm>
          <a:custGeom>
            <a:avLst/>
            <a:gdLst/>
            <a:ahLst/>
            <a:rect l="0" t="0" r="r" b="b"/>
            <a:pathLst>
              <a:path w="9424" h="1931">
                <a:moveTo>
                  <a:pt x="4712" y="1931"/>
                </a:moveTo>
                <a:lnTo>
                  <a:pt x="0" y="1931"/>
                </a:lnTo>
                <a:lnTo>
                  <a:pt x="0" y="0"/>
                </a:lnTo>
                <a:lnTo>
                  <a:pt x="9424" y="0"/>
                </a:lnTo>
                <a:lnTo>
                  <a:pt x="9424" y="1931"/>
                </a:lnTo>
                <a:lnTo>
                  <a:pt x="4712" y="1931"/>
                </a:lnTo>
                <a:close/>
              </a:path>
            </a:pathLst>
          </a:custGeom>
          <a:solidFill>
            <a:srgbClr val="ffffff"/>
          </a:solidFill>
          <a:ln w="12960">
            <a:solidFill>
              <a:srgbClr val="284f78"/>
            </a:solidFill>
            <a:round/>
          </a:ln>
        </p:spPr>
        <p:txBody>
          <a:bodyPr lIns="6480" rIns="6480" tIns="6480" bIns="6480" anchor="t">
            <a:noAutofit/>
          </a:bodyPr>
          <a:p>
            <a:endParaRPr b="0" lang="en-US" sz="2400" spc="-1" strike="noStrike">
              <a:solidFill>
                <a:srgbClr val="000000"/>
              </a:solidFill>
              <a:latin typeface="Times New Roman"/>
            </a:endParaRPr>
          </a:p>
        </p:txBody>
      </p:sp>
      <p:sp>
        <p:nvSpPr>
          <p:cNvPr id="92" name=""/>
          <p:cNvSpPr txBox="1"/>
          <p:nvPr/>
        </p:nvSpPr>
        <p:spPr>
          <a:xfrm>
            <a:off x="3006720" y="2368800"/>
            <a:ext cx="939600" cy="160560"/>
          </a:xfrm>
          <a:prstGeom prst="rect">
            <a:avLst/>
          </a:prstGeom>
          <a:noFill/>
          <a:ln w="0">
            <a:noFill/>
          </a:ln>
        </p:spPr>
        <p:txBody>
          <a:bodyPr wrap="none" lIns="0" rIns="0" tIns="0" bIns="0" anchor="t">
            <a:noAutofit/>
          </a:bodyPr>
          <a:p>
            <a:r>
              <a:rPr b="1" lang="en-US" sz="1130" spc="-1" strike="noStrike">
                <a:solidFill>
                  <a:srgbClr val="20252c"/>
                </a:solidFill>
                <a:latin typeface="Arial"/>
                <a:ea typeface="Arial"/>
              </a:rPr>
              <a:t>ch1: ML accel</a:t>
            </a:r>
            <a:endParaRPr b="0" lang="en-US" sz="1130" spc="-1" strike="noStrike">
              <a:solidFill>
                <a:srgbClr val="000000"/>
              </a:solidFill>
              <a:latin typeface="Times New Roman"/>
            </a:endParaRPr>
          </a:p>
        </p:txBody>
      </p:sp>
      <p:sp>
        <p:nvSpPr>
          <p:cNvPr id="93" name=""/>
          <p:cNvSpPr txBox="1"/>
          <p:nvPr/>
        </p:nvSpPr>
        <p:spPr>
          <a:xfrm>
            <a:off x="1874160" y="3134880"/>
            <a:ext cx="1335600" cy="184680"/>
          </a:xfrm>
          <a:prstGeom prst="rect">
            <a:avLst/>
          </a:prstGeom>
          <a:noFill/>
          <a:ln w="0">
            <a:noFill/>
          </a:ln>
        </p:spPr>
        <p:txBody>
          <a:bodyPr wrap="none" lIns="0" rIns="0" tIns="0" bIns="0" anchor="t">
            <a:noAutofit/>
          </a:bodyPr>
          <a:p>
            <a:r>
              <a:rPr b="1" lang="en-US" sz="1300" spc="-1" strike="noStrike">
                <a:solidFill>
                  <a:srgbClr val="1d3859"/>
                </a:solidFill>
                <a:latin typeface="Arial"/>
                <a:ea typeface="Arial"/>
              </a:rPr>
              <a:t>interconnect_top</a:t>
            </a:r>
            <a:endParaRPr b="0" lang="en-US" sz="1300" spc="-1" strike="noStrike">
              <a:solidFill>
                <a:srgbClr val="000000"/>
              </a:solidFill>
              <a:latin typeface="Times New Roman"/>
            </a:endParaRPr>
          </a:p>
        </p:txBody>
      </p:sp>
      <p:sp>
        <p:nvSpPr>
          <p:cNvPr id="94" name=""/>
          <p:cNvSpPr/>
          <p:nvPr/>
        </p:nvSpPr>
        <p:spPr>
          <a:xfrm>
            <a:off x="2541600" y="3684600"/>
            <a:ext cx="1440" cy="274680"/>
          </a:xfrm>
          <a:prstGeom prst="line">
            <a:avLst/>
          </a:prstGeom>
          <a:ln w="14400">
            <a:solidFill>
              <a:srgbClr val="284f78"/>
            </a:solidFill>
            <a:round/>
          </a:ln>
        </p:spPr>
        <p:style>
          <a:lnRef idx="0"/>
          <a:fillRef idx="0"/>
          <a:effectRef idx="0"/>
          <a:fontRef idx="minor"/>
        </p:style>
        <p:txBody>
          <a:bodyPr lIns="7200" rIns="7200" tIns="7200" bIns="7200" anchor="t">
            <a:noAutofit/>
          </a:bodyPr>
          <a:p>
            <a:endParaRPr b="0" lang="en-US" sz="2400" spc="-1" strike="noStrike">
              <a:solidFill>
                <a:srgbClr val="000000"/>
              </a:solidFill>
              <a:latin typeface="Times New Roman"/>
            </a:endParaRPr>
          </a:p>
        </p:txBody>
      </p:sp>
      <p:sp>
        <p:nvSpPr>
          <p:cNvPr id="95" name=""/>
          <p:cNvSpPr/>
          <p:nvPr/>
        </p:nvSpPr>
        <p:spPr>
          <a:xfrm>
            <a:off x="849960" y="3958920"/>
            <a:ext cx="3392640" cy="750240"/>
          </a:xfrm>
          <a:custGeom>
            <a:avLst/>
            <a:gdLst/>
            <a:ahLst/>
            <a:rect l="0" t="0" r="r" b="b"/>
            <a:pathLst>
              <a:path w="9424" h="2084">
                <a:moveTo>
                  <a:pt x="4712" y="2084"/>
                </a:moveTo>
                <a:lnTo>
                  <a:pt x="0" y="2084"/>
                </a:lnTo>
                <a:lnTo>
                  <a:pt x="0" y="0"/>
                </a:lnTo>
                <a:lnTo>
                  <a:pt x="9424" y="0"/>
                </a:lnTo>
                <a:lnTo>
                  <a:pt x="9424" y="2084"/>
                </a:lnTo>
                <a:lnTo>
                  <a:pt x="4712" y="2084"/>
                </a:lnTo>
                <a:close/>
              </a:path>
            </a:pathLst>
          </a:custGeom>
          <a:solidFill>
            <a:srgbClr val="ffffff"/>
          </a:solidFill>
          <a:ln w="12960">
            <a:solidFill>
              <a:srgbClr val="284f78"/>
            </a:solidFill>
            <a:round/>
          </a:ln>
        </p:spPr>
        <p:txBody>
          <a:bodyPr lIns="6480" rIns="6480" tIns="6480" bIns="6480" anchor="t">
            <a:noAutofit/>
          </a:bodyPr>
          <a:p>
            <a:endParaRPr b="0" lang="en-US" sz="2400" spc="-1" strike="noStrike">
              <a:solidFill>
                <a:srgbClr val="000000"/>
              </a:solidFill>
              <a:latin typeface="Times New Roman"/>
            </a:endParaRPr>
          </a:p>
        </p:txBody>
      </p:sp>
      <p:sp>
        <p:nvSpPr>
          <p:cNvPr id="96" name=""/>
          <p:cNvSpPr txBox="1"/>
          <p:nvPr/>
        </p:nvSpPr>
        <p:spPr>
          <a:xfrm>
            <a:off x="1427040" y="3428640"/>
            <a:ext cx="2228760" cy="142200"/>
          </a:xfrm>
          <a:prstGeom prst="rect">
            <a:avLst/>
          </a:prstGeom>
          <a:noFill/>
          <a:ln w="0">
            <a:noFill/>
          </a:ln>
        </p:spPr>
        <p:txBody>
          <a:bodyPr wrap="none" lIns="0" rIns="0" tIns="0" bIns="0" anchor="t">
            <a:noAutofit/>
          </a:bodyPr>
          <a:p>
            <a:r>
              <a:rPr b="0" lang="en-US" sz="1000" spc="-1" strike="noStrike">
                <a:solidFill>
                  <a:srgbClr val="20252c"/>
                </a:solidFill>
                <a:latin typeface="Arial"/>
                <a:ea typeface="Arial"/>
              </a:rPr>
              <a:t>512-bit AXI4-S · WRR · sessions · CDC</a:t>
            </a:r>
            <a:endParaRPr b="0" lang="en-US" sz="1000" spc="-1" strike="noStrike">
              <a:solidFill>
                <a:srgbClr val="000000"/>
              </a:solidFill>
              <a:latin typeface="Times New Roman"/>
            </a:endParaRPr>
          </a:p>
        </p:txBody>
      </p:sp>
      <p:sp>
        <p:nvSpPr>
          <p:cNvPr id="97" name=""/>
          <p:cNvSpPr txBox="1"/>
          <p:nvPr/>
        </p:nvSpPr>
        <p:spPr>
          <a:xfrm>
            <a:off x="1988280" y="4086000"/>
            <a:ext cx="1107000" cy="184680"/>
          </a:xfrm>
          <a:prstGeom prst="rect">
            <a:avLst/>
          </a:prstGeom>
          <a:noFill/>
          <a:ln w="0">
            <a:noFill/>
          </a:ln>
        </p:spPr>
        <p:txBody>
          <a:bodyPr wrap="none" lIns="0" rIns="0" tIns="0" bIns="0" anchor="t">
            <a:noAutofit/>
          </a:bodyPr>
          <a:p>
            <a:r>
              <a:rPr b="1" lang="en-US" sz="1300" spc="-1" strike="noStrike">
                <a:solidFill>
                  <a:srgbClr val="1d3859"/>
                </a:solidFill>
                <a:latin typeface="Arial"/>
                <a:ea typeface="Arial"/>
              </a:rPr>
              <a:t>link_layer_top</a:t>
            </a:r>
            <a:endParaRPr b="0" lang="en-US" sz="1300" spc="-1" strike="noStrike">
              <a:solidFill>
                <a:srgbClr val="000000"/>
              </a:solidFill>
              <a:latin typeface="Times New Roman"/>
            </a:endParaRPr>
          </a:p>
        </p:txBody>
      </p:sp>
      <p:sp>
        <p:nvSpPr>
          <p:cNvPr id="98" name=""/>
          <p:cNvSpPr/>
          <p:nvPr/>
        </p:nvSpPr>
        <p:spPr>
          <a:xfrm>
            <a:off x="2541600" y="4709160"/>
            <a:ext cx="1440" cy="284040"/>
          </a:xfrm>
          <a:prstGeom prst="line">
            <a:avLst/>
          </a:prstGeom>
          <a:ln w="14400">
            <a:solidFill>
              <a:srgbClr val="284f78"/>
            </a:solidFill>
            <a:round/>
          </a:ln>
        </p:spPr>
        <p:style>
          <a:lnRef idx="0"/>
          <a:fillRef idx="0"/>
          <a:effectRef idx="0"/>
          <a:fontRef idx="minor"/>
        </p:style>
        <p:txBody>
          <a:bodyPr lIns="7200" rIns="7200" tIns="7200" bIns="7200" anchor="t">
            <a:noAutofit/>
          </a:bodyPr>
          <a:p>
            <a:endParaRPr b="0" lang="en-US" sz="2400" spc="-1" strike="noStrike">
              <a:solidFill>
                <a:srgbClr val="000000"/>
              </a:solidFill>
              <a:latin typeface="Times New Roman"/>
            </a:endParaRPr>
          </a:p>
        </p:txBody>
      </p:sp>
      <p:sp>
        <p:nvSpPr>
          <p:cNvPr id="99" name=""/>
          <p:cNvSpPr/>
          <p:nvPr/>
        </p:nvSpPr>
        <p:spPr>
          <a:xfrm>
            <a:off x="849960" y="4992480"/>
            <a:ext cx="3392640" cy="722520"/>
          </a:xfrm>
          <a:custGeom>
            <a:avLst/>
            <a:gdLst/>
            <a:ahLst/>
            <a:rect l="0" t="0" r="r" b="b"/>
            <a:pathLst>
              <a:path w="9424" h="2007">
                <a:moveTo>
                  <a:pt x="4712" y="2007"/>
                </a:moveTo>
                <a:lnTo>
                  <a:pt x="0" y="2007"/>
                </a:lnTo>
                <a:lnTo>
                  <a:pt x="0" y="0"/>
                </a:lnTo>
                <a:lnTo>
                  <a:pt x="9424" y="0"/>
                </a:lnTo>
                <a:lnTo>
                  <a:pt x="9424" y="2007"/>
                </a:lnTo>
                <a:lnTo>
                  <a:pt x="4712" y="2007"/>
                </a:lnTo>
                <a:close/>
              </a:path>
            </a:pathLst>
          </a:custGeom>
          <a:solidFill>
            <a:srgbClr val="ffffff"/>
          </a:solidFill>
          <a:ln w="12960">
            <a:solidFill>
              <a:srgbClr val="284f78"/>
            </a:solidFill>
            <a:round/>
          </a:ln>
        </p:spPr>
        <p:txBody>
          <a:bodyPr lIns="6480" rIns="6480" tIns="6480" bIns="6480" anchor="t">
            <a:noAutofit/>
          </a:bodyPr>
          <a:p>
            <a:endParaRPr b="0" lang="en-US" sz="2400" spc="-1" strike="noStrike">
              <a:solidFill>
                <a:srgbClr val="000000"/>
              </a:solidFill>
              <a:latin typeface="Times New Roman"/>
            </a:endParaRPr>
          </a:p>
        </p:txBody>
      </p:sp>
      <p:sp>
        <p:nvSpPr>
          <p:cNvPr id="100" name=""/>
          <p:cNvSpPr txBox="1"/>
          <p:nvPr/>
        </p:nvSpPr>
        <p:spPr>
          <a:xfrm>
            <a:off x="1382040" y="4402440"/>
            <a:ext cx="2318760" cy="142200"/>
          </a:xfrm>
          <a:prstGeom prst="rect">
            <a:avLst/>
          </a:prstGeom>
          <a:noFill/>
          <a:ln w="0">
            <a:noFill/>
          </a:ln>
        </p:spPr>
        <p:txBody>
          <a:bodyPr wrap="none" lIns="0" rIns="0" tIns="0" bIns="0" anchor="t">
            <a:noAutofit/>
          </a:bodyPr>
          <a:p>
            <a:r>
              <a:rPr b="0" lang="en-US" sz="1000" spc="-1" strike="noStrike">
                <a:solidFill>
                  <a:srgbClr val="20252c"/>
                </a:solidFill>
                <a:latin typeface="Arial"/>
                <a:ea typeface="Arial"/>
              </a:rPr>
              <a:t>TLP → Flit · CRC/FEC · ACK/NAK replay</a:t>
            </a:r>
            <a:endParaRPr b="0" lang="en-US" sz="1000" spc="-1" strike="noStrike">
              <a:solidFill>
                <a:srgbClr val="000000"/>
              </a:solidFill>
              <a:latin typeface="Times New Roman"/>
            </a:endParaRPr>
          </a:p>
        </p:txBody>
      </p:sp>
      <p:sp>
        <p:nvSpPr>
          <p:cNvPr id="101" name=""/>
          <p:cNvSpPr txBox="1"/>
          <p:nvPr/>
        </p:nvSpPr>
        <p:spPr>
          <a:xfrm>
            <a:off x="2011320" y="5119200"/>
            <a:ext cx="1061280" cy="184680"/>
          </a:xfrm>
          <a:prstGeom prst="rect">
            <a:avLst/>
          </a:prstGeom>
          <a:noFill/>
          <a:ln w="0">
            <a:noFill/>
          </a:ln>
        </p:spPr>
        <p:txBody>
          <a:bodyPr wrap="none" lIns="0" rIns="0" tIns="0" bIns="0" anchor="t">
            <a:noAutofit/>
          </a:bodyPr>
          <a:p>
            <a:r>
              <a:rPr b="1" lang="en-US" sz="1300" spc="-1" strike="noStrike">
                <a:solidFill>
                  <a:srgbClr val="1d3859"/>
                </a:solidFill>
                <a:latin typeface="Arial"/>
                <a:ea typeface="Arial"/>
              </a:rPr>
              <a:t>pcie_phy_top</a:t>
            </a:r>
            <a:endParaRPr b="0" lang="en-US" sz="1300" spc="-1" strike="noStrike">
              <a:solidFill>
                <a:srgbClr val="000000"/>
              </a:solidFill>
              <a:latin typeface="Times New Roman"/>
            </a:endParaRPr>
          </a:p>
        </p:txBody>
      </p:sp>
      <p:sp>
        <p:nvSpPr>
          <p:cNvPr id="102" name=""/>
          <p:cNvSpPr/>
          <p:nvPr/>
        </p:nvSpPr>
        <p:spPr>
          <a:xfrm>
            <a:off x="2541600" y="5715000"/>
            <a:ext cx="1440" cy="201600"/>
          </a:xfrm>
          <a:prstGeom prst="line">
            <a:avLst/>
          </a:prstGeom>
          <a:ln w="14400">
            <a:solidFill>
              <a:srgbClr val="284f78"/>
            </a:solidFill>
            <a:round/>
          </a:ln>
        </p:spPr>
        <p:style>
          <a:lnRef idx="0"/>
          <a:fillRef idx="0"/>
          <a:effectRef idx="0"/>
          <a:fontRef idx="minor"/>
        </p:style>
        <p:txBody>
          <a:bodyPr lIns="7200" rIns="7200" tIns="7200" bIns="7200" anchor="t">
            <a:noAutofit/>
          </a:bodyPr>
          <a:p>
            <a:endParaRPr b="0" lang="en-US" sz="2400" spc="-1" strike="noStrike">
              <a:solidFill>
                <a:srgbClr val="000000"/>
              </a:solidFill>
              <a:latin typeface="Times New Roman"/>
            </a:endParaRPr>
          </a:p>
        </p:txBody>
      </p:sp>
      <p:sp>
        <p:nvSpPr>
          <p:cNvPr id="103" name=""/>
          <p:cNvSpPr txBox="1"/>
          <p:nvPr/>
        </p:nvSpPr>
        <p:spPr>
          <a:xfrm>
            <a:off x="1467720" y="5426640"/>
            <a:ext cx="2151000" cy="142200"/>
          </a:xfrm>
          <a:prstGeom prst="rect">
            <a:avLst/>
          </a:prstGeom>
          <a:noFill/>
          <a:ln w="0">
            <a:noFill/>
          </a:ln>
        </p:spPr>
        <p:txBody>
          <a:bodyPr wrap="none" lIns="0" rIns="0" tIns="0" bIns="0" anchor="t">
            <a:noAutofit/>
          </a:bodyPr>
          <a:p>
            <a:r>
              <a:rPr b="0" lang="en-US" sz="1000" spc="-1" strike="noStrike">
                <a:solidFill>
                  <a:srgbClr val="20252c"/>
                </a:solidFill>
                <a:latin typeface="Arial"/>
                <a:ea typeface="Arial"/>
              </a:rPr>
              <a:t>PHY FIFO · PAM4 / Gray logical lanes</a:t>
            </a:r>
            <a:endParaRPr b="0" lang="en-US" sz="1000" spc="-1" strike="noStrike">
              <a:solidFill>
                <a:srgbClr val="000000"/>
              </a:solidFill>
              <a:latin typeface="Times New Roman"/>
            </a:endParaRPr>
          </a:p>
        </p:txBody>
      </p:sp>
      <p:sp>
        <p:nvSpPr>
          <p:cNvPr id="104" name=""/>
          <p:cNvSpPr txBox="1"/>
          <p:nvPr/>
        </p:nvSpPr>
        <p:spPr>
          <a:xfrm>
            <a:off x="1918080" y="5988240"/>
            <a:ext cx="1256400" cy="166680"/>
          </a:xfrm>
          <a:prstGeom prst="rect">
            <a:avLst/>
          </a:prstGeom>
          <a:noFill/>
          <a:ln w="0">
            <a:noFill/>
          </a:ln>
        </p:spPr>
        <p:txBody>
          <a:bodyPr wrap="none" lIns="0" rIns="0" tIns="0" bIns="0" anchor="t">
            <a:noAutofit/>
          </a:bodyPr>
          <a:p>
            <a:r>
              <a:rPr b="1" lang="en-US" sz="1160" spc="-1" strike="noStrike">
                <a:solidFill>
                  <a:srgbClr val="1d3859"/>
                </a:solidFill>
                <a:latin typeface="Arial"/>
                <a:ea typeface="Arial"/>
              </a:rPr>
              <a:t>PCIe 6 logical link</a:t>
            </a:r>
            <a:endParaRPr b="0" lang="en-US" sz="1160" spc="-1" strike="noStrike">
              <a:solidFill>
                <a:srgbClr val="000000"/>
              </a:solidFill>
              <a:latin typeface="Times New Roman"/>
            </a:endParaRPr>
          </a:p>
        </p:txBody>
      </p:sp>
      <p:sp>
        <p:nvSpPr>
          <p:cNvPr id="105" name=""/>
          <p:cNvSpPr/>
          <p:nvPr/>
        </p:nvSpPr>
        <p:spPr>
          <a:xfrm>
            <a:off x="4901040" y="2139480"/>
            <a:ext cx="6400800" cy="0"/>
          </a:xfrm>
          <a:prstGeom prst="line">
            <a:avLst/>
          </a:prstGeom>
          <a:ln w="9000">
            <a:solidFill>
              <a:srgbClr val="ced4da"/>
            </a:solidFill>
            <a:round/>
          </a:ln>
        </p:spPr>
        <p:style>
          <a:lnRef idx="0"/>
          <a:fillRef idx="0"/>
          <a:effectRef idx="0"/>
          <a:fontRef idx="minor"/>
        </p:style>
        <p:txBody>
          <a:bodyPr lIns="4320" rIns="4320" tIns="-4320" bIns="-4320" anchor="t">
            <a:noAutofit/>
          </a:bodyPr>
          <a:p>
            <a:endParaRPr b="0" lang="en-US" sz="2400" spc="-1" strike="noStrike">
              <a:solidFill>
                <a:srgbClr val="000000"/>
              </a:solidFill>
              <a:latin typeface="Times New Roman"/>
            </a:endParaRPr>
          </a:p>
        </p:txBody>
      </p:sp>
      <p:sp>
        <p:nvSpPr>
          <p:cNvPr id="106" name=""/>
          <p:cNvSpPr txBox="1"/>
          <p:nvPr/>
        </p:nvSpPr>
        <p:spPr>
          <a:xfrm>
            <a:off x="4900680" y="1833480"/>
            <a:ext cx="1229040" cy="201600"/>
          </a:xfrm>
          <a:prstGeom prst="rect">
            <a:avLst/>
          </a:prstGeom>
          <a:noFill/>
          <a:ln w="0">
            <a:noFill/>
          </a:ln>
        </p:spPr>
        <p:txBody>
          <a:bodyPr wrap="none" lIns="0" rIns="0" tIns="0" bIns="0" anchor="t">
            <a:noAutofit/>
          </a:bodyPr>
          <a:p>
            <a:r>
              <a:rPr b="1" lang="en-US" sz="1420" spc="-1" strike="noStrike">
                <a:solidFill>
                  <a:srgbClr val="1d3859"/>
                </a:solidFill>
                <a:latin typeface="Arial"/>
                <a:ea typeface="Arial"/>
              </a:rPr>
              <a:t>What changed</a:t>
            </a:r>
            <a:endParaRPr b="0" lang="en-US" sz="1420" spc="-1" strike="noStrike">
              <a:solidFill>
                <a:srgbClr val="000000"/>
              </a:solidFill>
              <a:latin typeface="Times New Roman"/>
            </a:endParaRPr>
          </a:p>
        </p:txBody>
      </p:sp>
      <p:sp>
        <p:nvSpPr>
          <p:cNvPr id="107" name=""/>
          <p:cNvSpPr txBox="1"/>
          <p:nvPr/>
        </p:nvSpPr>
        <p:spPr>
          <a:xfrm>
            <a:off x="4910040" y="2302200"/>
            <a:ext cx="195120" cy="218160"/>
          </a:xfrm>
          <a:prstGeom prst="rect">
            <a:avLst/>
          </a:prstGeom>
          <a:noFill/>
          <a:ln w="0">
            <a:noFill/>
          </a:ln>
        </p:spPr>
        <p:txBody>
          <a:bodyPr wrap="none" lIns="0" rIns="0" tIns="0" bIns="0" anchor="t">
            <a:noAutofit/>
          </a:bodyPr>
          <a:p>
            <a:r>
              <a:rPr b="0" lang="en-US" sz="1540" spc="-1" strike="noStrike">
                <a:solidFill>
                  <a:srgbClr val="284f78"/>
                </a:solidFill>
                <a:latin typeface="Arial"/>
                <a:ea typeface="Arial"/>
              </a:rPr>
              <a:t>•</a:t>
            </a:r>
            <a:endParaRPr b="0" lang="en-US" sz="1540" spc="-1" strike="noStrike">
              <a:solidFill>
                <a:srgbClr val="000000"/>
              </a:solidFill>
              <a:latin typeface="Times New Roman"/>
            </a:endParaRPr>
          </a:p>
        </p:txBody>
      </p:sp>
      <p:sp>
        <p:nvSpPr>
          <p:cNvPr id="108" name=""/>
          <p:cNvSpPr txBox="1"/>
          <p:nvPr/>
        </p:nvSpPr>
        <p:spPr>
          <a:xfrm>
            <a:off x="5120280" y="2293200"/>
            <a:ext cx="3946320" cy="191160"/>
          </a:xfrm>
          <a:prstGeom prst="rect">
            <a:avLst/>
          </a:prstGeom>
          <a:noFill/>
          <a:ln w="0">
            <a:noFill/>
          </a:ln>
        </p:spPr>
        <p:txBody>
          <a:bodyPr wrap="none" lIns="0" rIns="0" tIns="0" bIns="0" anchor="t">
            <a:noAutofit/>
          </a:bodyPr>
          <a:p>
            <a:r>
              <a:rPr b="0" lang="en-US" sz="1340" spc="-1" strike="noStrike">
                <a:solidFill>
                  <a:srgbClr val="20252c"/>
                </a:solidFill>
                <a:latin typeface="Arial"/>
                <a:ea typeface="Arial"/>
              </a:rPr>
              <a:t>Link-to-PHY FIFO and explicit ready / backpressure.</a:t>
            </a:r>
            <a:endParaRPr b="0" lang="en-US" sz="1340" spc="-1" strike="noStrike">
              <a:solidFill>
                <a:srgbClr val="000000"/>
              </a:solidFill>
              <a:latin typeface="Times New Roman"/>
            </a:endParaRPr>
          </a:p>
        </p:txBody>
      </p:sp>
      <p:sp>
        <p:nvSpPr>
          <p:cNvPr id="109" name=""/>
          <p:cNvSpPr txBox="1"/>
          <p:nvPr/>
        </p:nvSpPr>
        <p:spPr>
          <a:xfrm>
            <a:off x="4910040" y="2905560"/>
            <a:ext cx="195120" cy="218160"/>
          </a:xfrm>
          <a:prstGeom prst="rect">
            <a:avLst/>
          </a:prstGeom>
          <a:noFill/>
          <a:ln w="0">
            <a:noFill/>
          </a:ln>
        </p:spPr>
        <p:txBody>
          <a:bodyPr wrap="none" lIns="0" rIns="0" tIns="0" bIns="0" anchor="t">
            <a:noAutofit/>
          </a:bodyPr>
          <a:p>
            <a:r>
              <a:rPr b="0" lang="en-US" sz="1540" spc="-1" strike="noStrike">
                <a:solidFill>
                  <a:srgbClr val="284f78"/>
                </a:solidFill>
                <a:latin typeface="Arial"/>
                <a:ea typeface="Arial"/>
              </a:rPr>
              <a:t>•</a:t>
            </a:r>
            <a:endParaRPr b="0" lang="en-US" sz="1540" spc="-1" strike="noStrike">
              <a:solidFill>
                <a:srgbClr val="000000"/>
              </a:solidFill>
              <a:latin typeface="Times New Roman"/>
            </a:endParaRPr>
          </a:p>
        </p:txBody>
      </p:sp>
      <p:sp>
        <p:nvSpPr>
          <p:cNvPr id="110" name=""/>
          <p:cNvSpPr txBox="1"/>
          <p:nvPr/>
        </p:nvSpPr>
        <p:spPr>
          <a:xfrm>
            <a:off x="5120280" y="2896560"/>
            <a:ext cx="5389560" cy="191160"/>
          </a:xfrm>
          <a:prstGeom prst="rect">
            <a:avLst/>
          </a:prstGeom>
          <a:noFill/>
          <a:ln w="0">
            <a:noFill/>
          </a:ln>
        </p:spPr>
        <p:txBody>
          <a:bodyPr wrap="none" lIns="0" rIns="0" tIns="0" bIns="0" anchor="t">
            <a:noAutofit/>
          </a:bodyPr>
          <a:p>
            <a:r>
              <a:rPr b="0" lang="en-US" sz="1340" spc="-1" strike="noStrike">
                <a:solidFill>
                  <a:srgbClr val="20252c"/>
                </a:solidFill>
                <a:latin typeface="Arial"/>
                <a:ea typeface="Arial"/>
              </a:rPr>
              <a:t>Shared TUSER definition; host BAR0 registers and address translation.</a:t>
            </a:r>
            <a:endParaRPr b="0" lang="en-US" sz="1340" spc="-1" strike="noStrike">
              <a:solidFill>
                <a:srgbClr val="000000"/>
              </a:solidFill>
              <a:latin typeface="Times New Roman"/>
            </a:endParaRPr>
          </a:p>
        </p:txBody>
      </p:sp>
      <p:sp>
        <p:nvSpPr>
          <p:cNvPr id="111" name=""/>
          <p:cNvSpPr txBox="1"/>
          <p:nvPr/>
        </p:nvSpPr>
        <p:spPr>
          <a:xfrm>
            <a:off x="4910040" y="3508920"/>
            <a:ext cx="195120" cy="218160"/>
          </a:xfrm>
          <a:prstGeom prst="rect">
            <a:avLst/>
          </a:prstGeom>
          <a:noFill/>
          <a:ln w="0">
            <a:noFill/>
          </a:ln>
        </p:spPr>
        <p:txBody>
          <a:bodyPr wrap="none" lIns="0" rIns="0" tIns="0" bIns="0" anchor="t">
            <a:noAutofit/>
          </a:bodyPr>
          <a:p>
            <a:r>
              <a:rPr b="0" lang="en-US" sz="1540" spc="-1" strike="noStrike">
                <a:solidFill>
                  <a:srgbClr val="284f78"/>
                </a:solidFill>
                <a:latin typeface="Arial"/>
                <a:ea typeface="Arial"/>
              </a:rPr>
              <a:t>•</a:t>
            </a:r>
            <a:endParaRPr b="0" lang="en-US" sz="1540" spc="-1" strike="noStrike">
              <a:solidFill>
                <a:srgbClr val="000000"/>
              </a:solidFill>
              <a:latin typeface="Times New Roman"/>
            </a:endParaRPr>
          </a:p>
        </p:txBody>
      </p:sp>
      <p:sp>
        <p:nvSpPr>
          <p:cNvPr id="112" name=""/>
          <p:cNvSpPr txBox="1"/>
          <p:nvPr/>
        </p:nvSpPr>
        <p:spPr>
          <a:xfrm>
            <a:off x="5120280" y="3499920"/>
            <a:ext cx="4563720" cy="191160"/>
          </a:xfrm>
          <a:prstGeom prst="rect">
            <a:avLst/>
          </a:prstGeom>
          <a:noFill/>
          <a:ln w="0">
            <a:noFill/>
          </a:ln>
        </p:spPr>
        <p:txBody>
          <a:bodyPr wrap="none" lIns="0" rIns="0" tIns="0" bIns="0" anchor="t">
            <a:noAutofit/>
          </a:bodyPr>
          <a:p>
            <a:r>
              <a:rPr b="0" lang="en-US" sz="1340" spc="-1" strike="noStrike">
                <a:solidFill>
                  <a:srgbClr val="20252c"/>
                </a:solidFill>
                <a:latin typeface="Arial"/>
                <a:ea typeface="Arial"/>
              </a:rPr>
              <a:t>TLP packetisation, ACK/NAK replay and link-down recovery.</a:t>
            </a:r>
            <a:endParaRPr b="0" lang="en-US" sz="1340" spc="-1" strike="noStrike">
              <a:solidFill>
                <a:srgbClr val="000000"/>
              </a:solidFill>
              <a:latin typeface="Times New Roman"/>
            </a:endParaRPr>
          </a:p>
        </p:txBody>
      </p:sp>
      <p:sp>
        <p:nvSpPr>
          <p:cNvPr id="113" name=""/>
          <p:cNvSpPr txBox="1"/>
          <p:nvPr/>
        </p:nvSpPr>
        <p:spPr>
          <a:xfrm>
            <a:off x="4910040" y="4112640"/>
            <a:ext cx="195120" cy="218160"/>
          </a:xfrm>
          <a:prstGeom prst="rect">
            <a:avLst/>
          </a:prstGeom>
          <a:noFill/>
          <a:ln w="0">
            <a:noFill/>
          </a:ln>
        </p:spPr>
        <p:txBody>
          <a:bodyPr wrap="none" lIns="0" rIns="0" tIns="0" bIns="0" anchor="t">
            <a:noAutofit/>
          </a:bodyPr>
          <a:p>
            <a:r>
              <a:rPr b="0" lang="en-US" sz="1540" spc="-1" strike="noStrike">
                <a:solidFill>
                  <a:srgbClr val="284f78"/>
                </a:solidFill>
                <a:latin typeface="Arial"/>
                <a:ea typeface="Arial"/>
              </a:rPr>
              <a:t>•</a:t>
            </a:r>
            <a:endParaRPr b="0" lang="en-US" sz="1540" spc="-1" strike="noStrike">
              <a:solidFill>
                <a:srgbClr val="000000"/>
              </a:solidFill>
              <a:latin typeface="Times New Roman"/>
            </a:endParaRPr>
          </a:p>
        </p:txBody>
      </p:sp>
      <p:sp>
        <p:nvSpPr>
          <p:cNvPr id="114" name=""/>
          <p:cNvSpPr txBox="1"/>
          <p:nvPr/>
        </p:nvSpPr>
        <p:spPr>
          <a:xfrm>
            <a:off x="5120280" y="4103640"/>
            <a:ext cx="6041880" cy="191160"/>
          </a:xfrm>
          <a:prstGeom prst="rect">
            <a:avLst/>
          </a:prstGeom>
          <a:noFill/>
          <a:ln w="0">
            <a:noFill/>
          </a:ln>
        </p:spPr>
        <p:txBody>
          <a:bodyPr wrap="none" lIns="0" rIns="0" tIns="0" bIns="0" anchor="t">
            <a:noAutofit/>
          </a:bodyPr>
          <a:p>
            <a:r>
              <a:rPr b="0" lang="en-US" sz="1340" spc="-1" strike="noStrike">
                <a:solidFill>
                  <a:srgbClr val="20252c"/>
                </a:solidFill>
                <a:latin typeface="Arial"/>
                <a:ea typeface="Arial"/>
              </a:rPr>
              <a:t>Corrected malformed TLP, overflow, CRC/FEC and cross-layer data-loss cases.</a:t>
            </a:r>
            <a:endParaRPr b="0" lang="en-US" sz="1340" spc="-1" strike="noStrike">
              <a:solidFill>
                <a:srgbClr val="000000"/>
              </a:solidFill>
              <a:latin typeface="Times New Roman"/>
            </a:endParaRPr>
          </a:p>
        </p:txBody>
      </p:sp>
      <p:sp>
        <p:nvSpPr>
          <p:cNvPr id="115" name=""/>
          <p:cNvSpPr/>
          <p:nvPr/>
        </p:nvSpPr>
        <p:spPr>
          <a:xfrm>
            <a:off x="4901040" y="5166360"/>
            <a:ext cx="6400800" cy="360"/>
          </a:xfrm>
          <a:prstGeom prst="line">
            <a:avLst/>
          </a:prstGeom>
          <a:ln w="9000">
            <a:solidFill>
              <a:srgbClr val="ced4da"/>
            </a:solidFill>
            <a:round/>
          </a:ln>
        </p:spPr>
        <p:style>
          <a:lnRef idx="0"/>
          <a:fillRef idx="0"/>
          <a:effectRef idx="0"/>
          <a:fontRef idx="minor"/>
        </p:style>
        <p:txBody>
          <a:bodyPr lIns="4320" rIns="4320" tIns="-3960" bIns="-3960" anchor="t">
            <a:noAutofit/>
          </a:bodyPr>
          <a:p>
            <a:endParaRPr b="0" lang="en-US" sz="2400" spc="-1" strike="noStrike">
              <a:solidFill>
                <a:srgbClr val="000000"/>
              </a:solidFill>
              <a:latin typeface="Times New Roman"/>
            </a:endParaRPr>
          </a:p>
        </p:txBody>
      </p:sp>
      <p:sp>
        <p:nvSpPr>
          <p:cNvPr id="116" name=""/>
          <p:cNvSpPr txBox="1"/>
          <p:nvPr/>
        </p:nvSpPr>
        <p:spPr>
          <a:xfrm>
            <a:off x="4900680" y="4860000"/>
            <a:ext cx="2827800" cy="201600"/>
          </a:xfrm>
          <a:prstGeom prst="rect">
            <a:avLst/>
          </a:prstGeom>
          <a:noFill/>
          <a:ln w="0">
            <a:noFill/>
          </a:ln>
        </p:spPr>
        <p:txBody>
          <a:bodyPr wrap="none" lIns="0" rIns="0" tIns="0" bIns="0" anchor="t">
            <a:noAutofit/>
          </a:bodyPr>
          <a:p>
            <a:r>
              <a:rPr b="1" lang="en-US" sz="1420" spc="-1" strike="noStrike">
                <a:solidFill>
                  <a:srgbClr val="1d3859"/>
                </a:solidFill>
                <a:latin typeface="Arial"/>
                <a:ea typeface="Arial"/>
              </a:rPr>
              <a:t>Verification at the Round 2 cutoff</a:t>
            </a:r>
            <a:endParaRPr b="0" lang="en-US" sz="1420" spc="-1" strike="noStrike">
              <a:solidFill>
                <a:srgbClr val="000000"/>
              </a:solidFill>
              <a:latin typeface="Times New Roman"/>
            </a:endParaRPr>
          </a:p>
        </p:txBody>
      </p:sp>
      <p:sp>
        <p:nvSpPr>
          <p:cNvPr id="117" name=""/>
          <p:cNvSpPr txBox="1"/>
          <p:nvPr/>
        </p:nvSpPr>
        <p:spPr>
          <a:xfrm>
            <a:off x="4946760" y="5284800"/>
            <a:ext cx="561600" cy="174240"/>
          </a:xfrm>
          <a:prstGeom prst="rect">
            <a:avLst/>
          </a:prstGeom>
          <a:noFill/>
          <a:ln w="0">
            <a:noFill/>
          </a:ln>
        </p:spPr>
        <p:txBody>
          <a:bodyPr wrap="none" lIns="0" rIns="0" tIns="0" bIns="0" anchor="t">
            <a:noAutofit/>
          </a:bodyPr>
          <a:p>
            <a:r>
              <a:rPr b="1" lang="en-US" sz="1220" spc="-1" strike="noStrike">
                <a:solidFill>
                  <a:srgbClr val="284f78"/>
                </a:solidFill>
                <a:latin typeface="Arial"/>
                <a:ea typeface="Arial"/>
              </a:rPr>
              <a:t>144/144</a:t>
            </a:r>
            <a:endParaRPr b="0" lang="en-US" sz="1220" spc="-1" strike="noStrike">
              <a:solidFill>
                <a:srgbClr val="000000"/>
              </a:solidFill>
              <a:latin typeface="Times New Roman"/>
            </a:endParaRPr>
          </a:p>
        </p:txBody>
      </p:sp>
      <p:sp>
        <p:nvSpPr>
          <p:cNvPr id="118" name=""/>
          <p:cNvSpPr txBox="1"/>
          <p:nvPr/>
        </p:nvSpPr>
        <p:spPr>
          <a:xfrm>
            <a:off x="5833800" y="5294160"/>
            <a:ext cx="2567160" cy="162000"/>
          </a:xfrm>
          <a:prstGeom prst="rect">
            <a:avLst/>
          </a:prstGeom>
          <a:noFill/>
          <a:ln w="0">
            <a:noFill/>
          </a:ln>
        </p:spPr>
        <p:txBody>
          <a:bodyPr wrap="none" lIns="0" rIns="0" tIns="0" bIns="0" anchor="t">
            <a:noAutofit/>
          </a:bodyPr>
          <a:p>
            <a:r>
              <a:rPr b="0" lang="en-US" sz="1140" spc="-1" strike="noStrike">
                <a:solidFill>
                  <a:srgbClr val="20252c"/>
                </a:solidFill>
                <a:latin typeface="Arial"/>
                <a:ea typeface="Arial"/>
              </a:rPr>
              <a:t>TLPs delivered in Step 1 integration test</a:t>
            </a:r>
            <a:endParaRPr b="0" lang="en-US" sz="1140" spc="-1" strike="noStrike">
              <a:solidFill>
                <a:srgbClr val="000000"/>
              </a:solidFill>
              <a:latin typeface="Times New Roman"/>
            </a:endParaRPr>
          </a:p>
        </p:txBody>
      </p:sp>
      <p:sp>
        <p:nvSpPr>
          <p:cNvPr id="119" name=""/>
          <p:cNvSpPr txBox="1"/>
          <p:nvPr/>
        </p:nvSpPr>
        <p:spPr>
          <a:xfrm>
            <a:off x="4946760" y="5540760"/>
            <a:ext cx="389520" cy="174240"/>
          </a:xfrm>
          <a:prstGeom prst="rect">
            <a:avLst/>
          </a:prstGeom>
          <a:noFill/>
          <a:ln w="0">
            <a:noFill/>
          </a:ln>
        </p:spPr>
        <p:txBody>
          <a:bodyPr wrap="none" lIns="0" rIns="0" tIns="0" bIns="0" anchor="t">
            <a:noAutofit/>
          </a:bodyPr>
          <a:p>
            <a:r>
              <a:rPr b="1" lang="en-US" sz="1220" spc="-1" strike="noStrike">
                <a:solidFill>
                  <a:srgbClr val="284f78"/>
                </a:solidFill>
                <a:latin typeface="Arial"/>
                <a:ea typeface="Arial"/>
              </a:rPr>
              <a:t>73/73</a:t>
            </a:r>
            <a:endParaRPr b="0" lang="en-US" sz="1220" spc="-1" strike="noStrike">
              <a:solidFill>
                <a:srgbClr val="000000"/>
              </a:solidFill>
              <a:latin typeface="Times New Roman"/>
            </a:endParaRPr>
          </a:p>
        </p:txBody>
      </p:sp>
      <p:sp>
        <p:nvSpPr>
          <p:cNvPr id="120" name=""/>
          <p:cNvSpPr txBox="1"/>
          <p:nvPr/>
        </p:nvSpPr>
        <p:spPr>
          <a:xfrm>
            <a:off x="5833800" y="5550120"/>
            <a:ext cx="3155400" cy="162000"/>
          </a:xfrm>
          <a:prstGeom prst="rect">
            <a:avLst/>
          </a:prstGeom>
          <a:noFill/>
          <a:ln w="0">
            <a:noFill/>
          </a:ln>
        </p:spPr>
        <p:txBody>
          <a:bodyPr wrap="none" lIns="0" rIns="0" tIns="0" bIns="0" anchor="t">
            <a:noAutofit/>
          </a:bodyPr>
          <a:p>
            <a:r>
              <a:rPr b="0" lang="en-US" sz="1140" spc="-1" strike="noStrike">
                <a:solidFill>
                  <a:srgbClr val="20252c"/>
                </a:solidFill>
                <a:latin typeface="Arial"/>
                <a:ea typeface="Arial"/>
              </a:rPr>
              <a:t>Required coverage bins across 40 random seeds</a:t>
            </a:r>
            <a:endParaRPr b="0" lang="en-US" sz="1140" spc="-1" strike="noStrike">
              <a:solidFill>
                <a:srgbClr val="000000"/>
              </a:solidFill>
              <a:latin typeface="Times New Roman"/>
            </a:endParaRPr>
          </a:p>
        </p:txBody>
      </p:sp>
      <p:sp>
        <p:nvSpPr>
          <p:cNvPr id="121" name=""/>
          <p:cNvSpPr txBox="1"/>
          <p:nvPr/>
        </p:nvSpPr>
        <p:spPr>
          <a:xfrm>
            <a:off x="4946760" y="5796720"/>
            <a:ext cx="215640" cy="174240"/>
          </a:xfrm>
          <a:prstGeom prst="rect">
            <a:avLst/>
          </a:prstGeom>
          <a:noFill/>
          <a:ln w="0">
            <a:noFill/>
          </a:ln>
        </p:spPr>
        <p:txBody>
          <a:bodyPr wrap="none" lIns="0" rIns="0" tIns="0" bIns="0" anchor="t">
            <a:noAutofit/>
          </a:bodyPr>
          <a:p>
            <a:r>
              <a:rPr b="1" lang="en-US" sz="1220" spc="-1" strike="noStrike">
                <a:solidFill>
                  <a:srgbClr val="284f78"/>
                </a:solidFill>
                <a:latin typeface="Arial"/>
                <a:ea typeface="Arial"/>
              </a:rPr>
              <a:t>4/4</a:t>
            </a:r>
            <a:endParaRPr b="0" lang="en-US" sz="1220" spc="-1" strike="noStrike">
              <a:solidFill>
                <a:srgbClr val="000000"/>
              </a:solidFill>
              <a:latin typeface="Times New Roman"/>
            </a:endParaRPr>
          </a:p>
        </p:txBody>
      </p:sp>
      <p:sp>
        <p:nvSpPr>
          <p:cNvPr id="122" name=""/>
          <p:cNvSpPr txBox="1"/>
          <p:nvPr/>
        </p:nvSpPr>
        <p:spPr>
          <a:xfrm>
            <a:off x="5833800" y="5806080"/>
            <a:ext cx="1600920" cy="162000"/>
          </a:xfrm>
          <a:prstGeom prst="rect">
            <a:avLst/>
          </a:prstGeom>
          <a:noFill/>
          <a:ln w="0">
            <a:noFill/>
          </a:ln>
        </p:spPr>
        <p:txBody>
          <a:bodyPr wrap="none" lIns="0" rIns="0" tIns="0" bIns="0" anchor="t">
            <a:noAutofit/>
          </a:bodyPr>
          <a:p>
            <a:r>
              <a:rPr b="0" lang="en-US" sz="1140" spc="-1" strike="noStrike">
                <a:solidFill>
                  <a:srgbClr val="20252c"/>
                </a:solidFill>
                <a:latin typeface="Arial"/>
                <a:ea typeface="Arial"/>
              </a:rPr>
              <a:t>Formal proofs completed</a:t>
            </a:r>
            <a:endParaRPr b="0" lang="en-US" sz="1140" spc="-1" strike="noStrike">
              <a:solidFill>
                <a:srgbClr val="000000"/>
              </a:solidFill>
              <a:latin typeface="Times New Roman"/>
            </a:endParaRPr>
          </a:p>
        </p:txBody>
      </p:sp>
      <p:sp>
        <p:nvSpPr>
          <p:cNvPr id="123" name=""/>
          <p:cNvSpPr txBox="1"/>
          <p:nvPr/>
        </p:nvSpPr>
        <p:spPr>
          <a:xfrm>
            <a:off x="4946760" y="6053040"/>
            <a:ext cx="172800" cy="174240"/>
          </a:xfrm>
          <a:prstGeom prst="rect">
            <a:avLst/>
          </a:prstGeom>
          <a:noFill/>
          <a:ln w="0">
            <a:noFill/>
          </a:ln>
        </p:spPr>
        <p:txBody>
          <a:bodyPr wrap="none" lIns="0" rIns="0" tIns="0" bIns="0" anchor="t">
            <a:noAutofit/>
          </a:bodyPr>
          <a:p>
            <a:r>
              <a:rPr b="1" lang="en-US" sz="1220" spc="-1" strike="noStrike">
                <a:solidFill>
                  <a:srgbClr val="284f78"/>
                </a:solidFill>
                <a:latin typeface="Arial"/>
                <a:ea typeface="Arial"/>
              </a:rPr>
              <a:t>46</a:t>
            </a:r>
            <a:endParaRPr b="0" lang="en-US" sz="1220" spc="-1" strike="noStrike">
              <a:solidFill>
                <a:srgbClr val="000000"/>
              </a:solidFill>
              <a:latin typeface="Times New Roman"/>
            </a:endParaRPr>
          </a:p>
        </p:txBody>
      </p:sp>
      <p:sp>
        <p:nvSpPr>
          <p:cNvPr id="124" name=""/>
          <p:cNvSpPr txBox="1"/>
          <p:nvPr/>
        </p:nvSpPr>
        <p:spPr>
          <a:xfrm>
            <a:off x="5833800" y="6062400"/>
            <a:ext cx="2181600" cy="162000"/>
          </a:xfrm>
          <a:prstGeom prst="rect">
            <a:avLst/>
          </a:prstGeom>
          <a:noFill/>
          <a:ln w="0">
            <a:noFill/>
          </a:ln>
        </p:spPr>
        <p:txBody>
          <a:bodyPr wrap="none" lIns="0" rIns="0" tIns="0" bIns="0" anchor="t">
            <a:noAutofit/>
          </a:bodyPr>
          <a:p>
            <a:r>
              <a:rPr b="0" lang="en-US" sz="1140" spc="-1" strike="noStrike">
                <a:solidFill>
                  <a:srgbClr val="20252c"/>
                </a:solidFill>
                <a:latin typeface="Arial"/>
                <a:ea typeface="Arial"/>
              </a:rPr>
              <a:t>Protected-code regression guards</a:t>
            </a:r>
            <a:endParaRPr b="0" lang="en-US" sz="114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
          <p:cNvSpPr/>
          <p:nvPr/>
        </p:nvSpPr>
        <p:spPr>
          <a:xfrm>
            <a:off x="0" y="0"/>
            <a:ext cx="12191760" cy="6858000"/>
          </a:xfrm>
          <a:custGeom>
            <a:avLst/>
            <a:gdLst/>
            <a:ahLst/>
            <a:rect l="0" t="0" r="r" b="b"/>
            <a:pathLst>
              <a:path w="33866" h="19050">
                <a:moveTo>
                  <a:pt x="0" y="0"/>
                </a:moveTo>
                <a:lnTo>
                  <a:pt x="33866" y="0"/>
                </a:lnTo>
                <a:lnTo>
                  <a:pt x="33866"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26" name=""/>
          <p:cNvSpPr/>
          <p:nvPr/>
        </p:nvSpPr>
        <p:spPr>
          <a:xfrm>
            <a:off x="0" y="0"/>
            <a:ext cx="12192120" cy="6858360"/>
          </a:xfrm>
          <a:custGeom>
            <a:avLst/>
            <a:gdLst/>
            <a:ahLst/>
            <a:rect l="0" t="0" r="r" b="b"/>
            <a:pathLst>
              <a:path w="33867" h="19051">
                <a:moveTo>
                  <a:pt x="0" y="0"/>
                </a:moveTo>
                <a:lnTo>
                  <a:pt x="33867" y="0"/>
                </a:lnTo>
                <a:lnTo>
                  <a:pt x="33867" y="19051"/>
                </a:lnTo>
                <a:lnTo>
                  <a:pt x="0" y="19051"/>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27" name=""/>
          <p:cNvSpPr txBox="1"/>
          <p:nvPr/>
        </p:nvSpPr>
        <p:spPr>
          <a:xfrm>
            <a:off x="612360" y="226440"/>
            <a:ext cx="181584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RoboKnights  /  SARCathon 2026</a:t>
            </a:r>
            <a:endParaRPr b="0" lang="en-US" sz="960" spc="-1" strike="noStrike">
              <a:solidFill>
                <a:srgbClr val="000000"/>
              </a:solidFill>
              <a:latin typeface="Times New Roman"/>
            </a:endParaRPr>
          </a:p>
        </p:txBody>
      </p:sp>
      <p:sp>
        <p:nvSpPr>
          <p:cNvPr id="128" name=""/>
          <p:cNvSpPr/>
          <p:nvPr/>
        </p:nvSpPr>
        <p:spPr>
          <a:xfrm>
            <a:off x="612000" y="466200"/>
            <a:ext cx="10954800" cy="0"/>
          </a:xfrm>
          <a:prstGeom prst="line">
            <a:avLst/>
          </a:prstGeom>
          <a:ln w="9720">
            <a:solidFill>
              <a:srgbClr val="ced4da"/>
            </a:solidFill>
            <a:round/>
          </a:ln>
        </p:spPr>
        <p:style>
          <a:lnRef idx="0"/>
          <a:fillRef idx="0"/>
          <a:effectRef idx="0"/>
          <a:fontRef idx="minor"/>
        </p:style>
        <p:txBody>
          <a:bodyPr lIns="4680" rIns="4680" tIns="-4680" bIns="-4680" anchor="t">
            <a:noAutofit/>
          </a:bodyPr>
          <a:p>
            <a:endParaRPr b="0" lang="en-US" sz="2400" spc="-1" strike="noStrike">
              <a:solidFill>
                <a:srgbClr val="000000"/>
              </a:solidFill>
              <a:latin typeface="Times New Roman"/>
            </a:endParaRPr>
          </a:p>
        </p:txBody>
      </p:sp>
      <p:sp>
        <p:nvSpPr>
          <p:cNvPr id="129" name=""/>
          <p:cNvSpPr txBox="1"/>
          <p:nvPr/>
        </p:nvSpPr>
        <p:spPr>
          <a:xfrm>
            <a:off x="11413440" y="230760"/>
            <a:ext cx="13500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04</a:t>
            </a:r>
            <a:endParaRPr b="0" lang="en-US" sz="960" spc="-1" strike="noStrike">
              <a:solidFill>
                <a:srgbClr val="000000"/>
              </a:solidFill>
              <a:latin typeface="Times New Roman"/>
            </a:endParaRPr>
          </a:p>
        </p:txBody>
      </p:sp>
      <p:sp>
        <p:nvSpPr>
          <p:cNvPr id="130" name=""/>
          <p:cNvSpPr txBox="1"/>
          <p:nvPr/>
        </p:nvSpPr>
        <p:spPr>
          <a:xfrm>
            <a:off x="639720" y="737640"/>
            <a:ext cx="7818840" cy="379800"/>
          </a:xfrm>
          <a:prstGeom prst="rect">
            <a:avLst/>
          </a:prstGeom>
          <a:noFill/>
          <a:ln w="0">
            <a:noFill/>
          </a:ln>
        </p:spPr>
        <p:txBody>
          <a:bodyPr wrap="none" lIns="0" rIns="0" tIns="0" bIns="0" anchor="t">
            <a:noAutofit/>
          </a:bodyPr>
          <a:p>
            <a:r>
              <a:rPr b="1" lang="en-US" sz="2680" spc="-1" strike="noStrike">
                <a:solidFill>
                  <a:srgbClr val="20252c"/>
                </a:solidFill>
                <a:latin typeface="Arial"/>
                <a:ea typeface="Arial"/>
              </a:rPr>
              <a:t>Vivado synthesis — generated bridge schematic</a:t>
            </a:r>
            <a:endParaRPr b="0" lang="en-US" sz="2680" spc="-1" strike="noStrike">
              <a:solidFill>
                <a:srgbClr val="000000"/>
              </a:solidFill>
              <a:latin typeface="Times New Roman"/>
            </a:endParaRPr>
          </a:p>
        </p:txBody>
      </p:sp>
      <p:sp>
        <p:nvSpPr>
          <p:cNvPr id="131" name=""/>
          <p:cNvSpPr/>
          <p:nvPr/>
        </p:nvSpPr>
        <p:spPr>
          <a:xfrm>
            <a:off x="612000" y="6482880"/>
            <a:ext cx="10954800" cy="0"/>
          </a:xfrm>
          <a:prstGeom prst="line">
            <a:avLst/>
          </a:prstGeom>
          <a:ln w="7920">
            <a:solidFill>
              <a:srgbClr val="ced4da"/>
            </a:solidFill>
            <a:round/>
          </a:ln>
        </p:spPr>
        <p:style>
          <a:lnRef idx="0"/>
          <a:fillRef idx="0"/>
          <a:effectRef idx="0"/>
          <a:fontRef idx="minor"/>
        </p:style>
        <p:txBody>
          <a:bodyPr lIns="3960" rIns="3960" tIns="-3960" bIns="-3960" anchor="t">
            <a:noAutofit/>
          </a:bodyPr>
          <a:p>
            <a:endParaRPr b="0" lang="en-US" sz="2400" spc="-1" strike="noStrike">
              <a:solidFill>
                <a:srgbClr val="000000"/>
              </a:solidFill>
              <a:latin typeface="Times New Roman"/>
            </a:endParaRPr>
          </a:p>
        </p:txBody>
      </p:sp>
      <p:sp>
        <p:nvSpPr>
          <p:cNvPr id="132" name=""/>
          <p:cNvSpPr txBox="1"/>
          <p:nvPr/>
        </p:nvSpPr>
        <p:spPr>
          <a:xfrm>
            <a:off x="639720" y="1332720"/>
            <a:ext cx="8289720" cy="177120"/>
          </a:xfrm>
          <a:prstGeom prst="rect">
            <a:avLst/>
          </a:prstGeom>
          <a:noFill/>
          <a:ln w="0">
            <a:noFill/>
          </a:ln>
        </p:spPr>
        <p:txBody>
          <a:bodyPr wrap="none" lIns="0" rIns="0" tIns="0" bIns="0" anchor="t">
            <a:noAutofit/>
          </a:bodyPr>
          <a:p>
            <a:r>
              <a:rPr b="0" lang="en-US" sz="1250" spc="-1" strike="noStrike">
                <a:solidFill>
                  <a:srgbClr val="525b65"/>
                </a:solidFill>
                <a:latin typeface="Arial"/>
                <a:ea typeface="Arial"/>
              </a:rPr>
              <a:t>Structural connectivity view from Vivado for bridge_top; shown as synthesis evidence, not a timing or post-route result.</a:t>
            </a:r>
            <a:endParaRPr b="0" lang="en-US" sz="1250" spc="-1" strike="noStrike">
              <a:solidFill>
                <a:srgbClr val="000000"/>
              </a:solidFill>
              <a:latin typeface="Times New Roman"/>
            </a:endParaRPr>
          </a:p>
        </p:txBody>
      </p:sp>
      <p:sp>
        <p:nvSpPr>
          <p:cNvPr id="133" name=""/>
          <p:cNvSpPr txBox="1"/>
          <p:nvPr/>
        </p:nvSpPr>
        <p:spPr>
          <a:xfrm>
            <a:off x="639720" y="6578280"/>
            <a:ext cx="299088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AXI4-Stream → PCIe 6.0 Bridge  |  Round 2 technical review</a:t>
            </a:r>
            <a:endParaRPr b="0" lang="en-US" sz="870" spc="-1" strike="noStrike">
              <a:solidFill>
                <a:srgbClr val="000000"/>
              </a:solidFill>
              <a:latin typeface="Times New Roman"/>
            </a:endParaRPr>
          </a:p>
        </p:txBody>
      </p:sp>
      <p:pic>
        <p:nvPicPr>
          <p:cNvPr id="134" name="" descr=""/>
          <p:cNvPicPr/>
          <p:nvPr/>
        </p:nvPicPr>
        <p:blipFill>
          <a:blip r:embed="rId1"/>
          <a:stretch/>
        </p:blipFill>
        <p:spPr>
          <a:xfrm>
            <a:off x="1113120" y="1773720"/>
            <a:ext cx="7246080" cy="4260240"/>
          </a:xfrm>
          <a:prstGeom prst="rect">
            <a:avLst/>
          </a:prstGeom>
          <a:ln w="0">
            <a:noFill/>
          </a:ln>
        </p:spPr>
      </p:pic>
      <p:sp>
        <p:nvSpPr>
          <p:cNvPr id="135" name=""/>
          <p:cNvSpPr txBox="1"/>
          <p:nvPr/>
        </p:nvSpPr>
        <p:spPr>
          <a:xfrm>
            <a:off x="11261520" y="6578280"/>
            <a:ext cx="27792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4 / 10</a:t>
            </a:r>
            <a:endParaRPr b="0" lang="en-US" sz="870" spc="-1" strike="noStrike">
              <a:solidFill>
                <a:srgbClr val="000000"/>
              </a:solidFill>
              <a:latin typeface="Times New Roman"/>
            </a:endParaRPr>
          </a:p>
        </p:txBody>
      </p:sp>
      <p:sp>
        <p:nvSpPr>
          <p:cNvPr id="136" name=""/>
          <p:cNvSpPr/>
          <p:nvPr/>
        </p:nvSpPr>
        <p:spPr>
          <a:xfrm>
            <a:off x="8997480" y="2148480"/>
            <a:ext cx="2468880" cy="12960"/>
          </a:xfrm>
          <a:custGeom>
            <a:avLst/>
            <a:gdLst/>
            <a:ahLst/>
            <a:rect l="0" t="0" r="r" b="b"/>
            <a:pathLst>
              <a:path w="6858" h="36">
                <a:moveTo>
                  <a:pt x="3429" y="36"/>
                </a:moveTo>
                <a:lnTo>
                  <a:pt x="0" y="36"/>
                </a:lnTo>
                <a:lnTo>
                  <a:pt x="0" y="0"/>
                </a:lnTo>
                <a:lnTo>
                  <a:pt x="6858" y="0"/>
                </a:lnTo>
                <a:lnTo>
                  <a:pt x="6858" y="36"/>
                </a:lnTo>
                <a:lnTo>
                  <a:pt x="3429" y="36"/>
                </a:lnTo>
                <a:close/>
              </a:path>
            </a:pathLst>
          </a:custGeom>
          <a:solidFill>
            <a:srgbClr val="c4cbd2"/>
          </a:solidFill>
          <a:ln w="0">
            <a:noFill/>
          </a:ln>
        </p:spPr>
        <p:txBody>
          <a:bodyPr lIns="0" rIns="0" tIns="0" bIns="0" anchor="t">
            <a:noAutofit/>
          </a:bodyPr>
          <a:p>
            <a:endParaRPr b="0" lang="en-US" sz="2400" spc="-1" strike="noStrike">
              <a:solidFill>
                <a:srgbClr val="000000"/>
              </a:solidFill>
              <a:latin typeface="Times New Roman"/>
            </a:endParaRPr>
          </a:p>
        </p:txBody>
      </p:sp>
      <p:sp>
        <p:nvSpPr>
          <p:cNvPr id="137" name=""/>
          <p:cNvSpPr txBox="1"/>
          <p:nvPr/>
        </p:nvSpPr>
        <p:spPr>
          <a:xfrm>
            <a:off x="8997840" y="1836720"/>
            <a:ext cx="1882800" cy="200160"/>
          </a:xfrm>
          <a:prstGeom prst="rect">
            <a:avLst/>
          </a:prstGeom>
          <a:noFill/>
          <a:ln w="0">
            <a:noFill/>
          </a:ln>
        </p:spPr>
        <p:txBody>
          <a:bodyPr wrap="none" lIns="0" rIns="0" tIns="0" bIns="0" anchor="t">
            <a:noAutofit/>
          </a:bodyPr>
          <a:p>
            <a:r>
              <a:rPr b="1" lang="en-US" sz="1400" spc="-1" strike="noStrike">
                <a:solidFill>
                  <a:srgbClr val="133352"/>
                </a:solidFill>
                <a:latin typeface="Arial"/>
                <a:ea typeface="Arial"/>
              </a:rPr>
              <a:t>How to read the figure</a:t>
            </a:r>
            <a:endParaRPr b="0" lang="en-US" sz="1400" spc="-1" strike="noStrike">
              <a:solidFill>
                <a:srgbClr val="000000"/>
              </a:solidFill>
              <a:latin typeface="Times New Roman"/>
            </a:endParaRPr>
          </a:p>
        </p:txBody>
      </p:sp>
      <p:sp>
        <p:nvSpPr>
          <p:cNvPr id="138" name=""/>
          <p:cNvSpPr txBox="1"/>
          <p:nvPr/>
        </p:nvSpPr>
        <p:spPr>
          <a:xfrm>
            <a:off x="8997480" y="2365560"/>
            <a:ext cx="759600" cy="184680"/>
          </a:xfrm>
          <a:prstGeom prst="rect">
            <a:avLst/>
          </a:prstGeom>
          <a:noFill/>
          <a:ln w="0">
            <a:noFill/>
          </a:ln>
        </p:spPr>
        <p:txBody>
          <a:bodyPr wrap="none" lIns="0" rIns="0" tIns="0" bIns="0" anchor="t">
            <a:noAutofit/>
          </a:bodyPr>
          <a:p>
            <a:r>
              <a:rPr b="1" lang="en-US" sz="1300" spc="-1" strike="noStrike">
                <a:solidFill>
                  <a:srgbClr val="133352"/>
                </a:solidFill>
                <a:latin typeface="Arial"/>
                <a:ea typeface="Arial"/>
              </a:rPr>
              <a:t>Hierarchy</a:t>
            </a:r>
            <a:endParaRPr b="0" lang="en-US" sz="1300" spc="-1" strike="noStrike">
              <a:solidFill>
                <a:srgbClr val="000000"/>
              </a:solidFill>
              <a:latin typeface="Times New Roman"/>
            </a:endParaRPr>
          </a:p>
        </p:txBody>
      </p:sp>
      <p:sp>
        <p:nvSpPr>
          <p:cNvPr id="139" name=""/>
          <p:cNvSpPr txBox="1"/>
          <p:nvPr/>
        </p:nvSpPr>
        <p:spPr>
          <a:xfrm>
            <a:off x="8997480" y="2684880"/>
            <a:ext cx="2306520" cy="174240"/>
          </a:xfrm>
          <a:prstGeom prst="rect">
            <a:avLst/>
          </a:prstGeom>
          <a:noFill/>
          <a:ln w="0">
            <a:noFill/>
          </a:ln>
        </p:spPr>
        <p:txBody>
          <a:bodyPr wrap="none" lIns="0" rIns="0" tIns="0" bIns="0" anchor="t">
            <a:noAutofit/>
          </a:bodyPr>
          <a:p>
            <a:r>
              <a:rPr b="0" lang="en-US" sz="1220" spc="-1" strike="noStrike">
                <a:solidFill>
                  <a:srgbClr val="38414b"/>
                </a:solidFill>
                <a:latin typeface="Arial"/>
                <a:ea typeface="Arial"/>
              </a:rPr>
              <a:t>The synthesized bridge_top view </a:t>
            </a:r>
            <a:endParaRPr b="0" lang="en-US" sz="1220" spc="-1" strike="noStrike">
              <a:solidFill>
                <a:srgbClr val="000000"/>
              </a:solidFill>
              <a:latin typeface="Times New Roman"/>
            </a:endParaRPr>
          </a:p>
        </p:txBody>
      </p:sp>
      <p:sp>
        <p:nvSpPr>
          <p:cNvPr id="140" name=""/>
          <p:cNvSpPr txBox="1"/>
          <p:nvPr/>
        </p:nvSpPr>
        <p:spPr>
          <a:xfrm>
            <a:off x="8997480" y="2870640"/>
            <a:ext cx="1858320" cy="174240"/>
          </a:xfrm>
          <a:prstGeom prst="rect">
            <a:avLst/>
          </a:prstGeom>
          <a:noFill/>
          <a:ln w="0">
            <a:noFill/>
          </a:ln>
        </p:spPr>
        <p:txBody>
          <a:bodyPr wrap="none" lIns="0" rIns="0" tIns="0" bIns="0" anchor="t">
            <a:noAutofit/>
          </a:bodyPr>
          <a:p>
            <a:r>
              <a:rPr b="0" lang="en-US" sz="1220" spc="-1" strike="noStrike">
                <a:solidFill>
                  <a:srgbClr val="38414b"/>
                </a:solidFill>
                <a:latin typeface="Arial"/>
                <a:ea typeface="Arial"/>
              </a:rPr>
              <a:t>contains interconnect_top, </a:t>
            </a:r>
            <a:endParaRPr b="0" lang="en-US" sz="1220" spc="-1" strike="noStrike">
              <a:solidFill>
                <a:srgbClr val="000000"/>
              </a:solidFill>
              <a:latin typeface="Times New Roman"/>
            </a:endParaRPr>
          </a:p>
        </p:txBody>
      </p:sp>
      <p:sp>
        <p:nvSpPr>
          <p:cNvPr id="141" name=""/>
          <p:cNvSpPr txBox="1"/>
          <p:nvPr/>
        </p:nvSpPr>
        <p:spPr>
          <a:xfrm>
            <a:off x="8997480" y="3056400"/>
            <a:ext cx="1736640" cy="174240"/>
          </a:xfrm>
          <a:prstGeom prst="rect">
            <a:avLst/>
          </a:prstGeom>
          <a:noFill/>
          <a:ln w="0">
            <a:noFill/>
          </a:ln>
        </p:spPr>
        <p:txBody>
          <a:bodyPr wrap="none" lIns="0" rIns="0" tIns="0" bIns="0" anchor="t">
            <a:noAutofit/>
          </a:bodyPr>
          <a:p>
            <a:r>
              <a:rPr b="0" lang="en-US" sz="1220" spc="-1" strike="noStrike">
                <a:solidFill>
                  <a:srgbClr val="38414b"/>
                </a:solidFill>
                <a:latin typeface="Arial"/>
                <a:ea typeface="Arial"/>
              </a:rPr>
              <a:t>link_phy_bridge_top and </a:t>
            </a:r>
            <a:endParaRPr b="0" lang="en-US" sz="1220" spc="-1" strike="noStrike">
              <a:solidFill>
                <a:srgbClr val="000000"/>
              </a:solidFill>
              <a:latin typeface="Times New Roman"/>
            </a:endParaRPr>
          </a:p>
        </p:txBody>
      </p:sp>
      <p:sp>
        <p:nvSpPr>
          <p:cNvPr id="142" name=""/>
          <p:cNvSpPr txBox="1"/>
          <p:nvPr/>
        </p:nvSpPr>
        <p:spPr>
          <a:xfrm>
            <a:off x="8997480" y="3242160"/>
            <a:ext cx="1623960" cy="174240"/>
          </a:xfrm>
          <a:prstGeom prst="rect">
            <a:avLst/>
          </a:prstGeom>
          <a:noFill/>
          <a:ln w="0">
            <a:noFill/>
          </a:ln>
        </p:spPr>
        <p:txBody>
          <a:bodyPr wrap="none" lIns="0" rIns="0" tIns="0" bIns="0" anchor="t">
            <a:noAutofit/>
          </a:bodyPr>
          <a:p>
            <a:r>
              <a:rPr b="0" lang="en-US" sz="1220" spc="-1" strike="noStrike">
                <a:solidFill>
                  <a:srgbClr val="38414b"/>
                </a:solidFill>
                <a:latin typeface="Arial"/>
                <a:ea typeface="Arial"/>
              </a:rPr>
              <a:t>reset/control structures.</a:t>
            </a:r>
            <a:endParaRPr b="0" lang="en-US" sz="1220" spc="-1" strike="noStrike">
              <a:solidFill>
                <a:srgbClr val="000000"/>
              </a:solidFill>
              <a:latin typeface="Times New Roman"/>
            </a:endParaRPr>
          </a:p>
        </p:txBody>
      </p:sp>
      <p:sp>
        <p:nvSpPr>
          <p:cNvPr id="143" name=""/>
          <p:cNvSpPr txBox="1"/>
          <p:nvPr/>
        </p:nvSpPr>
        <p:spPr>
          <a:xfrm>
            <a:off x="8997480" y="3618360"/>
            <a:ext cx="1353960" cy="184680"/>
          </a:xfrm>
          <a:prstGeom prst="rect">
            <a:avLst/>
          </a:prstGeom>
          <a:noFill/>
          <a:ln w="0">
            <a:noFill/>
          </a:ln>
        </p:spPr>
        <p:txBody>
          <a:bodyPr wrap="none" lIns="0" rIns="0" tIns="0" bIns="0" anchor="t">
            <a:noAutofit/>
          </a:bodyPr>
          <a:p>
            <a:r>
              <a:rPr b="1" lang="en-US" sz="1300" spc="-1" strike="noStrike">
                <a:solidFill>
                  <a:srgbClr val="133352"/>
                </a:solidFill>
                <a:latin typeface="Arial"/>
                <a:ea typeface="Arial"/>
              </a:rPr>
              <a:t>Visible interfaces</a:t>
            </a:r>
            <a:endParaRPr b="0" lang="en-US" sz="1300" spc="-1" strike="noStrike">
              <a:solidFill>
                <a:srgbClr val="000000"/>
              </a:solidFill>
              <a:latin typeface="Times New Roman"/>
            </a:endParaRPr>
          </a:p>
        </p:txBody>
      </p:sp>
      <p:sp>
        <p:nvSpPr>
          <p:cNvPr id="144" name=""/>
          <p:cNvSpPr txBox="1"/>
          <p:nvPr/>
        </p:nvSpPr>
        <p:spPr>
          <a:xfrm>
            <a:off x="8997480" y="3928320"/>
            <a:ext cx="2030760" cy="174240"/>
          </a:xfrm>
          <a:prstGeom prst="rect">
            <a:avLst/>
          </a:prstGeom>
          <a:noFill/>
          <a:ln w="0">
            <a:noFill/>
          </a:ln>
        </p:spPr>
        <p:txBody>
          <a:bodyPr wrap="none" lIns="0" rIns="0" tIns="0" bIns="0" anchor="t">
            <a:noAutofit/>
          </a:bodyPr>
          <a:p>
            <a:r>
              <a:rPr b="0" lang="en-US" sz="1220" spc="-1" strike="noStrike">
                <a:solidFill>
                  <a:srgbClr val="38414b"/>
                </a:solidFill>
                <a:latin typeface="Arial"/>
                <a:ea typeface="Arial"/>
              </a:rPr>
              <a:t>AXI4-Stream data/keep/valid-</a:t>
            </a:r>
            <a:endParaRPr b="0" lang="en-US" sz="1220" spc="-1" strike="noStrike">
              <a:solidFill>
                <a:srgbClr val="000000"/>
              </a:solidFill>
              <a:latin typeface="Times New Roman"/>
            </a:endParaRPr>
          </a:p>
        </p:txBody>
      </p:sp>
      <p:sp>
        <p:nvSpPr>
          <p:cNvPr id="145" name=""/>
          <p:cNvSpPr txBox="1"/>
          <p:nvPr/>
        </p:nvSpPr>
        <p:spPr>
          <a:xfrm>
            <a:off x="8997480" y="4114080"/>
            <a:ext cx="2202840" cy="174240"/>
          </a:xfrm>
          <a:prstGeom prst="rect">
            <a:avLst/>
          </a:prstGeom>
          <a:noFill/>
          <a:ln w="0">
            <a:noFill/>
          </a:ln>
        </p:spPr>
        <p:txBody>
          <a:bodyPr wrap="none" lIns="0" rIns="0" tIns="0" bIns="0" anchor="t">
            <a:noAutofit/>
          </a:bodyPr>
          <a:p>
            <a:r>
              <a:rPr b="0" lang="en-US" sz="1220" spc="-1" strike="noStrike">
                <a:solidFill>
                  <a:srgbClr val="38414b"/>
                </a:solidFill>
                <a:latin typeface="Arial"/>
                <a:ea typeface="Arial"/>
              </a:rPr>
              <a:t>ready, BAR0/config, link status, </a:t>
            </a:r>
            <a:endParaRPr b="0" lang="en-US" sz="1220" spc="-1" strike="noStrike">
              <a:solidFill>
                <a:srgbClr val="000000"/>
              </a:solidFill>
              <a:latin typeface="Times New Roman"/>
            </a:endParaRPr>
          </a:p>
        </p:txBody>
      </p:sp>
      <p:sp>
        <p:nvSpPr>
          <p:cNvPr id="146" name=""/>
          <p:cNvSpPr txBox="1"/>
          <p:nvPr/>
        </p:nvSpPr>
        <p:spPr>
          <a:xfrm>
            <a:off x="8997480" y="4299840"/>
            <a:ext cx="1918080" cy="174240"/>
          </a:xfrm>
          <a:prstGeom prst="rect">
            <a:avLst/>
          </a:prstGeom>
          <a:noFill/>
          <a:ln w="0">
            <a:noFill/>
          </a:ln>
        </p:spPr>
        <p:txBody>
          <a:bodyPr wrap="none" lIns="0" rIns="0" tIns="0" bIns="0" anchor="t">
            <a:noAutofit/>
          </a:bodyPr>
          <a:p>
            <a:r>
              <a:rPr b="0" lang="en-US" sz="1220" spc="-1" strike="noStrike">
                <a:solidFill>
                  <a:srgbClr val="38414b"/>
                </a:solidFill>
                <a:latin typeface="Arial"/>
                <a:ea typeface="Arial"/>
              </a:rPr>
              <a:t>reset and PHY lane signals.</a:t>
            </a:r>
            <a:endParaRPr b="0" lang="en-US" sz="1220" spc="-1" strike="noStrike">
              <a:solidFill>
                <a:srgbClr val="000000"/>
              </a:solidFill>
              <a:latin typeface="Times New Roman"/>
            </a:endParaRPr>
          </a:p>
        </p:txBody>
      </p:sp>
      <p:sp>
        <p:nvSpPr>
          <p:cNvPr id="147" name=""/>
          <p:cNvSpPr txBox="1"/>
          <p:nvPr/>
        </p:nvSpPr>
        <p:spPr>
          <a:xfrm>
            <a:off x="8997480" y="5017320"/>
            <a:ext cx="1061280" cy="184680"/>
          </a:xfrm>
          <a:prstGeom prst="rect">
            <a:avLst/>
          </a:prstGeom>
          <a:noFill/>
          <a:ln w="0">
            <a:noFill/>
          </a:ln>
        </p:spPr>
        <p:txBody>
          <a:bodyPr wrap="none" lIns="0" rIns="0" tIns="0" bIns="0" anchor="t">
            <a:noAutofit/>
          </a:bodyPr>
          <a:p>
            <a:r>
              <a:rPr b="1" lang="en-US" sz="1300" spc="-1" strike="noStrike">
                <a:solidFill>
                  <a:srgbClr val="133352"/>
                </a:solidFill>
                <a:latin typeface="Arial"/>
                <a:ea typeface="Arial"/>
              </a:rPr>
              <a:t>Interpretation</a:t>
            </a:r>
            <a:endParaRPr b="0" lang="en-US" sz="1300" spc="-1" strike="noStrike">
              <a:solidFill>
                <a:srgbClr val="000000"/>
              </a:solidFill>
              <a:latin typeface="Times New Roman"/>
            </a:endParaRPr>
          </a:p>
        </p:txBody>
      </p:sp>
      <p:sp>
        <p:nvSpPr>
          <p:cNvPr id="148" name=""/>
          <p:cNvSpPr txBox="1"/>
          <p:nvPr/>
        </p:nvSpPr>
        <p:spPr>
          <a:xfrm>
            <a:off x="8997480" y="5326920"/>
            <a:ext cx="2125080" cy="174240"/>
          </a:xfrm>
          <a:prstGeom prst="rect">
            <a:avLst/>
          </a:prstGeom>
          <a:noFill/>
          <a:ln w="0">
            <a:noFill/>
          </a:ln>
        </p:spPr>
        <p:txBody>
          <a:bodyPr wrap="none" lIns="0" rIns="0" tIns="0" bIns="0" anchor="t">
            <a:noAutofit/>
          </a:bodyPr>
          <a:p>
            <a:r>
              <a:rPr b="0" lang="en-US" sz="1220" spc="-1" strike="noStrike">
                <a:solidFill>
                  <a:srgbClr val="38414b"/>
                </a:solidFill>
                <a:latin typeface="Arial"/>
                <a:ea typeface="Arial"/>
              </a:rPr>
              <a:t>Generated netlist connectivity; </a:t>
            </a:r>
            <a:endParaRPr b="0" lang="en-US" sz="1220" spc="-1" strike="noStrike">
              <a:solidFill>
                <a:srgbClr val="000000"/>
              </a:solidFill>
              <a:latin typeface="Times New Roman"/>
            </a:endParaRPr>
          </a:p>
        </p:txBody>
      </p:sp>
      <p:sp>
        <p:nvSpPr>
          <p:cNvPr id="149" name=""/>
          <p:cNvSpPr txBox="1"/>
          <p:nvPr/>
        </p:nvSpPr>
        <p:spPr>
          <a:xfrm>
            <a:off x="8997480" y="5512680"/>
            <a:ext cx="2221200" cy="174240"/>
          </a:xfrm>
          <a:prstGeom prst="rect">
            <a:avLst/>
          </a:prstGeom>
          <a:noFill/>
          <a:ln w="0">
            <a:noFill/>
          </a:ln>
        </p:spPr>
        <p:txBody>
          <a:bodyPr wrap="none" lIns="0" rIns="0" tIns="0" bIns="0" anchor="t">
            <a:noAutofit/>
          </a:bodyPr>
          <a:p>
            <a:r>
              <a:rPr b="0" lang="en-US" sz="1220" spc="-1" strike="noStrike">
                <a:solidFill>
                  <a:srgbClr val="38414b"/>
                </a:solidFill>
                <a:latin typeface="Arial"/>
                <a:ea typeface="Arial"/>
              </a:rPr>
              <a:t>functional and timing claims are </a:t>
            </a:r>
            <a:endParaRPr b="0" lang="en-US" sz="1220" spc="-1" strike="noStrike">
              <a:solidFill>
                <a:srgbClr val="000000"/>
              </a:solidFill>
              <a:latin typeface="Times New Roman"/>
            </a:endParaRPr>
          </a:p>
        </p:txBody>
      </p:sp>
      <p:sp>
        <p:nvSpPr>
          <p:cNvPr id="150" name=""/>
          <p:cNvSpPr txBox="1"/>
          <p:nvPr/>
        </p:nvSpPr>
        <p:spPr>
          <a:xfrm>
            <a:off x="8997480" y="5698440"/>
            <a:ext cx="2419200" cy="174240"/>
          </a:xfrm>
          <a:prstGeom prst="rect">
            <a:avLst/>
          </a:prstGeom>
          <a:noFill/>
          <a:ln w="0">
            <a:noFill/>
          </a:ln>
        </p:spPr>
        <p:txBody>
          <a:bodyPr wrap="none" lIns="0" rIns="0" tIns="0" bIns="0" anchor="t">
            <a:noAutofit/>
          </a:bodyPr>
          <a:p>
            <a:r>
              <a:rPr b="0" lang="en-US" sz="1220" spc="-1" strike="noStrike">
                <a:solidFill>
                  <a:srgbClr val="38414b"/>
                </a:solidFill>
                <a:latin typeface="Arial"/>
                <a:ea typeface="Arial"/>
              </a:rPr>
              <a:t>supported separately by testbench </a:t>
            </a:r>
            <a:endParaRPr b="0" lang="en-US" sz="1220" spc="-1" strike="noStrike">
              <a:solidFill>
                <a:srgbClr val="000000"/>
              </a:solidFill>
              <a:latin typeface="Times New Roman"/>
            </a:endParaRPr>
          </a:p>
        </p:txBody>
      </p:sp>
      <p:sp>
        <p:nvSpPr>
          <p:cNvPr id="151" name=""/>
          <p:cNvSpPr txBox="1"/>
          <p:nvPr/>
        </p:nvSpPr>
        <p:spPr>
          <a:xfrm>
            <a:off x="8997480" y="5884200"/>
            <a:ext cx="1347840" cy="174240"/>
          </a:xfrm>
          <a:prstGeom prst="rect">
            <a:avLst/>
          </a:prstGeom>
          <a:noFill/>
          <a:ln w="0">
            <a:noFill/>
          </a:ln>
        </p:spPr>
        <p:txBody>
          <a:bodyPr wrap="none" lIns="0" rIns="0" tIns="0" bIns="0" anchor="t">
            <a:noAutofit/>
          </a:bodyPr>
          <a:p>
            <a:r>
              <a:rPr b="0" lang="en-US" sz="1220" spc="-1" strike="noStrike">
                <a:solidFill>
                  <a:srgbClr val="38414b"/>
                </a:solidFill>
                <a:latin typeface="Arial"/>
                <a:ea typeface="Arial"/>
              </a:rPr>
              <a:t>and Vivado reports.</a:t>
            </a:r>
            <a:endParaRPr b="0" lang="en-US" sz="1220" spc="-1" strike="noStrike">
              <a:solidFill>
                <a:srgbClr val="000000"/>
              </a:solidFill>
              <a:latin typeface="Times New Roman"/>
            </a:endParaRPr>
          </a:p>
        </p:txBody>
      </p:sp>
      <p:sp>
        <p:nvSpPr>
          <p:cNvPr id="152" name=""/>
          <p:cNvSpPr txBox="1"/>
          <p:nvPr/>
        </p:nvSpPr>
        <p:spPr>
          <a:xfrm>
            <a:off x="712800" y="6118560"/>
            <a:ext cx="4542120" cy="128520"/>
          </a:xfrm>
          <a:prstGeom prst="rect">
            <a:avLst/>
          </a:prstGeom>
          <a:noFill/>
          <a:ln w="0">
            <a:noFill/>
          </a:ln>
        </p:spPr>
        <p:txBody>
          <a:bodyPr wrap="none" lIns="0" rIns="0" tIns="0" bIns="0" anchor="t">
            <a:noAutofit/>
          </a:bodyPr>
          <a:p>
            <a:r>
              <a:rPr b="0" lang="en-US" sz="900" spc="-1" strike="noStrike">
                <a:solidFill>
                  <a:srgbClr val="5e6972"/>
                </a:solidFill>
                <a:latin typeface="Arial"/>
                <a:ea typeface="Arial"/>
              </a:rPr>
              <a:t>Source: synth_design_schematic(1).pdf  ·  Vivado Nlview, bridge_top  ·  October 24, 2026</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
          <p:cNvSpPr/>
          <p:nvPr/>
        </p:nvSpPr>
        <p:spPr>
          <a:xfrm>
            <a:off x="0" y="0"/>
            <a:ext cx="12191760" cy="6858000"/>
          </a:xfrm>
          <a:custGeom>
            <a:avLst/>
            <a:gdLst/>
            <a:ahLst/>
            <a:rect l="0" t="0" r="r" b="b"/>
            <a:pathLst>
              <a:path w="33866" h="19050">
                <a:moveTo>
                  <a:pt x="0" y="0"/>
                </a:moveTo>
                <a:lnTo>
                  <a:pt x="33866" y="0"/>
                </a:lnTo>
                <a:lnTo>
                  <a:pt x="33866"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54" name=""/>
          <p:cNvSpPr/>
          <p:nvPr/>
        </p:nvSpPr>
        <p:spPr>
          <a:xfrm>
            <a:off x="0" y="0"/>
            <a:ext cx="12192120" cy="6858360"/>
          </a:xfrm>
          <a:custGeom>
            <a:avLst/>
            <a:gdLst/>
            <a:ahLst/>
            <a:rect l="0" t="0" r="r" b="b"/>
            <a:pathLst>
              <a:path w="33867" h="19051">
                <a:moveTo>
                  <a:pt x="0" y="0"/>
                </a:moveTo>
                <a:lnTo>
                  <a:pt x="33867" y="0"/>
                </a:lnTo>
                <a:lnTo>
                  <a:pt x="33867" y="19051"/>
                </a:lnTo>
                <a:lnTo>
                  <a:pt x="0" y="19051"/>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155" name=""/>
          <p:cNvSpPr txBox="1"/>
          <p:nvPr/>
        </p:nvSpPr>
        <p:spPr>
          <a:xfrm>
            <a:off x="612360" y="226440"/>
            <a:ext cx="181584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RoboKnights  /  SARCathon 2026</a:t>
            </a:r>
            <a:endParaRPr b="0" lang="en-US" sz="960" spc="-1" strike="noStrike">
              <a:solidFill>
                <a:srgbClr val="000000"/>
              </a:solidFill>
              <a:latin typeface="Times New Roman"/>
            </a:endParaRPr>
          </a:p>
        </p:txBody>
      </p:sp>
      <p:sp>
        <p:nvSpPr>
          <p:cNvPr id="156" name=""/>
          <p:cNvSpPr/>
          <p:nvPr/>
        </p:nvSpPr>
        <p:spPr>
          <a:xfrm>
            <a:off x="612000" y="466200"/>
            <a:ext cx="10954800" cy="0"/>
          </a:xfrm>
          <a:prstGeom prst="line">
            <a:avLst/>
          </a:prstGeom>
          <a:ln w="9720">
            <a:solidFill>
              <a:srgbClr val="ced4da"/>
            </a:solidFill>
            <a:round/>
          </a:ln>
        </p:spPr>
        <p:style>
          <a:lnRef idx="0"/>
          <a:fillRef idx="0"/>
          <a:effectRef idx="0"/>
          <a:fontRef idx="minor"/>
        </p:style>
        <p:txBody>
          <a:bodyPr lIns="4680" rIns="4680" tIns="-4680" bIns="-4680" anchor="t">
            <a:noAutofit/>
          </a:bodyPr>
          <a:p>
            <a:endParaRPr b="0" lang="en-US" sz="2400" spc="-1" strike="noStrike">
              <a:solidFill>
                <a:srgbClr val="000000"/>
              </a:solidFill>
              <a:latin typeface="Times New Roman"/>
            </a:endParaRPr>
          </a:p>
        </p:txBody>
      </p:sp>
      <p:sp>
        <p:nvSpPr>
          <p:cNvPr id="157" name=""/>
          <p:cNvSpPr txBox="1"/>
          <p:nvPr/>
        </p:nvSpPr>
        <p:spPr>
          <a:xfrm>
            <a:off x="11413440" y="230760"/>
            <a:ext cx="13500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05</a:t>
            </a:r>
            <a:endParaRPr b="0" lang="en-US" sz="960" spc="-1" strike="noStrike">
              <a:solidFill>
                <a:srgbClr val="000000"/>
              </a:solidFill>
              <a:latin typeface="Times New Roman"/>
            </a:endParaRPr>
          </a:p>
        </p:txBody>
      </p:sp>
      <p:sp>
        <p:nvSpPr>
          <p:cNvPr id="158" name=""/>
          <p:cNvSpPr txBox="1"/>
          <p:nvPr/>
        </p:nvSpPr>
        <p:spPr>
          <a:xfrm>
            <a:off x="639720" y="737640"/>
            <a:ext cx="9460080" cy="379800"/>
          </a:xfrm>
          <a:prstGeom prst="rect">
            <a:avLst/>
          </a:prstGeom>
          <a:noFill/>
          <a:ln w="0">
            <a:noFill/>
          </a:ln>
        </p:spPr>
        <p:txBody>
          <a:bodyPr wrap="none" lIns="0" rIns="0" tIns="0" bIns="0" anchor="t">
            <a:noAutofit/>
          </a:bodyPr>
          <a:p>
            <a:r>
              <a:rPr b="1" lang="en-US" sz="2680" spc="-1" strike="noStrike">
                <a:solidFill>
                  <a:srgbClr val="20252c"/>
                </a:solidFill>
                <a:latin typeface="Arial"/>
                <a:ea typeface="Arial"/>
              </a:rPr>
              <a:t>Vivado — timing progression across the optimisation runs</a:t>
            </a:r>
            <a:endParaRPr b="0" lang="en-US" sz="2680" spc="-1" strike="noStrike">
              <a:solidFill>
                <a:srgbClr val="000000"/>
              </a:solidFill>
              <a:latin typeface="Times New Roman"/>
            </a:endParaRPr>
          </a:p>
        </p:txBody>
      </p:sp>
      <p:sp>
        <p:nvSpPr>
          <p:cNvPr id="159" name=""/>
          <p:cNvSpPr/>
          <p:nvPr/>
        </p:nvSpPr>
        <p:spPr>
          <a:xfrm>
            <a:off x="612000" y="6482880"/>
            <a:ext cx="10954800" cy="0"/>
          </a:xfrm>
          <a:prstGeom prst="line">
            <a:avLst/>
          </a:prstGeom>
          <a:ln w="7920">
            <a:solidFill>
              <a:srgbClr val="ced4da"/>
            </a:solidFill>
            <a:round/>
          </a:ln>
        </p:spPr>
        <p:style>
          <a:lnRef idx="0"/>
          <a:fillRef idx="0"/>
          <a:effectRef idx="0"/>
          <a:fontRef idx="minor"/>
        </p:style>
        <p:txBody>
          <a:bodyPr lIns="3960" rIns="3960" tIns="-3960" bIns="-3960" anchor="t">
            <a:noAutofit/>
          </a:bodyPr>
          <a:p>
            <a:endParaRPr b="0" lang="en-US" sz="2400" spc="-1" strike="noStrike">
              <a:solidFill>
                <a:srgbClr val="000000"/>
              </a:solidFill>
              <a:latin typeface="Times New Roman"/>
            </a:endParaRPr>
          </a:p>
        </p:txBody>
      </p:sp>
      <p:sp>
        <p:nvSpPr>
          <p:cNvPr id="160" name=""/>
          <p:cNvSpPr txBox="1"/>
          <p:nvPr/>
        </p:nvSpPr>
        <p:spPr>
          <a:xfrm>
            <a:off x="639720" y="1332720"/>
            <a:ext cx="4430880" cy="177120"/>
          </a:xfrm>
          <a:prstGeom prst="rect">
            <a:avLst/>
          </a:prstGeom>
          <a:noFill/>
          <a:ln w="0">
            <a:noFill/>
          </a:ln>
        </p:spPr>
        <p:txBody>
          <a:bodyPr wrap="none" lIns="0" rIns="0" tIns="0" bIns="0" anchor="t">
            <a:noAutofit/>
          </a:bodyPr>
          <a:p>
            <a:r>
              <a:rPr b="0" lang="en-US" sz="1250" spc="-1" strike="noStrike">
                <a:solidFill>
                  <a:srgbClr val="525b65"/>
                </a:solidFill>
                <a:latin typeface="Arial"/>
                <a:ea typeface="Arial"/>
              </a:rPr>
              <a:t>PCIe clock target: 250 MHz (4.0 ns) on xcu250, Vivado 2026.1.</a:t>
            </a:r>
            <a:endParaRPr b="0" lang="en-US" sz="1250" spc="-1" strike="noStrike">
              <a:solidFill>
                <a:srgbClr val="000000"/>
              </a:solidFill>
              <a:latin typeface="Times New Roman"/>
            </a:endParaRPr>
          </a:p>
        </p:txBody>
      </p:sp>
      <p:sp>
        <p:nvSpPr>
          <p:cNvPr id="161" name=""/>
          <p:cNvSpPr txBox="1"/>
          <p:nvPr/>
        </p:nvSpPr>
        <p:spPr>
          <a:xfrm>
            <a:off x="639720" y="6578280"/>
            <a:ext cx="299088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AXI4-Stream → PCIe 6.0 Bridge  |  Round 2 technical review</a:t>
            </a:r>
            <a:endParaRPr b="0" lang="en-US" sz="870" spc="-1" strike="noStrike">
              <a:solidFill>
                <a:srgbClr val="000000"/>
              </a:solidFill>
              <a:latin typeface="Times New Roman"/>
            </a:endParaRPr>
          </a:p>
        </p:txBody>
      </p:sp>
      <p:sp>
        <p:nvSpPr>
          <p:cNvPr id="162" name=""/>
          <p:cNvSpPr/>
          <p:nvPr/>
        </p:nvSpPr>
        <p:spPr>
          <a:xfrm>
            <a:off x="1133640" y="5193360"/>
            <a:ext cx="7141680" cy="1440"/>
          </a:xfrm>
          <a:prstGeom prst="line">
            <a:avLst/>
          </a:prstGeom>
          <a:ln w="7560">
            <a:solidFill>
              <a:srgbClr val="ced4da"/>
            </a:solidFill>
            <a:round/>
          </a:ln>
        </p:spPr>
        <p:style>
          <a:lnRef idx="0"/>
          <a:fillRef idx="0"/>
          <a:effectRef idx="0"/>
          <a:fontRef idx="minor"/>
        </p:style>
        <p:txBody>
          <a:bodyPr lIns="3600" rIns="3600" tIns="-2160" bIns="-2160" anchor="t">
            <a:noAutofit/>
          </a:bodyPr>
          <a:p>
            <a:endParaRPr b="0" lang="en-US" sz="2400" spc="-1" strike="noStrike">
              <a:solidFill>
                <a:srgbClr val="000000"/>
              </a:solidFill>
              <a:latin typeface="Times New Roman"/>
            </a:endParaRPr>
          </a:p>
        </p:txBody>
      </p:sp>
      <p:sp>
        <p:nvSpPr>
          <p:cNvPr id="163" name=""/>
          <p:cNvSpPr txBox="1"/>
          <p:nvPr/>
        </p:nvSpPr>
        <p:spPr>
          <a:xfrm>
            <a:off x="11261520" y="6578280"/>
            <a:ext cx="27792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5 / 10</a:t>
            </a:r>
            <a:endParaRPr b="0" lang="en-US" sz="870" spc="-1" strike="noStrike">
              <a:solidFill>
                <a:srgbClr val="000000"/>
              </a:solidFill>
              <a:latin typeface="Times New Roman"/>
            </a:endParaRPr>
          </a:p>
        </p:txBody>
      </p:sp>
      <p:sp>
        <p:nvSpPr>
          <p:cNvPr id="164" name=""/>
          <p:cNvSpPr/>
          <p:nvPr/>
        </p:nvSpPr>
        <p:spPr>
          <a:xfrm>
            <a:off x="1133640" y="4615200"/>
            <a:ext cx="7141320" cy="360"/>
          </a:xfrm>
          <a:prstGeom prst="line">
            <a:avLst/>
          </a:prstGeom>
          <a:ln w="7560">
            <a:solidFill>
              <a:srgbClr val="ced4da"/>
            </a:solidFill>
            <a:round/>
          </a:ln>
        </p:spPr>
        <p:style>
          <a:lnRef idx="0"/>
          <a:fillRef idx="0"/>
          <a:effectRef idx="0"/>
          <a:fontRef idx="minor"/>
        </p:style>
        <p:txBody>
          <a:bodyPr lIns="3600" rIns="3600" tIns="-3240" bIns="-3240" anchor="t">
            <a:noAutofit/>
          </a:bodyPr>
          <a:p>
            <a:endParaRPr b="0" lang="en-US" sz="2400" spc="-1" strike="noStrike">
              <a:solidFill>
                <a:srgbClr val="000000"/>
              </a:solidFill>
              <a:latin typeface="Times New Roman"/>
            </a:endParaRPr>
          </a:p>
        </p:txBody>
      </p:sp>
      <p:sp>
        <p:nvSpPr>
          <p:cNvPr id="165" name=""/>
          <p:cNvSpPr txBox="1"/>
          <p:nvPr/>
        </p:nvSpPr>
        <p:spPr>
          <a:xfrm>
            <a:off x="925200" y="5114880"/>
            <a:ext cx="129240" cy="145080"/>
          </a:xfrm>
          <a:prstGeom prst="rect">
            <a:avLst/>
          </a:prstGeom>
          <a:noFill/>
          <a:ln w="0">
            <a:noFill/>
          </a:ln>
        </p:spPr>
        <p:txBody>
          <a:bodyPr wrap="none" lIns="0" rIns="0" tIns="0" bIns="0" anchor="t">
            <a:noAutofit/>
          </a:bodyPr>
          <a:p>
            <a:r>
              <a:rPr b="0" lang="en-US" sz="1020" spc="-1" strike="noStrike">
                <a:solidFill>
                  <a:srgbClr val="525b65"/>
                </a:solidFill>
                <a:latin typeface="Arial"/>
                <a:ea typeface="Arial"/>
              </a:rPr>
              <a:t>0</a:t>
            </a:r>
            <a:endParaRPr b="0" lang="en-US" sz="1020" spc="-1" strike="noStrike">
              <a:solidFill>
                <a:srgbClr val="000000"/>
              </a:solidFill>
              <a:latin typeface="Times New Roman"/>
            </a:endParaRPr>
          </a:p>
        </p:txBody>
      </p:sp>
      <p:sp>
        <p:nvSpPr>
          <p:cNvPr id="166" name=""/>
          <p:cNvSpPr/>
          <p:nvPr/>
        </p:nvSpPr>
        <p:spPr>
          <a:xfrm>
            <a:off x="1133640" y="4035960"/>
            <a:ext cx="7141680" cy="1440"/>
          </a:xfrm>
          <a:prstGeom prst="line">
            <a:avLst/>
          </a:prstGeom>
          <a:ln w="7560">
            <a:solidFill>
              <a:srgbClr val="ced4da"/>
            </a:solidFill>
            <a:round/>
          </a:ln>
        </p:spPr>
        <p:style>
          <a:lnRef idx="0"/>
          <a:fillRef idx="0"/>
          <a:effectRef idx="0"/>
          <a:fontRef idx="minor"/>
        </p:style>
        <p:txBody>
          <a:bodyPr lIns="3600" rIns="3600" tIns="-2160" bIns="-2160" anchor="t">
            <a:noAutofit/>
          </a:bodyPr>
          <a:p>
            <a:endParaRPr b="0" lang="en-US" sz="2400" spc="-1" strike="noStrike">
              <a:solidFill>
                <a:srgbClr val="000000"/>
              </a:solidFill>
              <a:latin typeface="Times New Roman"/>
            </a:endParaRPr>
          </a:p>
        </p:txBody>
      </p:sp>
      <p:sp>
        <p:nvSpPr>
          <p:cNvPr id="167" name=""/>
          <p:cNvSpPr txBox="1"/>
          <p:nvPr/>
        </p:nvSpPr>
        <p:spPr>
          <a:xfrm>
            <a:off x="853200" y="4536360"/>
            <a:ext cx="144000" cy="145080"/>
          </a:xfrm>
          <a:prstGeom prst="rect">
            <a:avLst/>
          </a:prstGeom>
          <a:noFill/>
          <a:ln w="0">
            <a:noFill/>
          </a:ln>
        </p:spPr>
        <p:txBody>
          <a:bodyPr wrap="none" lIns="0" rIns="0" tIns="0" bIns="0" anchor="t">
            <a:noAutofit/>
          </a:bodyPr>
          <a:p>
            <a:r>
              <a:rPr b="0" lang="en-US" sz="1020" spc="-1" strike="noStrike">
                <a:solidFill>
                  <a:srgbClr val="525b65"/>
                </a:solidFill>
                <a:latin typeface="Arial"/>
                <a:ea typeface="Arial"/>
              </a:rPr>
              <a:t>50</a:t>
            </a:r>
            <a:endParaRPr b="0" lang="en-US" sz="1020" spc="-1" strike="noStrike">
              <a:solidFill>
                <a:srgbClr val="000000"/>
              </a:solidFill>
              <a:latin typeface="Times New Roman"/>
            </a:endParaRPr>
          </a:p>
        </p:txBody>
      </p:sp>
      <p:sp>
        <p:nvSpPr>
          <p:cNvPr id="168" name=""/>
          <p:cNvSpPr/>
          <p:nvPr/>
        </p:nvSpPr>
        <p:spPr>
          <a:xfrm>
            <a:off x="1133640" y="3457800"/>
            <a:ext cx="7141320" cy="0"/>
          </a:xfrm>
          <a:prstGeom prst="line">
            <a:avLst/>
          </a:prstGeom>
          <a:ln w="7560">
            <a:solidFill>
              <a:srgbClr val="ced4da"/>
            </a:solidFill>
            <a:round/>
          </a:ln>
        </p:spPr>
        <p:style>
          <a:lnRef idx="0"/>
          <a:fillRef idx="0"/>
          <a:effectRef idx="0"/>
          <a:fontRef idx="minor"/>
        </p:style>
        <p:txBody>
          <a:bodyPr lIns="3600" rIns="3600" tIns="-3600" bIns="-3600" anchor="t">
            <a:noAutofit/>
          </a:bodyPr>
          <a:p>
            <a:endParaRPr b="0" lang="en-US" sz="2400" spc="-1" strike="noStrike">
              <a:solidFill>
                <a:srgbClr val="000000"/>
              </a:solidFill>
              <a:latin typeface="Times New Roman"/>
            </a:endParaRPr>
          </a:p>
        </p:txBody>
      </p:sp>
      <p:sp>
        <p:nvSpPr>
          <p:cNvPr id="169" name=""/>
          <p:cNvSpPr txBox="1"/>
          <p:nvPr/>
        </p:nvSpPr>
        <p:spPr>
          <a:xfrm>
            <a:off x="781200" y="3957840"/>
            <a:ext cx="215640" cy="145080"/>
          </a:xfrm>
          <a:prstGeom prst="rect">
            <a:avLst/>
          </a:prstGeom>
          <a:noFill/>
          <a:ln w="0">
            <a:noFill/>
          </a:ln>
        </p:spPr>
        <p:txBody>
          <a:bodyPr wrap="none" lIns="0" rIns="0" tIns="0" bIns="0" anchor="t">
            <a:noAutofit/>
          </a:bodyPr>
          <a:p>
            <a:r>
              <a:rPr b="0" lang="en-US" sz="1020" spc="-1" strike="noStrike">
                <a:solidFill>
                  <a:srgbClr val="525b65"/>
                </a:solidFill>
                <a:latin typeface="Arial"/>
                <a:ea typeface="Arial"/>
              </a:rPr>
              <a:t>100</a:t>
            </a:r>
            <a:endParaRPr b="0" lang="en-US" sz="1020" spc="-1" strike="noStrike">
              <a:solidFill>
                <a:srgbClr val="000000"/>
              </a:solidFill>
              <a:latin typeface="Times New Roman"/>
            </a:endParaRPr>
          </a:p>
        </p:txBody>
      </p:sp>
      <p:sp>
        <p:nvSpPr>
          <p:cNvPr id="170" name=""/>
          <p:cNvSpPr/>
          <p:nvPr/>
        </p:nvSpPr>
        <p:spPr>
          <a:xfrm>
            <a:off x="1133640" y="2879280"/>
            <a:ext cx="7141320" cy="0"/>
          </a:xfrm>
          <a:prstGeom prst="line">
            <a:avLst/>
          </a:prstGeom>
          <a:ln w="7560">
            <a:solidFill>
              <a:srgbClr val="ced4da"/>
            </a:solidFill>
            <a:round/>
          </a:ln>
        </p:spPr>
        <p:style>
          <a:lnRef idx="0"/>
          <a:fillRef idx="0"/>
          <a:effectRef idx="0"/>
          <a:fontRef idx="minor"/>
        </p:style>
        <p:txBody>
          <a:bodyPr lIns="3600" rIns="3600" tIns="-3600" bIns="-3600" anchor="t">
            <a:noAutofit/>
          </a:bodyPr>
          <a:p>
            <a:endParaRPr b="0" lang="en-US" sz="2400" spc="-1" strike="noStrike">
              <a:solidFill>
                <a:srgbClr val="000000"/>
              </a:solidFill>
              <a:latin typeface="Times New Roman"/>
            </a:endParaRPr>
          </a:p>
        </p:txBody>
      </p:sp>
      <p:sp>
        <p:nvSpPr>
          <p:cNvPr id="171" name=""/>
          <p:cNvSpPr txBox="1"/>
          <p:nvPr/>
        </p:nvSpPr>
        <p:spPr>
          <a:xfrm>
            <a:off x="781200" y="3378960"/>
            <a:ext cx="215640" cy="145080"/>
          </a:xfrm>
          <a:prstGeom prst="rect">
            <a:avLst/>
          </a:prstGeom>
          <a:noFill/>
          <a:ln w="0">
            <a:noFill/>
          </a:ln>
        </p:spPr>
        <p:txBody>
          <a:bodyPr wrap="none" lIns="0" rIns="0" tIns="0" bIns="0" anchor="t">
            <a:noAutofit/>
          </a:bodyPr>
          <a:p>
            <a:r>
              <a:rPr b="0" lang="en-US" sz="1020" spc="-1" strike="noStrike">
                <a:solidFill>
                  <a:srgbClr val="525b65"/>
                </a:solidFill>
                <a:latin typeface="Arial"/>
                <a:ea typeface="Arial"/>
              </a:rPr>
              <a:t>150</a:t>
            </a:r>
            <a:endParaRPr b="0" lang="en-US" sz="1020" spc="-1" strike="noStrike">
              <a:solidFill>
                <a:srgbClr val="000000"/>
              </a:solidFill>
              <a:latin typeface="Times New Roman"/>
            </a:endParaRPr>
          </a:p>
        </p:txBody>
      </p:sp>
      <p:sp>
        <p:nvSpPr>
          <p:cNvPr id="172" name=""/>
          <p:cNvSpPr/>
          <p:nvPr/>
        </p:nvSpPr>
        <p:spPr>
          <a:xfrm>
            <a:off x="1133640" y="2300400"/>
            <a:ext cx="7141680" cy="1440"/>
          </a:xfrm>
          <a:prstGeom prst="line">
            <a:avLst/>
          </a:prstGeom>
          <a:ln w="7560">
            <a:solidFill>
              <a:srgbClr val="ced4da"/>
            </a:solidFill>
            <a:round/>
          </a:ln>
        </p:spPr>
        <p:style>
          <a:lnRef idx="0"/>
          <a:fillRef idx="0"/>
          <a:effectRef idx="0"/>
          <a:fontRef idx="minor"/>
        </p:style>
        <p:txBody>
          <a:bodyPr lIns="3600" rIns="3600" tIns="-2160" bIns="-2160" anchor="t">
            <a:noAutofit/>
          </a:bodyPr>
          <a:p>
            <a:endParaRPr b="0" lang="en-US" sz="2400" spc="-1" strike="noStrike">
              <a:solidFill>
                <a:srgbClr val="000000"/>
              </a:solidFill>
              <a:latin typeface="Times New Roman"/>
            </a:endParaRPr>
          </a:p>
        </p:txBody>
      </p:sp>
      <p:sp>
        <p:nvSpPr>
          <p:cNvPr id="173" name=""/>
          <p:cNvSpPr txBox="1"/>
          <p:nvPr/>
        </p:nvSpPr>
        <p:spPr>
          <a:xfrm>
            <a:off x="781200" y="2800440"/>
            <a:ext cx="215640" cy="145080"/>
          </a:xfrm>
          <a:prstGeom prst="rect">
            <a:avLst/>
          </a:prstGeom>
          <a:noFill/>
          <a:ln w="0">
            <a:noFill/>
          </a:ln>
        </p:spPr>
        <p:txBody>
          <a:bodyPr wrap="none" lIns="0" rIns="0" tIns="0" bIns="0" anchor="t">
            <a:noAutofit/>
          </a:bodyPr>
          <a:p>
            <a:r>
              <a:rPr b="0" lang="en-US" sz="1020" spc="-1" strike="noStrike">
                <a:solidFill>
                  <a:srgbClr val="525b65"/>
                </a:solidFill>
                <a:latin typeface="Arial"/>
                <a:ea typeface="Arial"/>
              </a:rPr>
              <a:t>200</a:t>
            </a:r>
            <a:endParaRPr b="0" lang="en-US" sz="1020" spc="-1" strike="noStrike">
              <a:solidFill>
                <a:srgbClr val="000000"/>
              </a:solidFill>
              <a:latin typeface="Times New Roman"/>
            </a:endParaRPr>
          </a:p>
        </p:txBody>
      </p:sp>
      <p:sp>
        <p:nvSpPr>
          <p:cNvPr id="174" name=""/>
          <p:cNvSpPr txBox="1"/>
          <p:nvPr/>
        </p:nvSpPr>
        <p:spPr>
          <a:xfrm>
            <a:off x="781200" y="2221920"/>
            <a:ext cx="215640" cy="145080"/>
          </a:xfrm>
          <a:prstGeom prst="rect">
            <a:avLst/>
          </a:prstGeom>
          <a:noFill/>
          <a:ln w="0">
            <a:noFill/>
          </a:ln>
        </p:spPr>
        <p:txBody>
          <a:bodyPr wrap="none" lIns="0" rIns="0" tIns="0" bIns="0" anchor="t">
            <a:noAutofit/>
          </a:bodyPr>
          <a:p>
            <a:r>
              <a:rPr b="0" lang="en-US" sz="1020" spc="-1" strike="noStrike">
                <a:solidFill>
                  <a:srgbClr val="525b65"/>
                </a:solidFill>
                <a:latin typeface="Arial"/>
                <a:ea typeface="Arial"/>
              </a:rPr>
              <a:t>250</a:t>
            </a:r>
            <a:endParaRPr b="0" lang="en-US" sz="1020" spc="-1" strike="noStrike">
              <a:solidFill>
                <a:srgbClr val="000000"/>
              </a:solidFill>
              <a:latin typeface="Times New Roman"/>
            </a:endParaRPr>
          </a:p>
        </p:txBody>
      </p:sp>
      <p:sp>
        <p:nvSpPr>
          <p:cNvPr id="175" name=""/>
          <p:cNvSpPr/>
          <p:nvPr/>
        </p:nvSpPr>
        <p:spPr>
          <a:xfrm>
            <a:off x="1133640" y="2300400"/>
            <a:ext cx="7141680" cy="1440"/>
          </a:xfrm>
          <a:prstGeom prst="line">
            <a:avLst/>
          </a:prstGeom>
          <a:ln w="14400">
            <a:solidFill>
              <a:srgbClr val="b46339"/>
            </a:solidFill>
            <a:custDash>
              <a:ds d="407500" sp="305000"/>
            </a:custDash>
            <a:round/>
          </a:ln>
        </p:spPr>
        <p:style>
          <a:lnRef idx="0"/>
          <a:fillRef idx="0"/>
          <a:effectRef idx="0"/>
          <a:fontRef idx="minor"/>
        </p:style>
        <p:txBody>
          <a:bodyPr lIns="7200" rIns="7200" tIns="-5760" bIns="-5760" anchor="t">
            <a:noAutofit/>
          </a:bodyPr>
          <a:p>
            <a:endParaRPr b="0" lang="en-US" sz="2400" spc="-1" strike="noStrike">
              <a:solidFill>
                <a:srgbClr val="000000"/>
              </a:solidFill>
              <a:latin typeface="Times New Roman"/>
            </a:endParaRPr>
          </a:p>
        </p:txBody>
      </p:sp>
      <p:sp>
        <p:nvSpPr>
          <p:cNvPr id="176" name=""/>
          <p:cNvSpPr txBox="1"/>
          <p:nvPr/>
        </p:nvSpPr>
        <p:spPr>
          <a:xfrm>
            <a:off x="1124280" y="1850040"/>
            <a:ext cx="1137600" cy="155880"/>
          </a:xfrm>
          <a:prstGeom prst="rect">
            <a:avLst/>
          </a:prstGeom>
          <a:noFill/>
          <a:ln w="0">
            <a:noFill/>
          </a:ln>
        </p:spPr>
        <p:txBody>
          <a:bodyPr wrap="none" lIns="0" rIns="0" tIns="0" bIns="0" anchor="t">
            <a:noAutofit/>
          </a:bodyPr>
          <a:p>
            <a:r>
              <a:rPr b="1" lang="en-US" sz="1100" spc="-1" strike="noStrike">
                <a:solidFill>
                  <a:srgbClr val="525b65"/>
                </a:solidFill>
                <a:latin typeface="Arial"/>
                <a:ea typeface="Arial"/>
              </a:rPr>
              <a:t>PCIe Fmax (MHz)</a:t>
            </a:r>
            <a:endParaRPr b="0" lang="en-US" sz="1100" spc="-1" strike="noStrike">
              <a:solidFill>
                <a:srgbClr val="000000"/>
              </a:solidFill>
              <a:latin typeface="Times New Roman"/>
            </a:endParaRPr>
          </a:p>
        </p:txBody>
      </p:sp>
      <p:sp>
        <p:nvSpPr>
          <p:cNvPr id="177" name=""/>
          <p:cNvSpPr/>
          <p:nvPr/>
        </p:nvSpPr>
        <p:spPr>
          <a:xfrm flipV="1">
            <a:off x="1133640" y="3827880"/>
            <a:ext cx="1428840" cy="914760"/>
          </a:xfrm>
          <a:prstGeom prst="line">
            <a:avLst/>
          </a:prstGeom>
          <a:ln w="33120">
            <a:solidFill>
              <a:srgbClr val="284f78"/>
            </a:solidFill>
            <a:round/>
          </a:ln>
        </p:spPr>
        <p:style>
          <a:lnRef idx="0"/>
          <a:fillRef idx="0"/>
          <a:effectRef idx="0"/>
          <a:fontRef idx="minor"/>
        </p:style>
        <p:txBody>
          <a:bodyPr lIns="16560" rIns="16560" tIns="16560" bIns="16560" anchor="t">
            <a:noAutofit/>
          </a:bodyPr>
          <a:p>
            <a:endParaRPr b="0" lang="en-US" sz="2400" spc="-1" strike="noStrike">
              <a:solidFill>
                <a:srgbClr val="000000"/>
              </a:solidFill>
              <a:latin typeface="Times New Roman"/>
            </a:endParaRPr>
          </a:p>
        </p:txBody>
      </p:sp>
      <p:sp>
        <p:nvSpPr>
          <p:cNvPr id="178" name=""/>
          <p:cNvSpPr/>
          <p:nvPr/>
        </p:nvSpPr>
        <p:spPr>
          <a:xfrm>
            <a:off x="2562120" y="3827880"/>
            <a:ext cx="1428120" cy="799200"/>
          </a:xfrm>
          <a:prstGeom prst="line">
            <a:avLst/>
          </a:prstGeom>
          <a:ln w="33120">
            <a:solidFill>
              <a:srgbClr val="b46339"/>
            </a:solidFill>
            <a:round/>
          </a:ln>
        </p:spPr>
        <p:style>
          <a:lnRef idx="0"/>
          <a:fillRef idx="0"/>
          <a:effectRef idx="0"/>
          <a:fontRef idx="minor"/>
        </p:style>
        <p:txBody>
          <a:bodyPr lIns="16560" rIns="16560" tIns="16560" bIns="16560" anchor="t">
            <a:noAutofit/>
          </a:bodyPr>
          <a:p>
            <a:endParaRPr b="0" lang="en-US" sz="2400" spc="-1" strike="noStrike">
              <a:solidFill>
                <a:srgbClr val="000000"/>
              </a:solidFill>
              <a:latin typeface="Times New Roman"/>
            </a:endParaRPr>
          </a:p>
        </p:txBody>
      </p:sp>
      <p:sp>
        <p:nvSpPr>
          <p:cNvPr id="179" name=""/>
          <p:cNvSpPr/>
          <p:nvPr/>
        </p:nvSpPr>
        <p:spPr>
          <a:xfrm flipV="1">
            <a:off x="3989880" y="3492360"/>
            <a:ext cx="1429200" cy="1134720"/>
          </a:xfrm>
          <a:prstGeom prst="line">
            <a:avLst/>
          </a:prstGeom>
          <a:ln w="33120">
            <a:solidFill>
              <a:srgbClr val="284f78"/>
            </a:solidFill>
            <a:round/>
          </a:ln>
        </p:spPr>
        <p:style>
          <a:lnRef idx="0"/>
          <a:fillRef idx="0"/>
          <a:effectRef idx="0"/>
          <a:fontRef idx="minor"/>
        </p:style>
        <p:txBody>
          <a:bodyPr lIns="16560" rIns="16560" tIns="16560" bIns="16560" anchor="t">
            <a:noAutofit/>
          </a:bodyPr>
          <a:p>
            <a:endParaRPr b="0" lang="en-US" sz="2400" spc="-1" strike="noStrike">
              <a:solidFill>
                <a:srgbClr val="000000"/>
              </a:solidFill>
              <a:latin typeface="Times New Roman"/>
            </a:endParaRPr>
          </a:p>
        </p:txBody>
      </p:sp>
      <p:sp>
        <p:nvSpPr>
          <p:cNvPr id="180" name=""/>
          <p:cNvSpPr/>
          <p:nvPr/>
        </p:nvSpPr>
        <p:spPr>
          <a:xfrm flipV="1">
            <a:off x="5418720" y="2323440"/>
            <a:ext cx="1428120" cy="1169280"/>
          </a:xfrm>
          <a:prstGeom prst="line">
            <a:avLst/>
          </a:prstGeom>
          <a:ln w="33120">
            <a:solidFill>
              <a:srgbClr val="284f78"/>
            </a:solidFill>
            <a:round/>
          </a:ln>
        </p:spPr>
        <p:style>
          <a:lnRef idx="0"/>
          <a:fillRef idx="0"/>
          <a:effectRef idx="0"/>
          <a:fontRef idx="minor"/>
        </p:style>
        <p:txBody>
          <a:bodyPr lIns="16560" rIns="16560" tIns="16560" bIns="16560" anchor="t">
            <a:noAutofit/>
          </a:bodyPr>
          <a:p>
            <a:endParaRPr b="0" lang="en-US" sz="2400" spc="-1" strike="noStrike">
              <a:solidFill>
                <a:srgbClr val="000000"/>
              </a:solidFill>
              <a:latin typeface="Times New Roman"/>
            </a:endParaRPr>
          </a:p>
        </p:txBody>
      </p:sp>
      <p:sp>
        <p:nvSpPr>
          <p:cNvPr id="181" name=""/>
          <p:cNvSpPr/>
          <p:nvPr/>
        </p:nvSpPr>
        <p:spPr>
          <a:xfrm flipV="1">
            <a:off x="6846480" y="2242440"/>
            <a:ext cx="1428840" cy="81360"/>
          </a:xfrm>
          <a:prstGeom prst="line">
            <a:avLst/>
          </a:prstGeom>
          <a:ln w="33120">
            <a:solidFill>
              <a:srgbClr val="284f78"/>
            </a:solidFill>
            <a:round/>
          </a:ln>
        </p:spPr>
        <p:style>
          <a:lnRef idx="0"/>
          <a:fillRef idx="0"/>
          <a:effectRef idx="0"/>
          <a:fontRef idx="minor"/>
        </p:style>
        <p:txBody>
          <a:bodyPr lIns="16560" rIns="16560" tIns="16560" bIns="16560" anchor="t">
            <a:noAutofit/>
          </a:bodyPr>
          <a:p>
            <a:endParaRPr b="0" lang="en-US" sz="2400" spc="-1" strike="noStrike">
              <a:solidFill>
                <a:srgbClr val="000000"/>
              </a:solidFill>
              <a:latin typeface="Times New Roman"/>
            </a:endParaRPr>
          </a:p>
        </p:txBody>
      </p:sp>
      <p:sp>
        <p:nvSpPr>
          <p:cNvPr id="182" name=""/>
          <p:cNvSpPr/>
          <p:nvPr/>
        </p:nvSpPr>
        <p:spPr>
          <a:xfrm>
            <a:off x="1067760" y="4676040"/>
            <a:ext cx="131760" cy="132120"/>
          </a:xfrm>
          <a:custGeom>
            <a:avLst/>
            <a:gdLst/>
            <a:ahLst/>
            <a:rect l="0" t="0" r="r" b="b"/>
            <a:pathLst>
              <a:path w="366" h="367">
                <a:moveTo>
                  <a:pt x="0" y="185"/>
                </a:moveTo>
                <a:cubicBezTo>
                  <a:pt x="0" y="153"/>
                  <a:pt x="7" y="121"/>
                  <a:pt x="24" y="93"/>
                </a:cubicBezTo>
                <a:cubicBezTo>
                  <a:pt x="41" y="66"/>
                  <a:pt x="64" y="43"/>
                  <a:pt x="91" y="26"/>
                </a:cubicBezTo>
                <a:cubicBezTo>
                  <a:pt x="119" y="9"/>
                  <a:pt x="152" y="0"/>
                  <a:pt x="184" y="0"/>
                </a:cubicBezTo>
                <a:cubicBezTo>
                  <a:pt x="215" y="0"/>
                  <a:pt x="247" y="9"/>
                  <a:pt x="276" y="26"/>
                </a:cubicBezTo>
                <a:cubicBezTo>
                  <a:pt x="302" y="43"/>
                  <a:pt x="325" y="66"/>
                  <a:pt x="342" y="93"/>
                </a:cubicBezTo>
                <a:cubicBezTo>
                  <a:pt x="359" y="121"/>
                  <a:pt x="366" y="153"/>
                  <a:pt x="366" y="185"/>
                </a:cubicBezTo>
                <a:cubicBezTo>
                  <a:pt x="366" y="217"/>
                  <a:pt x="359" y="248"/>
                  <a:pt x="342" y="277"/>
                </a:cubicBezTo>
                <a:cubicBezTo>
                  <a:pt x="325" y="303"/>
                  <a:pt x="302" y="326"/>
                  <a:pt x="276" y="343"/>
                </a:cubicBezTo>
                <a:cubicBezTo>
                  <a:pt x="247" y="360"/>
                  <a:pt x="215" y="367"/>
                  <a:pt x="184" y="367"/>
                </a:cubicBezTo>
                <a:cubicBezTo>
                  <a:pt x="152" y="367"/>
                  <a:pt x="119" y="360"/>
                  <a:pt x="91" y="343"/>
                </a:cubicBezTo>
                <a:cubicBezTo>
                  <a:pt x="64" y="326"/>
                  <a:pt x="41" y="303"/>
                  <a:pt x="24" y="277"/>
                </a:cubicBezTo>
                <a:cubicBezTo>
                  <a:pt x="7" y="248"/>
                  <a:pt x="0" y="217"/>
                  <a:pt x="0" y="185"/>
                </a:cubicBezTo>
                <a:close/>
              </a:path>
            </a:pathLst>
          </a:custGeom>
          <a:solidFill>
            <a:srgbClr val="284f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83" name=""/>
          <p:cNvSpPr/>
          <p:nvPr/>
        </p:nvSpPr>
        <p:spPr>
          <a:xfrm>
            <a:off x="1067760" y="4676040"/>
            <a:ext cx="131760" cy="132120"/>
          </a:xfrm>
          <a:custGeom>
            <a:avLst/>
            <a:gdLst/>
            <a:ahLst/>
            <a:rect l="0" t="0" r="r" b="b"/>
            <a:pathLst>
              <a:path w="366" h="367">
                <a:moveTo>
                  <a:pt x="0" y="185"/>
                </a:moveTo>
                <a:cubicBezTo>
                  <a:pt x="0" y="153"/>
                  <a:pt x="7" y="121"/>
                  <a:pt x="24" y="93"/>
                </a:cubicBezTo>
                <a:cubicBezTo>
                  <a:pt x="41" y="66"/>
                  <a:pt x="64" y="43"/>
                  <a:pt x="91" y="26"/>
                </a:cubicBezTo>
                <a:cubicBezTo>
                  <a:pt x="119" y="9"/>
                  <a:pt x="152" y="0"/>
                  <a:pt x="184" y="0"/>
                </a:cubicBezTo>
                <a:cubicBezTo>
                  <a:pt x="215" y="0"/>
                  <a:pt x="247" y="9"/>
                  <a:pt x="276" y="26"/>
                </a:cubicBezTo>
                <a:cubicBezTo>
                  <a:pt x="302" y="43"/>
                  <a:pt x="325" y="66"/>
                  <a:pt x="342" y="93"/>
                </a:cubicBezTo>
                <a:cubicBezTo>
                  <a:pt x="359" y="121"/>
                  <a:pt x="366" y="153"/>
                  <a:pt x="366" y="185"/>
                </a:cubicBezTo>
                <a:cubicBezTo>
                  <a:pt x="366" y="217"/>
                  <a:pt x="359" y="248"/>
                  <a:pt x="342" y="277"/>
                </a:cubicBezTo>
                <a:cubicBezTo>
                  <a:pt x="325" y="303"/>
                  <a:pt x="302" y="326"/>
                  <a:pt x="276" y="343"/>
                </a:cubicBezTo>
                <a:cubicBezTo>
                  <a:pt x="247" y="360"/>
                  <a:pt x="215" y="367"/>
                  <a:pt x="184" y="367"/>
                </a:cubicBezTo>
                <a:cubicBezTo>
                  <a:pt x="152" y="367"/>
                  <a:pt x="119" y="360"/>
                  <a:pt x="91" y="343"/>
                </a:cubicBezTo>
                <a:cubicBezTo>
                  <a:pt x="64" y="326"/>
                  <a:pt x="41" y="303"/>
                  <a:pt x="24" y="277"/>
                </a:cubicBezTo>
                <a:cubicBezTo>
                  <a:pt x="7" y="248"/>
                  <a:pt x="0" y="217"/>
                  <a:pt x="0" y="185"/>
                </a:cubicBezTo>
                <a:close/>
              </a:path>
            </a:pathLst>
          </a:custGeom>
          <a:noFill/>
          <a:ln w="12240">
            <a:solidFill>
              <a:srgbClr val="284f78"/>
            </a:solidFill>
            <a:round/>
          </a:ln>
        </p:spPr>
        <p:txBody>
          <a:bodyPr lIns="6120" rIns="6120" tIns="6120" bIns="6120" anchor="t">
            <a:noAutofit/>
          </a:bodyPr>
          <a:p>
            <a:endParaRPr b="0" lang="en-US" sz="2400" spc="-1" strike="noStrike">
              <a:solidFill>
                <a:srgbClr val="000000"/>
              </a:solidFill>
              <a:latin typeface="Times New Roman"/>
            </a:endParaRPr>
          </a:p>
        </p:txBody>
      </p:sp>
      <p:sp>
        <p:nvSpPr>
          <p:cNvPr id="184" name=""/>
          <p:cNvSpPr txBox="1"/>
          <p:nvPr/>
        </p:nvSpPr>
        <p:spPr>
          <a:xfrm>
            <a:off x="1334880" y="2073600"/>
            <a:ext cx="906120" cy="148320"/>
          </a:xfrm>
          <a:prstGeom prst="rect">
            <a:avLst/>
          </a:prstGeom>
          <a:noFill/>
          <a:ln w="0">
            <a:noFill/>
          </a:ln>
        </p:spPr>
        <p:txBody>
          <a:bodyPr wrap="none" lIns="0" rIns="0" tIns="0" bIns="0" anchor="t">
            <a:noAutofit/>
          </a:bodyPr>
          <a:p>
            <a:r>
              <a:rPr b="0" lang="en-US" sz="1050" spc="-1" strike="noStrike">
                <a:solidFill>
                  <a:srgbClr val="b46339"/>
                </a:solidFill>
                <a:latin typeface="Arial"/>
                <a:ea typeface="Arial"/>
              </a:rPr>
              <a:t>250 MHz target</a:t>
            </a:r>
            <a:endParaRPr b="0" lang="en-US" sz="1050" spc="-1" strike="noStrike">
              <a:solidFill>
                <a:srgbClr val="000000"/>
              </a:solidFill>
              <a:latin typeface="Times New Roman"/>
            </a:endParaRPr>
          </a:p>
        </p:txBody>
      </p:sp>
      <p:sp>
        <p:nvSpPr>
          <p:cNvPr id="185" name=""/>
          <p:cNvSpPr txBox="1"/>
          <p:nvPr/>
        </p:nvSpPr>
        <p:spPr>
          <a:xfrm>
            <a:off x="1047240" y="4412880"/>
            <a:ext cx="172800" cy="174240"/>
          </a:xfrm>
          <a:prstGeom prst="rect">
            <a:avLst/>
          </a:prstGeom>
          <a:noFill/>
          <a:ln w="0">
            <a:noFill/>
          </a:ln>
        </p:spPr>
        <p:txBody>
          <a:bodyPr wrap="none" lIns="0" rIns="0" tIns="0" bIns="0" anchor="t">
            <a:noAutofit/>
          </a:bodyPr>
          <a:p>
            <a:r>
              <a:rPr b="1" lang="en-US" sz="1220" spc="-1" strike="noStrike">
                <a:solidFill>
                  <a:srgbClr val="20252c"/>
                </a:solidFill>
                <a:latin typeface="Arial"/>
                <a:ea typeface="Arial"/>
              </a:rPr>
              <a:t>39</a:t>
            </a:r>
            <a:endParaRPr b="0" lang="en-US" sz="1220" spc="-1" strike="noStrike">
              <a:solidFill>
                <a:srgbClr val="000000"/>
              </a:solidFill>
              <a:latin typeface="Times New Roman"/>
            </a:endParaRPr>
          </a:p>
        </p:txBody>
      </p:sp>
      <p:sp>
        <p:nvSpPr>
          <p:cNvPr id="186" name=""/>
          <p:cNvSpPr/>
          <p:nvPr/>
        </p:nvSpPr>
        <p:spPr>
          <a:xfrm>
            <a:off x="2495880" y="3762360"/>
            <a:ext cx="132120" cy="132120"/>
          </a:xfrm>
          <a:custGeom>
            <a:avLst/>
            <a:gdLst/>
            <a:ahLst/>
            <a:rect l="0" t="0" r="r" b="b"/>
            <a:pathLst>
              <a:path w="367" h="367">
                <a:moveTo>
                  <a:pt x="0" y="182"/>
                </a:moveTo>
                <a:cubicBezTo>
                  <a:pt x="0" y="150"/>
                  <a:pt x="8" y="118"/>
                  <a:pt x="25" y="92"/>
                </a:cubicBezTo>
                <a:cubicBezTo>
                  <a:pt x="40" y="64"/>
                  <a:pt x="63" y="40"/>
                  <a:pt x="92" y="24"/>
                </a:cubicBezTo>
                <a:cubicBezTo>
                  <a:pt x="118" y="8"/>
                  <a:pt x="150" y="0"/>
                  <a:pt x="182" y="0"/>
                </a:cubicBezTo>
                <a:cubicBezTo>
                  <a:pt x="215" y="0"/>
                  <a:pt x="248" y="8"/>
                  <a:pt x="275" y="24"/>
                </a:cubicBezTo>
                <a:cubicBezTo>
                  <a:pt x="303" y="40"/>
                  <a:pt x="326" y="64"/>
                  <a:pt x="341" y="92"/>
                </a:cubicBezTo>
                <a:cubicBezTo>
                  <a:pt x="358" y="118"/>
                  <a:pt x="367" y="150"/>
                  <a:pt x="367" y="182"/>
                </a:cubicBezTo>
                <a:cubicBezTo>
                  <a:pt x="367" y="214"/>
                  <a:pt x="358" y="246"/>
                  <a:pt x="341" y="274"/>
                </a:cubicBezTo>
                <a:cubicBezTo>
                  <a:pt x="326" y="301"/>
                  <a:pt x="303" y="324"/>
                  <a:pt x="275" y="341"/>
                </a:cubicBezTo>
                <a:cubicBezTo>
                  <a:pt x="248" y="359"/>
                  <a:pt x="215" y="367"/>
                  <a:pt x="182" y="367"/>
                </a:cubicBezTo>
                <a:cubicBezTo>
                  <a:pt x="150" y="367"/>
                  <a:pt x="118" y="359"/>
                  <a:pt x="92" y="341"/>
                </a:cubicBezTo>
                <a:cubicBezTo>
                  <a:pt x="63" y="324"/>
                  <a:pt x="40" y="301"/>
                  <a:pt x="25" y="274"/>
                </a:cubicBezTo>
                <a:cubicBezTo>
                  <a:pt x="8" y="246"/>
                  <a:pt x="0" y="214"/>
                  <a:pt x="0" y="182"/>
                </a:cubicBezTo>
                <a:close/>
              </a:path>
            </a:pathLst>
          </a:custGeom>
          <a:solidFill>
            <a:srgbClr val="284f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87" name=""/>
          <p:cNvSpPr/>
          <p:nvPr/>
        </p:nvSpPr>
        <p:spPr>
          <a:xfrm>
            <a:off x="2495880" y="3762360"/>
            <a:ext cx="132120" cy="132120"/>
          </a:xfrm>
          <a:custGeom>
            <a:avLst/>
            <a:gdLst/>
            <a:ahLst/>
            <a:rect l="0" t="0" r="r" b="b"/>
            <a:pathLst>
              <a:path w="367" h="367">
                <a:moveTo>
                  <a:pt x="0" y="182"/>
                </a:moveTo>
                <a:cubicBezTo>
                  <a:pt x="0" y="150"/>
                  <a:pt x="8" y="118"/>
                  <a:pt x="25" y="92"/>
                </a:cubicBezTo>
                <a:cubicBezTo>
                  <a:pt x="40" y="64"/>
                  <a:pt x="63" y="40"/>
                  <a:pt x="92" y="24"/>
                </a:cubicBezTo>
                <a:cubicBezTo>
                  <a:pt x="118" y="8"/>
                  <a:pt x="150" y="0"/>
                  <a:pt x="182" y="0"/>
                </a:cubicBezTo>
                <a:cubicBezTo>
                  <a:pt x="215" y="0"/>
                  <a:pt x="248" y="8"/>
                  <a:pt x="275" y="24"/>
                </a:cubicBezTo>
                <a:cubicBezTo>
                  <a:pt x="303" y="40"/>
                  <a:pt x="326" y="64"/>
                  <a:pt x="341" y="92"/>
                </a:cubicBezTo>
                <a:cubicBezTo>
                  <a:pt x="358" y="118"/>
                  <a:pt x="367" y="150"/>
                  <a:pt x="367" y="182"/>
                </a:cubicBezTo>
                <a:cubicBezTo>
                  <a:pt x="367" y="214"/>
                  <a:pt x="358" y="246"/>
                  <a:pt x="341" y="274"/>
                </a:cubicBezTo>
                <a:cubicBezTo>
                  <a:pt x="326" y="301"/>
                  <a:pt x="303" y="324"/>
                  <a:pt x="275" y="341"/>
                </a:cubicBezTo>
                <a:cubicBezTo>
                  <a:pt x="248" y="359"/>
                  <a:pt x="215" y="367"/>
                  <a:pt x="182" y="367"/>
                </a:cubicBezTo>
                <a:cubicBezTo>
                  <a:pt x="150" y="367"/>
                  <a:pt x="118" y="359"/>
                  <a:pt x="92" y="341"/>
                </a:cubicBezTo>
                <a:cubicBezTo>
                  <a:pt x="63" y="324"/>
                  <a:pt x="40" y="301"/>
                  <a:pt x="25" y="274"/>
                </a:cubicBezTo>
                <a:cubicBezTo>
                  <a:pt x="8" y="246"/>
                  <a:pt x="0" y="214"/>
                  <a:pt x="0" y="182"/>
                </a:cubicBezTo>
                <a:close/>
              </a:path>
            </a:pathLst>
          </a:custGeom>
          <a:noFill/>
          <a:ln w="12240">
            <a:solidFill>
              <a:srgbClr val="284f78"/>
            </a:solidFill>
            <a:round/>
          </a:ln>
        </p:spPr>
        <p:txBody>
          <a:bodyPr lIns="6120" rIns="6120" tIns="6120" bIns="6120" anchor="t">
            <a:noAutofit/>
          </a:bodyPr>
          <a:p>
            <a:endParaRPr b="0" lang="en-US" sz="2400" spc="-1" strike="noStrike">
              <a:solidFill>
                <a:srgbClr val="000000"/>
              </a:solidFill>
              <a:latin typeface="Times New Roman"/>
            </a:endParaRPr>
          </a:p>
        </p:txBody>
      </p:sp>
      <p:sp>
        <p:nvSpPr>
          <p:cNvPr id="188" name=""/>
          <p:cNvSpPr txBox="1"/>
          <p:nvPr/>
        </p:nvSpPr>
        <p:spPr>
          <a:xfrm>
            <a:off x="982080" y="5431680"/>
            <a:ext cx="313200" cy="151200"/>
          </a:xfrm>
          <a:prstGeom prst="rect">
            <a:avLst/>
          </a:prstGeom>
          <a:noFill/>
          <a:ln w="0">
            <a:noFill/>
          </a:ln>
        </p:spPr>
        <p:txBody>
          <a:bodyPr wrap="none" lIns="0" rIns="0" tIns="0" bIns="0" anchor="t">
            <a:noAutofit/>
          </a:bodyPr>
          <a:p>
            <a:r>
              <a:rPr b="0" lang="en-US" sz="1060" spc="-1" strike="noStrike">
                <a:solidFill>
                  <a:srgbClr val="525b65"/>
                </a:solidFill>
                <a:latin typeface="Arial"/>
                <a:ea typeface="Arial"/>
              </a:rPr>
              <a:t>Initial</a:t>
            </a:r>
            <a:endParaRPr b="0" lang="en-US" sz="1060" spc="-1" strike="noStrike">
              <a:solidFill>
                <a:srgbClr val="000000"/>
              </a:solidFill>
              <a:latin typeface="Times New Roman"/>
            </a:endParaRPr>
          </a:p>
        </p:txBody>
      </p:sp>
      <p:sp>
        <p:nvSpPr>
          <p:cNvPr id="189" name=""/>
          <p:cNvSpPr txBox="1"/>
          <p:nvPr/>
        </p:nvSpPr>
        <p:spPr>
          <a:xfrm>
            <a:off x="2436480" y="3498840"/>
            <a:ext cx="259920" cy="174240"/>
          </a:xfrm>
          <a:prstGeom prst="rect">
            <a:avLst/>
          </a:prstGeom>
          <a:noFill/>
          <a:ln w="0">
            <a:noFill/>
          </a:ln>
        </p:spPr>
        <p:txBody>
          <a:bodyPr wrap="none" lIns="0" rIns="0" tIns="0" bIns="0" anchor="t">
            <a:noAutofit/>
          </a:bodyPr>
          <a:p>
            <a:r>
              <a:rPr b="1" lang="en-US" sz="1220" spc="-1" strike="noStrike">
                <a:solidFill>
                  <a:srgbClr val="20252c"/>
                </a:solidFill>
                <a:latin typeface="Arial"/>
                <a:ea typeface="Arial"/>
              </a:rPr>
              <a:t>118</a:t>
            </a:r>
            <a:endParaRPr b="0" lang="en-US" sz="1220" spc="-1" strike="noStrike">
              <a:solidFill>
                <a:srgbClr val="000000"/>
              </a:solidFill>
              <a:latin typeface="Times New Roman"/>
            </a:endParaRPr>
          </a:p>
        </p:txBody>
      </p:sp>
      <p:sp>
        <p:nvSpPr>
          <p:cNvPr id="190" name=""/>
          <p:cNvSpPr txBox="1"/>
          <p:nvPr/>
        </p:nvSpPr>
        <p:spPr>
          <a:xfrm>
            <a:off x="2372760" y="5351040"/>
            <a:ext cx="387720" cy="151200"/>
          </a:xfrm>
          <a:prstGeom prst="rect">
            <a:avLst/>
          </a:prstGeom>
          <a:noFill/>
          <a:ln w="0">
            <a:noFill/>
          </a:ln>
        </p:spPr>
        <p:txBody>
          <a:bodyPr wrap="none" lIns="0" rIns="0" tIns="0" bIns="0" anchor="t">
            <a:noAutofit/>
          </a:bodyPr>
          <a:p>
            <a:r>
              <a:rPr b="0" lang="en-US" sz="1060" spc="-1" strike="noStrike">
                <a:solidFill>
                  <a:srgbClr val="525b65"/>
                </a:solidFill>
                <a:latin typeface="Arial"/>
                <a:ea typeface="Arial"/>
              </a:rPr>
              <a:t>Step 4</a:t>
            </a:r>
            <a:endParaRPr b="0" lang="en-US" sz="1060" spc="-1" strike="noStrike">
              <a:solidFill>
                <a:srgbClr val="000000"/>
              </a:solidFill>
              <a:latin typeface="Times New Roman"/>
            </a:endParaRPr>
          </a:p>
        </p:txBody>
      </p:sp>
      <p:sp>
        <p:nvSpPr>
          <p:cNvPr id="191" name=""/>
          <p:cNvSpPr/>
          <p:nvPr/>
        </p:nvSpPr>
        <p:spPr>
          <a:xfrm>
            <a:off x="3924360" y="4560480"/>
            <a:ext cx="132120" cy="132120"/>
          </a:xfrm>
          <a:custGeom>
            <a:avLst/>
            <a:gdLst/>
            <a:ahLst/>
            <a:rect l="0" t="0" r="r" b="b"/>
            <a:pathLst>
              <a:path w="367" h="367">
                <a:moveTo>
                  <a:pt x="0" y="182"/>
                </a:moveTo>
                <a:cubicBezTo>
                  <a:pt x="0" y="150"/>
                  <a:pt x="7" y="118"/>
                  <a:pt x="24" y="90"/>
                </a:cubicBezTo>
                <a:cubicBezTo>
                  <a:pt x="41" y="63"/>
                  <a:pt x="64" y="40"/>
                  <a:pt x="92" y="25"/>
                </a:cubicBezTo>
                <a:cubicBezTo>
                  <a:pt x="119" y="8"/>
                  <a:pt x="150" y="0"/>
                  <a:pt x="182" y="0"/>
                </a:cubicBezTo>
                <a:cubicBezTo>
                  <a:pt x="214" y="0"/>
                  <a:pt x="246" y="8"/>
                  <a:pt x="275" y="25"/>
                </a:cubicBezTo>
                <a:cubicBezTo>
                  <a:pt x="302" y="40"/>
                  <a:pt x="325" y="63"/>
                  <a:pt x="342" y="90"/>
                </a:cubicBezTo>
                <a:cubicBezTo>
                  <a:pt x="359" y="118"/>
                  <a:pt x="367" y="150"/>
                  <a:pt x="367" y="182"/>
                </a:cubicBezTo>
                <a:cubicBezTo>
                  <a:pt x="367" y="214"/>
                  <a:pt x="359" y="246"/>
                  <a:pt x="342" y="274"/>
                </a:cubicBezTo>
                <a:cubicBezTo>
                  <a:pt x="325" y="302"/>
                  <a:pt x="302" y="325"/>
                  <a:pt x="275" y="341"/>
                </a:cubicBezTo>
                <a:cubicBezTo>
                  <a:pt x="246" y="359"/>
                  <a:pt x="214" y="367"/>
                  <a:pt x="182" y="367"/>
                </a:cubicBezTo>
                <a:cubicBezTo>
                  <a:pt x="150" y="367"/>
                  <a:pt x="119" y="359"/>
                  <a:pt x="92" y="341"/>
                </a:cubicBezTo>
                <a:cubicBezTo>
                  <a:pt x="64" y="325"/>
                  <a:pt x="41" y="302"/>
                  <a:pt x="24" y="274"/>
                </a:cubicBezTo>
                <a:cubicBezTo>
                  <a:pt x="7" y="246"/>
                  <a:pt x="0" y="214"/>
                  <a:pt x="0" y="182"/>
                </a:cubicBezTo>
                <a:close/>
              </a:path>
            </a:pathLst>
          </a:custGeom>
          <a:solidFill>
            <a:srgbClr val="b46339"/>
          </a:solidFill>
          <a:ln w="0">
            <a:noFill/>
          </a:ln>
        </p:spPr>
        <p:txBody>
          <a:bodyPr lIns="0" rIns="0" tIns="0" bIns="0" anchor="t">
            <a:noAutofit/>
          </a:bodyPr>
          <a:p>
            <a:endParaRPr b="0" lang="en-US" sz="2400" spc="-1" strike="noStrike">
              <a:solidFill>
                <a:srgbClr val="ffffff"/>
              </a:solidFill>
              <a:latin typeface="Times New Roman"/>
            </a:endParaRPr>
          </a:p>
        </p:txBody>
      </p:sp>
      <p:sp>
        <p:nvSpPr>
          <p:cNvPr id="192" name=""/>
          <p:cNvSpPr/>
          <p:nvPr/>
        </p:nvSpPr>
        <p:spPr>
          <a:xfrm>
            <a:off x="3924360" y="4560480"/>
            <a:ext cx="132120" cy="132120"/>
          </a:xfrm>
          <a:custGeom>
            <a:avLst/>
            <a:gdLst/>
            <a:ahLst/>
            <a:rect l="0" t="0" r="r" b="b"/>
            <a:pathLst>
              <a:path w="367" h="367">
                <a:moveTo>
                  <a:pt x="0" y="182"/>
                </a:moveTo>
                <a:cubicBezTo>
                  <a:pt x="0" y="150"/>
                  <a:pt x="7" y="118"/>
                  <a:pt x="24" y="90"/>
                </a:cubicBezTo>
                <a:cubicBezTo>
                  <a:pt x="41" y="63"/>
                  <a:pt x="64" y="40"/>
                  <a:pt x="92" y="25"/>
                </a:cubicBezTo>
                <a:cubicBezTo>
                  <a:pt x="119" y="8"/>
                  <a:pt x="150" y="0"/>
                  <a:pt x="182" y="0"/>
                </a:cubicBezTo>
                <a:cubicBezTo>
                  <a:pt x="214" y="0"/>
                  <a:pt x="246" y="8"/>
                  <a:pt x="275" y="25"/>
                </a:cubicBezTo>
                <a:cubicBezTo>
                  <a:pt x="302" y="40"/>
                  <a:pt x="325" y="63"/>
                  <a:pt x="342" y="90"/>
                </a:cubicBezTo>
                <a:cubicBezTo>
                  <a:pt x="359" y="118"/>
                  <a:pt x="367" y="150"/>
                  <a:pt x="367" y="182"/>
                </a:cubicBezTo>
                <a:cubicBezTo>
                  <a:pt x="367" y="214"/>
                  <a:pt x="359" y="246"/>
                  <a:pt x="342" y="274"/>
                </a:cubicBezTo>
                <a:cubicBezTo>
                  <a:pt x="325" y="302"/>
                  <a:pt x="302" y="325"/>
                  <a:pt x="275" y="341"/>
                </a:cubicBezTo>
                <a:cubicBezTo>
                  <a:pt x="246" y="359"/>
                  <a:pt x="214" y="367"/>
                  <a:pt x="182" y="367"/>
                </a:cubicBezTo>
                <a:cubicBezTo>
                  <a:pt x="150" y="367"/>
                  <a:pt x="119" y="359"/>
                  <a:pt x="92" y="341"/>
                </a:cubicBezTo>
                <a:cubicBezTo>
                  <a:pt x="64" y="325"/>
                  <a:pt x="41" y="302"/>
                  <a:pt x="24" y="274"/>
                </a:cubicBezTo>
                <a:cubicBezTo>
                  <a:pt x="7" y="246"/>
                  <a:pt x="0" y="214"/>
                  <a:pt x="0" y="182"/>
                </a:cubicBezTo>
                <a:close/>
              </a:path>
            </a:pathLst>
          </a:custGeom>
          <a:noFill/>
          <a:ln w="12240">
            <a:solidFill>
              <a:srgbClr val="b46339"/>
            </a:solidFill>
            <a:round/>
          </a:ln>
        </p:spPr>
        <p:txBody>
          <a:bodyPr lIns="6120" rIns="6120" tIns="6120" bIns="6120" anchor="t">
            <a:noAutofit/>
          </a:bodyPr>
          <a:p>
            <a:endParaRPr b="0" lang="en-US" sz="2400" spc="-1" strike="noStrike">
              <a:solidFill>
                <a:srgbClr val="000000"/>
              </a:solidFill>
              <a:latin typeface="Times New Roman"/>
            </a:endParaRPr>
          </a:p>
        </p:txBody>
      </p:sp>
      <p:sp>
        <p:nvSpPr>
          <p:cNvPr id="193" name=""/>
          <p:cNvSpPr txBox="1"/>
          <p:nvPr/>
        </p:nvSpPr>
        <p:spPr>
          <a:xfrm>
            <a:off x="2421360" y="5512320"/>
            <a:ext cx="290160" cy="151200"/>
          </a:xfrm>
          <a:prstGeom prst="rect">
            <a:avLst/>
          </a:prstGeom>
          <a:noFill/>
          <a:ln w="0">
            <a:noFill/>
          </a:ln>
        </p:spPr>
        <p:txBody>
          <a:bodyPr wrap="none" lIns="0" rIns="0" tIns="0" bIns="0" anchor="t">
            <a:noAutofit/>
          </a:bodyPr>
          <a:p>
            <a:r>
              <a:rPr b="0" lang="en-US" sz="1060" spc="-1" strike="noStrike">
                <a:solidFill>
                  <a:srgbClr val="525b65"/>
                </a:solidFill>
                <a:latin typeface="Arial"/>
                <a:ea typeface="Arial"/>
              </a:rPr>
              <a:t>base</a:t>
            </a:r>
            <a:endParaRPr b="0" lang="en-US" sz="1060" spc="-1" strike="noStrike">
              <a:solidFill>
                <a:srgbClr val="000000"/>
              </a:solidFill>
              <a:latin typeface="Times New Roman"/>
            </a:endParaRPr>
          </a:p>
        </p:txBody>
      </p:sp>
      <p:sp>
        <p:nvSpPr>
          <p:cNvPr id="194" name=""/>
          <p:cNvSpPr txBox="1"/>
          <p:nvPr/>
        </p:nvSpPr>
        <p:spPr>
          <a:xfrm>
            <a:off x="3903840" y="4297320"/>
            <a:ext cx="172800" cy="174240"/>
          </a:xfrm>
          <a:prstGeom prst="rect">
            <a:avLst/>
          </a:prstGeom>
          <a:noFill/>
          <a:ln w="0">
            <a:noFill/>
          </a:ln>
        </p:spPr>
        <p:txBody>
          <a:bodyPr wrap="none" lIns="0" rIns="0" tIns="0" bIns="0" anchor="t">
            <a:noAutofit/>
          </a:bodyPr>
          <a:p>
            <a:r>
              <a:rPr b="1" lang="en-US" sz="1220" spc="-1" strike="noStrike">
                <a:solidFill>
                  <a:srgbClr val="b46339"/>
                </a:solidFill>
                <a:latin typeface="Arial"/>
                <a:ea typeface="Arial"/>
              </a:rPr>
              <a:t>49</a:t>
            </a:r>
            <a:endParaRPr b="0" lang="en-US" sz="1220" spc="-1" strike="noStrike">
              <a:solidFill>
                <a:srgbClr val="000000"/>
              </a:solidFill>
              <a:latin typeface="Times New Roman"/>
            </a:endParaRPr>
          </a:p>
        </p:txBody>
      </p:sp>
      <p:sp>
        <p:nvSpPr>
          <p:cNvPr id="195" name=""/>
          <p:cNvSpPr txBox="1"/>
          <p:nvPr/>
        </p:nvSpPr>
        <p:spPr>
          <a:xfrm>
            <a:off x="3826440" y="5351040"/>
            <a:ext cx="342000" cy="151200"/>
          </a:xfrm>
          <a:prstGeom prst="rect">
            <a:avLst/>
          </a:prstGeom>
          <a:noFill/>
          <a:ln w="0">
            <a:noFill/>
          </a:ln>
        </p:spPr>
        <p:txBody>
          <a:bodyPr wrap="none" lIns="0" rIns="0" tIns="0" bIns="0" anchor="t">
            <a:noAutofit/>
          </a:bodyPr>
          <a:p>
            <a:r>
              <a:rPr b="0" lang="en-US" sz="1060" spc="-1" strike="noStrike">
                <a:solidFill>
                  <a:srgbClr val="525b65"/>
                </a:solidFill>
                <a:latin typeface="Arial"/>
                <a:ea typeface="Arial"/>
              </a:rPr>
              <a:t>Wave</a:t>
            </a:r>
            <a:endParaRPr b="0" lang="en-US" sz="1060" spc="-1" strike="noStrike">
              <a:solidFill>
                <a:srgbClr val="000000"/>
              </a:solidFill>
              <a:latin typeface="Times New Roman"/>
            </a:endParaRPr>
          </a:p>
        </p:txBody>
      </p:sp>
      <p:sp>
        <p:nvSpPr>
          <p:cNvPr id="196" name=""/>
          <p:cNvSpPr/>
          <p:nvPr/>
        </p:nvSpPr>
        <p:spPr>
          <a:xfrm>
            <a:off x="5352120" y="3426480"/>
            <a:ext cx="132480" cy="131760"/>
          </a:xfrm>
          <a:custGeom>
            <a:avLst/>
            <a:gdLst/>
            <a:ahLst/>
            <a:rect l="0" t="0" r="r" b="b"/>
            <a:pathLst>
              <a:path w="368" h="366">
                <a:moveTo>
                  <a:pt x="0" y="184"/>
                </a:moveTo>
                <a:cubicBezTo>
                  <a:pt x="0" y="151"/>
                  <a:pt x="9" y="119"/>
                  <a:pt x="26" y="91"/>
                </a:cubicBezTo>
                <a:cubicBezTo>
                  <a:pt x="41" y="64"/>
                  <a:pt x="64" y="41"/>
                  <a:pt x="93" y="24"/>
                </a:cubicBezTo>
                <a:cubicBezTo>
                  <a:pt x="119" y="7"/>
                  <a:pt x="151" y="0"/>
                  <a:pt x="184" y="0"/>
                </a:cubicBezTo>
                <a:cubicBezTo>
                  <a:pt x="216" y="0"/>
                  <a:pt x="248" y="7"/>
                  <a:pt x="275" y="24"/>
                </a:cubicBezTo>
                <a:cubicBezTo>
                  <a:pt x="303" y="41"/>
                  <a:pt x="327" y="64"/>
                  <a:pt x="342" y="91"/>
                </a:cubicBezTo>
                <a:cubicBezTo>
                  <a:pt x="359" y="119"/>
                  <a:pt x="368" y="151"/>
                  <a:pt x="368" y="184"/>
                </a:cubicBezTo>
                <a:cubicBezTo>
                  <a:pt x="368" y="215"/>
                  <a:pt x="359" y="247"/>
                  <a:pt x="342" y="276"/>
                </a:cubicBezTo>
                <a:cubicBezTo>
                  <a:pt x="327" y="302"/>
                  <a:pt x="303" y="325"/>
                  <a:pt x="275" y="342"/>
                </a:cubicBezTo>
                <a:cubicBezTo>
                  <a:pt x="248" y="359"/>
                  <a:pt x="216" y="366"/>
                  <a:pt x="184" y="366"/>
                </a:cubicBezTo>
                <a:cubicBezTo>
                  <a:pt x="151" y="366"/>
                  <a:pt x="119" y="359"/>
                  <a:pt x="93" y="342"/>
                </a:cubicBezTo>
                <a:cubicBezTo>
                  <a:pt x="64" y="325"/>
                  <a:pt x="41" y="302"/>
                  <a:pt x="26" y="276"/>
                </a:cubicBezTo>
                <a:cubicBezTo>
                  <a:pt x="9" y="247"/>
                  <a:pt x="0" y="215"/>
                  <a:pt x="0" y="184"/>
                </a:cubicBezTo>
                <a:close/>
              </a:path>
            </a:pathLst>
          </a:custGeom>
          <a:solidFill>
            <a:srgbClr val="284f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197" name=""/>
          <p:cNvSpPr/>
          <p:nvPr/>
        </p:nvSpPr>
        <p:spPr>
          <a:xfrm>
            <a:off x="5352120" y="3426480"/>
            <a:ext cx="132480" cy="131760"/>
          </a:xfrm>
          <a:custGeom>
            <a:avLst/>
            <a:gdLst/>
            <a:ahLst/>
            <a:rect l="0" t="0" r="r" b="b"/>
            <a:pathLst>
              <a:path w="368" h="366">
                <a:moveTo>
                  <a:pt x="0" y="184"/>
                </a:moveTo>
                <a:cubicBezTo>
                  <a:pt x="0" y="151"/>
                  <a:pt x="9" y="119"/>
                  <a:pt x="26" y="91"/>
                </a:cubicBezTo>
                <a:cubicBezTo>
                  <a:pt x="41" y="64"/>
                  <a:pt x="64" y="41"/>
                  <a:pt x="93" y="24"/>
                </a:cubicBezTo>
                <a:cubicBezTo>
                  <a:pt x="119" y="7"/>
                  <a:pt x="151" y="0"/>
                  <a:pt x="184" y="0"/>
                </a:cubicBezTo>
                <a:cubicBezTo>
                  <a:pt x="216" y="0"/>
                  <a:pt x="248" y="7"/>
                  <a:pt x="275" y="24"/>
                </a:cubicBezTo>
                <a:cubicBezTo>
                  <a:pt x="303" y="41"/>
                  <a:pt x="327" y="64"/>
                  <a:pt x="342" y="91"/>
                </a:cubicBezTo>
                <a:cubicBezTo>
                  <a:pt x="359" y="119"/>
                  <a:pt x="368" y="151"/>
                  <a:pt x="368" y="184"/>
                </a:cubicBezTo>
                <a:cubicBezTo>
                  <a:pt x="368" y="215"/>
                  <a:pt x="359" y="247"/>
                  <a:pt x="342" y="276"/>
                </a:cubicBezTo>
                <a:cubicBezTo>
                  <a:pt x="327" y="302"/>
                  <a:pt x="303" y="325"/>
                  <a:pt x="275" y="342"/>
                </a:cubicBezTo>
                <a:cubicBezTo>
                  <a:pt x="248" y="359"/>
                  <a:pt x="216" y="366"/>
                  <a:pt x="184" y="366"/>
                </a:cubicBezTo>
                <a:cubicBezTo>
                  <a:pt x="151" y="366"/>
                  <a:pt x="119" y="359"/>
                  <a:pt x="93" y="342"/>
                </a:cubicBezTo>
                <a:cubicBezTo>
                  <a:pt x="64" y="325"/>
                  <a:pt x="41" y="302"/>
                  <a:pt x="26" y="276"/>
                </a:cubicBezTo>
                <a:cubicBezTo>
                  <a:pt x="9" y="247"/>
                  <a:pt x="0" y="215"/>
                  <a:pt x="0" y="184"/>
                </a:cubicBezTo>
                <a:close/>
              </a:path>
            </a:pathLst>
          </a:custGeom>
          <a:noFill/>
          <a:ln w="12240">
            <a:solidFill>
              <a:srgbClr val="284f78"/>
            </a:solidFill>
            <a:round/>
          </a:ln>
        </p:spPr>
        <p:txBody>
          <a:bodyPr lIns="6120" rIns="6120" tIns="6120" bIns="6120" anchor="t">
            <a:noAutofit/>
          </a:bodyPr>
          <a:p>
            <a:endParaRPr b="0" lang="en-US" sz="2400" spc="-1" strike="noStrike">
              <a:solidFill>
                <a:srgbClr val="000000"/>
              </a:solidFill>
              <a:latin typeface="Times New Roman"/>
            </a:endParaRPr>
          </a:p>
        </p:txBody>
      </p:sp>
      <p:sp>
        <p:nvSpPr>
          <p:cNvPr id="198" name=""/>
          <p:cNvSpPr txBox="1"/>
          <p:nvPr/>
        </p:nvSpPr>
        <p:spPr>
          <a:xfrm>
            <a:off x="3866400" y="5512320"/>
            <a:ext cx="256680" cy="151200"/>
          </a:xfrm>
          <a:prstGeom prst="rect">
            <a:avLst/>
          </a:prstGeom>
          <a:noFill/>
          <a:ln w="0">
            <a:noFill/>
          </a:ln>
        </p:spPr>
        <p:txBody>
          <a:bodyPr wrap="none" lIns="0" rIns="0" tIns="0" bIns="0" anchor="t">
            <a:noAutofit/>
          </a:bodyPr>
          <a:p>
            <a:r>
              <a:rPr b="0" lang="en-US" sz="1060" spc="-1" strike="noStrike">
                <a:solidFill>
                  <a:srgbClr val="525b65"/>
                </a:solidFill>
                <a:latin typeface="Arial"/>
                <a:ea typeface="Arial"/>
              </a:rPr>
              <a:t>A+B</a:t>
            </a:r>
            <a:endParaRPr b="0" lang="en-US" sz="1060" spc="-1" strike="noStrike">
              <a:solidFill>
                <a:srgbClr val="000000"/>
              </a:solidFill>
              <a:latin typeface="Times New Roman"/>
            </a:endParaRPr>
          </a:p>
        </p:txBody>
      </p:sp>
      <p:sp>
        <p:nvSpPr>
          <p:cNvPr id="199" name=""/>
          <p:cNvSpPr txBox="1"/>
          <p:nvPr/>
        </p:nvSpPr>
        <p:spPr>
          <a:xfrm>
            <a:off x="5288760" y="3163320"/>
            <a:ext cx="259920" cy="174240"/>
          </a:xfrm>
          <a:prstGeom prst="rect">
            <a:avLst/>
          </a:prstGeom>
          <a:noFill/>
          <a:ln w="0">
            <a:noFill/>
          </a:ln>
        </p:spPr>
        <p:txBody>
          <a:bodyPr wrap="none" lIns="0" rIns="0" tIns="0" bIns="0" anchor="t">
            <a:noAutofit/>
          </a:bodyPr>
          <a:p>
            <a:r>
              <a:rPr b="1" lang="en-US" sz="1220" spc="-1" strike="noStrike">
                <a:solidFill>
                  <a:srgbClr val="20252c"/>
                </a:solidFill>
                <a:latin typeface="Arial"/>
                <a:ea typeface="Arial"/>
              </a:rPr>
              <a:t>147</a:t>
            </a:r>
            <a:endParaRPr b="0" lang="en-US" sz="1220" spc="-1" strike="noStrike">
              <a:solidFill>
                <a:srgbClr val="000000"/>
              </a:solidFill>
              <a:latin typeface="Times New Roman"/>
            </a:endParaRPr>
          </a:p>
        </p:txBody>
      </p:sp>
      <p:sp>
        <p:nvSpPr>
          <p:cNvPr id="200" name=""/>
          <p:cNvSpPr/>
          <p:nvPr/>
        </p:nvSpPr>
        <p:spPr>
          <a:xfrm>
            <a:off x="6780960" y="2257920"/>
            <a:ext cx="132120" cy="132120"/>
          </a:xfrm>
          <a:custGeom>
            <a:avLst/>
            <a:gdLst/>
            <a:ahLst/>
            <a:rect l="0" t="0" r="r" b="b"/>
            <a:pathLst>
              <a:path w="367" h="367">
                <a:moveTo>
                  <a:pt x="0" y="183"/>
                </a:moveTo>
                <a:cubicBezTo>
                  <a:pt x="0" y="151"/>
                  <a:pt x="8" y="118"/>
                  <a:pt x="26" y="92"/>
                </a:cubicBezTo>
                <a:cubicBezTo>
                  <a:pt x="41" y="63"/>
                  <a:pt x="64" y="40"/>
                  <a:pt x="93" y="25"/>
                </a:cubicBezTo>
                <a:cubicBezTo>
                  <a:pt x="119" y="8"/>
                  <a:pt x="151" y="0"/>
                  <a:pt x="183" y="0"/>
                </a:cubicBezTo>
                <a:cubicBezTo>
                  <a:pt x="215" y="0"/>
                  <a:pt x="247" y="8"/>
                  <a:pt x="275" y="25"/>
                </a:cubicBezTo>
                <a:cubicBezTo>
                  <a:pt x="302" y="40"/>
                  <a:pt x="325" y="63"/>
                  <a:pt x="342" y="92"/>
                </a:cubicBezTo>
                <a:cubicBezTo>
                  <a:pt x="359" y="118"/>
                  <a:pt x="367" y="151"/>
                  <a:pt x="367" y="183"/>
                </a:cubicBezTo>
                <a:cubicBezTo>
                  <a:pt x="367" y="215"/>
                  <a:pt x="359" y="248"/>
                  <a:pt x="342" y="275"/>
                </a:cubicBezTo>
                <a:cubicBezTo>
                  <a:pt x="325" y="303"/>
                  <a:pt x="302" y="326"/>
                  <a:pt x="275" y="341"/>
                </a:cubicBezTo>
                <a:cubicBezTo>
                  <a:pt x="247" y="358"/>
                  <a:pt x="215" y="367"/>
                  <a:pt x="183" y="367"/>
                </a:cubicBezTo>
                <a:cubicBezTo>
                  <a:pt x="151" y="367"/>
                  <a:pt x="119" y="358"/>
                  <a:pt x="93" y="341"/>
                </a:cubicBezTo>
                <a:cubicBezTo>
                  <a:pt x="64" y="326"/>
                  <a:pt x="41" y="303"/>
                  <a:pt x="26" y="275"/>
                </a:cubicBezTo>
                <a:cubicBezTo>
                  <a:pt x="8" y="248"/>
                  <a:pt x="0" y="215"/>
                  <a:pt x="0" y="183"/>
                </a:cubicBezTo>
                <a:close/>
              </a:path>
            </a:pathLst>
          </a:custGeom>
          <a:solidFill>
            <a:srgbClr val="284f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01" name=""/>
          <p:cNvSpPr/>
          <p:nvPr/>
        </p:nvSpPr>
        <p:spPr>
          <a:xfrm>
            <a:off x="6780960" y="2257920"/>
            <a:ext cx="132120" cy="132120"/>
          </a:xfrm>
          <a:custGeom>
            <a:avLst/>
            <a:gdLst/>
            <a:ahLst/>
            <a:rect l="0" t="0" r="r" b="b"/>
            <a:pathLst>
              <a:path w="367" h="367">
                <a:moveTo>
                  <a:pt x="0" y="183"/>
                </a:moveTo>
                <a:cubicBezTo>
                  <a:pt x="0" y="151"/>
                  <a:pt x="8" y="118"/>
                  <a:pt x="26" y="92"/>
                </a:cubicBezTo>
                <a:cubicBezTo>
                  <a:pt x="41" y="63"/>
                  <a:pt x="64" y="40"/>
                  <a:pt x="93" y="25"/>
                </a:cubicBezTo>
                <a:cubicBezTo>
                  <a:pt x="119" y="8"/>
                  <a:pt x="151" y="0"/>
                  <a:pt x="183" y="0"/>
                </a:cubicBezTo>
                <a:cubicBezTo>
                  <a:pt x="215" y="0"/>
                  <a:pt x="247" y="8"/>
                  <a:pt x="275" y="25"/>
                </a:cubicBezTo>
                <a:cubicBezTo>
                  <a:pt x="302" y="40"/>
                  <a:pt x="325" y="63"/>
                  <a:pt x="342" y="92"/>
                </a:cubicBezTo>
                <a:cubicBezTo>
                  <a:pt x="359" y="118"/>
                  <a:pt x="367" y="151"/>
                  <a:pt x="367" y="183"/>
                </a:cubicBezTo>
                <a:cubicBezTo>
                  <a:pt x="367" y="215"/>
                  <a:pt x="359" y="248"/>
                  <a:pt x="342" y="275"/>
                </a:cubicBezTo>
                <a:cubicBezTo>
                  <a:pt x="325" y="303"/>
                  <a:pt x="302" y="326"/>
                  <a:pt x="275" y="341"/>
                </a:cubicBezTo>
                <a:cubicBezTo>
                  <a:pt x="247" y="358"/>
                  <a:pt x="215" y="367"/>
                  <a:pt x="183" y="367"/>
                </a:cubicBezTo>
                <a:cubicBezTo>
                  <a:pt x="151" y="367"/>
                  <a:pt x="119" y="358"/>
                  <a:pt x="93" y="341"/>
                </a:cubicBezTo>
                <a:cubicBezTo>
                  <a:pt x="64" y="326"/>
                  <a:pt x="41" y="303"/>
                  <a:pt x="26" y="275"/>
                </a:cubicBezTo>
                <a:cubicBezTo>
                  <a:pt x="8" y="248"/>
                  <a:pt x="0" y="215"/>
                  <a:pt x="0" y="183"/>
                </a:cubicBezTo>
                <a:close/>
              </a:path>
            </a:pathLst>
          </a:custGeom>
          <a:noFill/>
          <a:ln w="12240">
            <a:solidFill>
              <a:srgbClr val="284f78"/>
            </a:solidFill>
            <a:round/>
          </a:ln>
        </p:spPr>
        <p:txBody>
          <a:bodyPr lIns="6120" rIns="6120" tIns="6120" bIns="6120" anchor="t">
            <a:noAutofit/>
          </a:bodyPr>
          <a:p>
            <a:endParaRPr b="0" lang="en-US" sz="2400" spc="-1" strike="noStrike">
              <a:solidFill>
                <a:srgbClr val="000000"/>
              </a:solidFill>
              <a:latin typeface="Times New Roman"/>
            </a:endParaRPr>
          </a:p>
        </p:txBody>
      </p:sp>
      <p:sp>
        <p:nvSpPr>
          <p:cNvPr id="202" name=""/>
          <p:cNvSpPr txBox="1"/>
          <p:nvPr/>
        </p:nvSpPr>
        <p:spPr>
          <a:xfrm>
            <a:off x="5187240" y="5431680"/>
            <a:ext cx="476280" cy="151200"/>
          </a:xfrm>
          <a:prstGeom prst="rect">
            <a:avLst/>
          </a:prstGeom>
          <a:noFill/>
          <a:ln w="0">
            <a:noFill/>
          </a:ln>
        </p:spPr>
        <p:txBody>
          <a:bodyPr wrap="none" lIns="0" rIns="0" tIns="0" bIns="0" anchor="t">
            <a:noAutofit/>
          </a:bodyPr>
          <a:p>
            <a:r>
              <a:rPr b="0" lang="en-US" sz="1060" spc="-1" strike="noStrike">
                <a:solidFill>
                  <a:srgbClr val="525b65"/>
                </a:solidFill>
                <a:latin typeface="Arial"/>
                <a:ea typeface="Arial"/>
              </a:rPr>
              <a:t>Wave C</a:t>
            </a:r>
            <a:endParaRPr b="0" lang="en-US" sz="1060" spc="-1" strike="noStrike">
              <a:solidFill>
                <a:srgbClr val="000000"/>
              </a:solidFill>
              <a:latin typeface="Times New Roman"/>
            </a:endParaRPr>
          </a:p>
        </p:txBody>
      </p:sp>
      <p:sp>
        <p:nvSpPr>
          <p:cNvPr id="203" name=""/>
          <p:cNvSpPr txBox="1"/>
          <p:nvPr/>
        </p:nvSpPr>
        <p:spPr>
          <a:xfrm>
            <a:off x="6717240" y="1994400"/>
            <a:ext cx="259920" cy="174240"/>
          </a:xfrm>
          <a:prstGeom prst="rect">
            <a:avLst/>
          </a:prstGeom>
          <a:noFill/>
          <a:ln w="0">
            <a:noFill/>
          </a:ln>
        </p:spPr>
        <p:txBody>
          <a:bodyPr wrap="none" lIns="0" rIns="0" tIns="0" bIns="0" anchor="t">
            <a:noAutofit/>
          </a:bodyPr>
          <a:p>
            <a:r>
              <a:rPr b="1" lang="en-US" sz="1220" spc="-1" strike="noStrike">
                <a:solidFill>
                  <a:srgbClr val="20252c"/>
                </a:solidFill>
                <a:latin typeface="Arial"/>
                <a:ea typeface="Arial"/>
              </a:rPr>
              <a:t>248</a:t>
            </a:r>
            <a:endParaRPr b="0" lang="en-US" sz="1220" spc="-1" strike="noStrike">
              <a:solidFill>
                <a:srgbClr val="000000"/>
              </a:solidFill>
              <a:latin typeface="Times New Roman"/>
            </a:endParaRPr>
          </a:p>
        </p:txBody>
      </p:sp>
      <p:sp>
        <p:nvSpPr>
          <p:cNvPr id="204" name=""/>
          <p:cNvSpPr/>
          <p:nvPr/>
        </p:nvSpPr>
        <p:spPr>
          <a:xfrm>
            <a:off x="8208720" y="2176560"/>
            <a:ext cx="132120" cy="132480"/>
          </a:xfrm>
          <a:custGeom>
            <a:avLst/>
            <a:gdLst/>
            <a:ahLst/>
            <a:rect l="0" t="0" r="r" b="b"/>
            <a:pathLst>
              <a:path w="367" h="368">
                <a:moveTo>
                  <a:pt x="0" y="183"/>
                </a:moveTo>
                <a:cubicBezTo>
                  <a:pt x="0" y="151"/>
                  <a:pt x="8" y="119"/>
                  <a:pt x="26" y="93"/>
                </a:cubicBezTo>
                <a:cubicBezTo>
                  <a:pt x="41" y="64"/>
                  <a:pt x="64" y="41"/>
                  <a:pt x="93" y="26"/>
                </a:cubicBezTo>
                <a:cubicBezTo>
                  <a:pt x="120" y="9"/>
                  <a:pt x="153" y="0"/>
                  <a:pt x="185" y="0"/>
                </a:cubicBezTo>
                <a:cubicBezTo>
                  <a:pt x="217" y="0"/>
                  <a:pt x="249" y="9"/>
                  <a:pt x="277" y="26"/>
                </a:cubicBezTo>
                <a:cubicBezTo>
                  <a:pt x="304" y="41"/>
                  <a:pt x="327" y="64"/>
                  <a:pt x="342" y="93"/>
                </a:cubicBezTo>
                <a:cubicBezTo>
                  <a:pt x="359" y="119"/>
                  <a:pt x="367" y="151"/>
                  <a:pt x="367" y="183"/>
                </a:cubicBezTo>
                <a:cubicBezTo>
                  <a:pt x="367" y="216"/>
                  <a:pt x="359" y="248"/>
                  <a:pt x="342" y="275"/>
                </a:cubicBezTo>
                <a:cubicBezTo>
                  <a:pt x="327" y="303"/>
                  <a:pt x="304" y="326"/>
                  <a:pt x="277" y="341"/>
                </a:cubicBezTo>
                <a:cubicBezTo>
                  <a:pt x="249" y="358"/>
                  <a:pt x="217" y="368"/>
                  <a:pt x="185" y="368"/>
                </a:cubicBezTo>
                <a:cubicBezTo>
                  <a:pt x="153" y="368"/>
                  <a:pt x="120" y="358"/>
                  <a:pt x="93" y="341"/>
                </a:cubicBezTo>
                <a:cubicBezTo>
                  <a:pt x="64" y="326"/>
                  <a:pt x="41" y="303"/>
                  <a:pt x="26" y="275"/>
                </a:cubicBezTo>
                <a:cubicBezTo>
                  <a:pt x="8" y="248"/>
                  <a:pt x="0" y="216"/>
                  <a:pt x="0" y="183"/>
                </a:cubicBezTo>
                <a:close/>
              </a:path>
            </a:pathLst>
          </a:custGeom>
          <a:solidFill>
            <a:srgbClr val="284f78"/>
          </a:solidFill>
          <a:ln w="0">
            <a:noFill/>
          </a:ln>
        </p:spPr>
        <p:txBody>
          <a:bodyPr lIns="0" rIns="0" tIns="0" bIns="0" anchor="t">
            <a:noAutofit/>
          </a:bodyPr>
          <a:p>
            <a:endParaRPr b="0" lang="en-US" sz="2400" spc="-1" strike="noStrike">
              <a:solidFill>
                <a:srgbClr val="ffffff"/>
              </a:solidFill>
              <a:latin typeface="Times New Roman"/>
            </a:endParaRPr>
          </a:p>
        </p:txBody>
      </p:sp>
      <p:sp>
        <p:nvSpPr>
          <p:cNvPr id="205" name=""/>
          <p:cNvSpPr/>
          <p:nvPr/>
        </p:nvSpPr>
        <p:spPr>
          <a:xfrm>
            <a:off x="8208720" y="2176560"/>
            <a:ext cx="132120" cy="132480"/>
          </a:xfrm>
          <a:custGeom>
            <a:avLst/>
            <a:gdLst/>
            <a:ahLst/>
            <a:rect l="0" t="0" r="r" b="b"/>
            <a:pathLst>
              <a:path w="367" h="368">
                <a:moveTo>
                  <a:pt x="0" y="183"/>
                </a:moveTo>
                <a:cubicBezTo>
                  <a:pt x="0" y="151"/>
                  <a:pt x="8" y="119"/>
                  <a:pt x="26" y="93"/>
                </a:cubicBezTo>
                <a:cubicBezTo>
                  <a:pt x="41" y="64"/>
                  <a:pt x="64" y="41"/>
                  <a:pt x="93" y="26"/>
                </a:cubicBezTo>
                <a:cubicBezTo>
                  <a:pt x="120" y="9"/>
                  <a:pt x="153" y="0"/>
                  <a:pt x="185" y="0"/>
                </a:cubicBezTo>
                <a:cubicBezTo>
                  <a:pt x="217" y="0"/>
                  <a:pt x="249" y="9"/>
                  <a:pt x="277" y="26"/>
                </a:cubicBezTo>
                <a:cubicBezTo>
                  <a:pt x="304" y="41"/>
                  <a:pt x="327" y="64"/>
                  <a:pt x="342" y="93"/>
                </a:cubicBezTo>
                <a:cubicBezTo>
                  <a:pt x="359" y="119"/>
                  <a:pt x="367" y="151"/>
                  <a:pt x="367" y="183"/>
                </a:cubicBezTo>
                <a:cubicBezTo>
                  <a:pt x="367" y="216"/>
                  <a:pt x="359" y="248"/>
                  <a:pt x="342" y="275"/>
                </a:cubicBezTo>
                <a:cubicBezTo>
                  <a:pt x="327" y="303"/>
                  <a:pt x="304" y="326"/>
                  <a:pt x="277" y="341"/>
                </a:cubicBezTo>
                <a:cubicBezTo>
                  <a:pt x="249" y="358"/>
                  <a:pt x="217" y="368"/>
                  <a:pt x="185" y="368"/>
                </a:cubicBezTo>
                <a:cubicBezTo>
                  <a:pt x="153" y="368"/>
                  <a:pt x="120" y="358"/>
                  <a:pt x="93" y="341"/>
                </a:cubicBezTo>
                <a:cubicBezTo>
                  <a:pt x="64" y="326"/>
                  <a:pt x="41" y="303"/>
                  <a:pt x="26" y="275"/>
                </a:cubicBezTo>
                <a:cubicBezTo>
                  <a:pt x="8" y="248"/>
                  <a:pt x="0" y="216"/>
                  <a:pt x="0" y="183"/>
                </a:cubicBezTo>
                <a:close/>
              </a:path>
            </a:pathLst>
          </a:custGeom>
          <a:noFill/>
          <a:ln w="12240">
            <a:solidFill>
              <a:srgbClr val="284f78"/>
            </a:solidFill>
            <a:round/>
          </a:ln>
        </p:spPr>
        <p:txBody>
          <a:bodyPr lIns="6120" rIns="6120" tIns="6120" bIns="6120" anchor="t">
            <a:noAutofit/>
          </a:bodyPr>
          <a:p>
            <a:endParaRPr b="0" lang="en-US" sz="2400" spc="-1" strike="noStrike">
              <a:solidFill>
                <a:srgbClr val="000000"/>
              </a:solidFill>
              <a:latin typeface="Times New Roman"/>
            </a:endParaRPr>
          </a:p>
        </p:txBody>
      </p:sp>
      <p:sp>
        <p:nvSpPr>
          <p:cNvPr id="206" name=""/>
          <p:cNvSpPr txBox="1"/>
          <p:nvPr/>
        </p:nvSpPr>
        <p:spPr>
          <a:xfrm>
            <a:off x="6643080" y="5431680"/>
            <a:ext cx="416880" cy="151200"/>
          </a:xfrm>
          <a:prstGeom prst="rect">
            <a:avLst/>
          </a:prstGeom>
          <a:noFill/>
          <a:ln w="0">
            <a:noFill/>
          </a:ln>
        </p:spPr>
        <p:txBody>
          <a:bodyPr wrap="none" lIns="0" rIns="0" tIns="0" bIns="0" anchor="t">
            <a:noAutofit/>
          </a:bodyPr>
          <a:p>
            <a:r>
              <a:rPr b="0" lang="en-US" sz="1060" spc="-1" strike="noStrike">
                <a:solidFill>
                  <a:srgbClr val="525b65"/>
                </a:solidFill>
                <a:latin typeface="Arial"/>
                <a:ea typeface="Arial"/>
              </a:rPr>
              <a:t>Freeze</a:t>
            </a:r>
            <a:endParaRPr b="0" lang="en-US" sz="1060" spc="-1" strike="noStrike">
              <a:solidFill>
                <a:srgbClr val="000000"/>
              </a:solidFill>
              <a:latin typeface="Times New Roman"/>
            </a:endParaRPr>
          </a:p>
        </p:txBody>
      </p:sp>
      <p:sp>
        <p:nvSpPr>
          <p:cNvPr id="207" name=""/>
          <p:cNvSpPr txBox="1"/>
          <p:nvPr/>
        </p:nvSpPr>
        <p:spPr>
          <a:xfrm>
            <a:off x="8145360" y="1913400"/>
            <a:ext cx="259920" cy="174240"/>
          </a:xfrm>
          <a:prstGeom prst="rect">
            <a:avLst/>
          </a:prstGeom>
          <a:noFill/>
          <a:ln w="0">
            <a:noFill/>
          </a:ln>
        </p:spPr>
        <p:txBody>
          <a:bodyPr wrap="none" lIns="0" rIns="0" tIns="0" bIns="0" anchor="t">
            <a:noAutofit/>
          </a:bodyPr>
          <a:p>
            <a:r>
              <a:rPr b="1" lang="en-US" sz="1220" spc="-1" strike="noStrike">
                <a:solidFill>
                  <a:srgbClr val="20252c"/>
                </a:solidFill>
                <a:latin typeface="Arial"/>
                <a:ea typeface="Arial"/>
              </a:rPr>
              <a:t>255</a:t>
            </a:r>
            <a:endParaRPr b="0" lang="en-US" sz="1220" spc="-1" strike="noStrike">
              <a:solidFill>
                <a:srgbClr val="000000"/>
              </a:solidFill>
              <a:latin typeface="Times New Roman"/>
            </a:endParaRPr>
          </a:p>
        </p:txBody>
      </p:sp>
      <p:sp>
        <p:nvSpPr>
          <p:cNvPr id="208" name=""/>
          <p:cNvSpPr/>
          <p:nvPr/>
        </p:nvSpPr>
        <p:spPr>
          <a:xfrm>
            <a:off x="8677440" y="1929240"/>
            <a:ext cx="0" cy="3840480"/>
          </a:xfrm>
          <a:prstGeom prst="line">
            <a:avLst/>
          </a:prstGeom>
          <a:ln w="9720">
            <a:solidFill>
              <a:srgbClr val="ced4da"/>
            </a:solidFill>
            <a:round/>
          </a:ln>
        </p:spPr>
        <p:style>
          <a:lnRef idx="0"/>
          <a:fillRef idx="0"/>
          <a:effectRef idx="0"/>
          <a:fontRef idx="minor"/>
        </p:style>
        <p:txBody>
          <a:bodyPr lIns="4680" rIns="4680" tIns="4680" bIns="4680" anchor="t">
            <a:noAutofit/>
          </a:bodyPr>
          <a:p>
            <a:endParaRPr b="0" lang="en-US" sz="2400" spc="-1" strike="noStrike">
              <a:solidFill>
                <a:srgbClr val="000000"/>
              </a:solidFill>
              <a:latin typeface="Times New Roman"/>
            </a:endParaRPr>
          </a:p>
        </p:txBody>
      </p:sp>
      <p:sp>
        <p:nvSpPr>
          <p:cNvPr id="209" name=""/>
          <p:cNvSpPr txBox="1"/>
          <p:nvPr/>
        </p:nvSpPr>
        <p:spPr>
          <a:xfrm>
            <a:off x="8134560" y="5431680"/>
            <a:ext cx="290160" cy="151200"/>
          </a:xfrm>
          <a:prstGeom prst="rect">
            <a:avLst/>
          </a:prstGeom>
          <a:noFill/>
          <a:ln w="0">
            <a:noFill/>
          </a:ln>
        </p:spPr>
        <p:txBody>
          <a:bodyPr wrap="none" lIns="0" rIns="0" tIns="0" bIns="0" anchor="t">
            <a:noAutofit/>
          </a:bodyPr>
          <a:p>
            <a:r>
              <a:rPr b="0" lang="en-US" sz="1060" spc="-1" strike="noStrike">
                <a:solidFill>
                  <a:srgbClr val="525b65"/>
                </a:solidFill>
                <a:latin typeface="Arial"/>
                <a:ea typeface="Arial"/>
              </a:rPr>
              <a:t>Final</a:t>
            </a:r>
            <a:endParaRPr b="0" lang="en-US" sz="1060" spc="-1" strike="noStrike">
              <a:solidFill>
                <a:srgbClr val="000000"/>
              </a:solidFill>
              <a:latin typeface="Times New Roman"/>
            </a:endParaRPr>
          </a:p>
        </p:txBody>
      </p:sp>
      <p:sp>
        <p:nvSpPr>
          <p:cNvPr id="210" name=""/>
          <p:cNvSpPr txBox="1"/>
          <p:nvPr/>
        </p:nvSpPr>
        <p:spPr>
          <a:xfrm>
            <a:off x="8896680" y="2053800"/>
            <a:ext cx="2331000" cy="226080"/>
          </a:xfrm>
          <a:prstGeom prst="rect">
            <a:avLst/>
          </a:prstGeom>
          <a:noFill/>
          <a:ln w="0">
            <a:noFill/>
          </a:ln>
        </p:spPr>
        <p:txBody>
          <a:bodyPr wrap="none" lIns="0" rIns="0" tIns="0" bIns="0" anchor="t">
            <a:noAutofit/>
          </a:bodyPr>
          <a:p>
            <a:r>
              <a:rPr b="1" lang="en-US" sz="1600" spc="-1" strike="noStrike">
                <a:solidFill>
                  <a:srgbClr val="1d3859"/>
                </a:solidFill>
                <a:latin typeface="Arial"/>
                <a:ea typeface="Arial"/>
              </a:rPr>
              <a:t>What the timing reports </a:t>
            </a:r>
            <a:endParaRPr b="0" lang="en-US" sz="1600" spc="-1" strike="noStrike">
              <a:solidFill>
                <a:srgbClr val="000000"/>
              </a:solidFill>
              <a:latin typeface="Times New Roman"/>
            </a:endParaRPr>
          </a:p>
        </p:txBody>
      </p:sp>
      <p:sp>
        <p:nvSpPr>
          <p:cNvPr id="211" name=""/>
          <p:cNvSpPr txBox="1"/>
          <p:nvPr/>
        </p:nvSpPr>
        <p:spPr>
          <a:xfrm>
            <a:off x="8896680" y="2272680"/>
            <a:ext cx="755280" cy="226080"/>
          </a:xfrm>
          <a:prstGeom prst="rect">
            <a:avLst/>
          </a:prstGeom>
          <a:noFill/>
          <a:ln w="0">
            <a:noFill/>
          </a:ln>
        </p:spPr>
        <p:txBody>
          <a:bodyPr wrap="none" lIns="0" rIns="0" tIns="0" bIns="0" anchor="t">
            <a:noAutofit/>
          </a:bodyPr>
          <a:p>
            <a:r>
              <a:rPr b="1" lang="en-US" sz="1600" spc="-1" strike="noStrike">
                <a:solidFill>
                  <a:srgbClr val="1d3859"/>
                </a:solidFill>
                <a:latin typeface="Arial"/>
                <a:ea typeface="Arial"/>
              </a:rPr>
              <a:t>showed</a:t>
            </a:r>
            <a:endParaRPr b="0" lang="en-US" sz="1600" spc="-1" strike="noStrike">
              <a:solidFill>
                <a:srgbClr val="000000"/>
              </a:solidFill>
              <a:latin typeface="Times New Roman"/>
            </a:endParaRPr>
          </a:p>
        </p:txBody>
      </p:sp>
      <p:sp>
        <p:nvSpPr>
          <p:cNvPr id="212" name=""/>
          <p:cNvSpPr txBox="1"/>
          <p:nvPr/>
        </p:nvSpPr>
        <p:spPr>
          <a:xfrm>
            <a:off x="8897040" y="2697120"/>
            <a:ext cx="1270080" cy="212040"/>
          </a:xfrm>
          <a:prstGeom prst="rect">
            <a:avLst/>
          </a:prstGeom>
          <a:noFill/>
          <a:ln w="0">
            <a:noFill/>
          </a:ln>
        </p:spPr>
        <p:txBody>
          <a:bodyPr wrap="none" lIns="0" rIns="0" tIns="0" bIns="0" anchor="t">
            <a:noAutofit/>
          </a:bodyPr>
          <a:p>
            <a:r>
              <a:rPr b="1" lang="en-US" sz="1500" spc="-1" strike="noStrike">
                <a:solidFill>
                  <a:srgbClr val="b46339"/>
                </a:solidFill>
                <a:latin typeface="Arial"/>
                <a:ea typeface="Arial"/>
              </a:rPr>
              <a:t>118 → 49 MHz</a:t>
            </a:r>
            <a:endParaRPr b="0" lang="en-US" sz="1500" spc="-1" strike="noStrike">
              <a:solidFill>
                <a:srgbClr val="000000"/>
              </a:solidFill>
              <a:latin typeface="Times New Roman"/>
            </a:endParaRPr>
          </a:p>
        </p:txBody>
      </p:sp>
      <p:sp>
        <p:nvSpPr>
          <p:cNvPr id="213" name=""/>
          <p:cNvSpPr txBox="1"/>
          <p:nvPr/>
        </p:nvSpPr>
        <p:spPr>
          <a:xfrm>
            <a:off x="8906400" y="3042000"/>
            <a:ext cx="2469600" cy="180360"/>
          </a:xfrm>
          <a:prstGeom prst="rect">
            <a:avLst/>
          </a:prstGeom>
          <a:noFill/>
          <a:ln w="0">
            <a:noFill/>
          </a:ln>
        </p:spPr>
        <p:txBody>
          <a:bodyPr wrap="none" lIns="0" rIns="0" tIns="0" bIns="0" anchor="t">
            <a:noAutofit/>
          </a:bodyPr>
          <a:p>
            <a:r>
              <a:rPr b="0" lang="en-US" sz="1270" spc="-1" strike="noStrike">
                <a:solidFill>
                  <a:srgbClr val="20252c"/>
                </a:solidFill>
                <a:latin typeface="Arial"/>
                <a:ea typeface="Arial"/>
              </a:rPr>
              <a:t>Widening the datapath created an </a:t>
            </a:r>
            <a:endParaRPr b="0" lang="en-US" sz="1270" spc="-1" strike="noStrike">
              <a:solidFill>
                <a:srgbClr val="000000"/>
              </a:solidFill>
              <a:latin typeface="Times New Roman"/>
            </a:endParaRPr>
          </a:p>
        </p:txBody>
      </p:sp>
      <p:sp>
        <p:nvSpPr>
          <p:cNvPr id="214" name=""/>
          <p:cNvSpPr txBox="1"/>
          <p:nvPr/>
        </p:nvSpPr>
        <p:spPr>
          <a:xfrm>
            <a:off x="8906400" y="3236040"/>
            <a:ext cx="2361240" cy="180360"/>
          </a:xfrm>
          <a:prstGeom prst="rect">
            <a:avLst/>
          </a:prstGeom>
          <a:noFill/>
          <a:ln w="0">
            <a:noFill/>
          </a:ln>
        </p:spPr>
        <p:txBody>
          <a:bodyPr wrap="none" lIns="0" rIns="0" tIns="0" bIns="0" anchor="t">
            <a:noAutofit/>
          </a:bodyPr>
          <a:p>
            <a:r>
              <a:rPr b="0" lang="en-US" sz="1270" spc="-1" strike="noStrike">
                <a:solidFill>
                  <a:srgbClr val="20252c"/>
                </a:solidFill>
                <a:latin typeface="Arial"/>
                <a:ea typeface="Arial"/>
              </a:rPr>
              <a:t>unrolled 51-level CRC-64 critical </a:t>
            </a:r>
            <a:endParaRPr b="0" lang="en-US" sz="1270" spc="-1" strike="noStrike">
              <a:solidFill>
                <a:srgbClr val="000000"/>
              </a:solidFill>
              <a:latin typeface="Times New Roman"/>
            </a:endParaRPr>
          </a:p>
        </p:txBody>
      </p:sp>
      <p:sp>
        <p:nvSpPr>
          <p:cNvPr id="215" name=""/>
          <p:cNvSpPr txBox="1"/>
          <p:nvPr/>
        </p:nvSpPr>
        <p:spPr>
          <a:xfrm>
            <a:off x="8906400" y="3430080"/>
            <a:ext cx="358920" cy="180360"/>
          </a:xfrm>
          <a:prstGeom prst="rect">
            <a:avLst/>
          </a:prstGeom>
          <a:noFill/>
          <a:ln w="0">
            <a:noFill/>
          </a:ln>
        </p:spPr>
        <p:txBody>
          <a:bodyPr wrap="none" lIns="0" rIns="0" tIns="0" bIns="0" anchor="t">
            <a:noAutofit/>
          </a:bodyPr>
          <a:p>
            <a:r>
              <a:rPr b="0" lang="en-US" sz="1270" spc="-1" strike="noStrike">
                <a:solidFill>
                  <a:srgbClr val="20252c"/>
                </a:solidFill>
                <a:latin typeface="Arial"/>
                <a:ea typeface="Arial"/>
              </a:rPr>
              <a:t>path.</a:t>
            </a:r>
            <a:endParaRPr b="0" lang="en-US" sz="1270" spc="-1" strike="noStrike">
              <a:solidFill>
                <a:srgbClr val="000000"/>
              </a:solidFill>
              <a:latin typeface="Times New Roman"/>
            </a:endParaRPr>
          </a:p>
        </p:txBody>
      </p:sp>
      <p:sp>
        <p:nvSpPr>
          <p:cNvPr id="216" name=""/>
          <p:cNvSpPr txBox="1"/>
          <p:nvPr/>
        </p:nvSpPr>
        <p:spPr>
          <a:xfrm>
            <a:off x="8906040" y="4111200"/>
            <a:ext cx="768960" cy="191160"/>
          </a:xfrm>
          <a:prstGeom prst="rect">
            <a:avLst/>
          </a:prstGeom>
          <a:noFill/>
          <a:ln w="0">
            <a:noFill/>
          </a:ln>
        </p:spPr>
        <p:txBody>
          <a:bodyPr wrap="none" lIns="0" rIns="0" tIns="0" bIns="0" anchor="t">
            <a:noAutofit/>
          </a:bodyPr>
          <a:p>
            <a:r>
              <a:rPr b="1" lang="en-US" sz="1340" spc="-1" strike="noStrike">
                <a:solidFill>
                  <a:srgbClr val="1d3859"/>
                </a:solidFill>
                <a:latin typeface="Arial"/>
                <a:ea typeface="Arial"/>
              </a:rPr>
              <a:t>Recovery</a:t>
            </a:r>
            <a:endParaRPr b="0" lang="en-US" sz="1340" spc="-1" strike="noStrike">
              <a:solidFill>
                <a:srgbClr val="000000"/>
              </a:solidFill>
              <a:latin typeface="Times New Roman"/>
            </a:endParaRPr>
          </a:p>
        </p:txBody>
      </p:sp>
      <p:sp>
        <p:nvSpPr>
          <p:cNvPr id="217" name=""/>
          <p:cNvSpPr txBox="1"/>
          <p:nvPr/>
        </p:nvSpPr>
        <p:spPr>
          <a:xfrm>
            <a:off x="8906400" y="4449600"/>
            <a:ext cx="2320200" cy="175680"/>
          </a:xfrm>
          <a:prstGeom prst="rect">
            <a:avLst/>
          </a:prstGeom>
          <a:noFill/>
          <a:ln w="0">
            <a:noFill/>
          </a:ln>
        </p:spPr>
        <p:txBody>
          <a:bodyPr wrap="none" lIns="0" rIns="0" tIns="0" bIns="0" anchor="t">
            <a:noAutofit/>
          </a:bodyPr>
          <a:p>
            <a:r>
              <a:rPr b="0" lang="en-US" sz="1240" spc="-1" strike="noStrike">
                <a:solidFill>
                  <a:srgbClr val="20252c"/>
                </a:solidFill>
                <a:latin typeface="Arial"/>
                <a:ea typeface="Arial"/>
              </a:rPr>
              <a:t>Split CRC computation, constant-</a:t>
            </a:r>
            <a:endParaRPr b="0" lang="en-US" sz="1240" spc="-1" strike="noStrike">
              <a:solidFill>
                <a:srgbClr val="000000"/>
              </a:solidFill>
              <a:latin typeface="Times New Roman"/>
            </a:endParaRPr>
          </a:p>
        </p:txBody>
      </p:sp>
      <p:sp>
        <p:nvSpPr>
          <p:cNvPr id="218" name=""/>
          <p:cNvSpPr txBox="1"/>
          <p:nvPr/>
        </p:nvSpPr>
        <p:spPr>
          <a:xfrm>
            <a:off x="8906400" y="4637880"/>
            <a:ext cx="2172600" cy="175680"/>
          </a:xfrm>
          <a:prstGeom prst="rect">
            <a:avLst/>
          </a:prstGeom>
          <a:noFill/>
          <a:ln w="0">
            <a:noFill/>
          </a:ln>
        </p:spPr>
        <p:txBody>
          <a:bodyPr wrap="none" lIns="0" rIns="0" tIns="0" bIns="0" anchor="t">
            <a:noAutofit/>
          </a:bodyPr>
          <a:p>
            <a:r>
              <a:rPr b="0" lang="en-US" sz="1240" spc="-1" strike="noStrike">
                <a:solidFill>
                  <a:srgbClr val="20252c"/>
                </a:solidFill>
                <a:latin typeface="Arial"/>
                <a:ea typeface="Arial"/>
              </a:rPr>
              <a:t>mask XOR trees, pipelined RX </a:t>
            </a:r>
            <a:endParaRPr b="0" lang="en-US" sz="1240" spc="-1" strike="noStrike">
              <a:solidFill>
                <a:srgbClr val="000000"/>
              </a:solidFill>
              <a:latin typeface="Times New Roman"/>
            </a:endParaRPr>
          </a:p>
        </p:txBody>
      </p:sp>
      <p:sp>
        <p:nvSpPr>
          <p:cNvPr id="219" name=""/>
          <p:cNvSpPr txBox="1"/>
          <p:nvPr/>
        </p:nvSpPr>
        <p:spPr>
          <a:xfrm>
            <a:off x="8906400" y="4826160"/>
            <a:ext cx="1876680" cy="175680"/>
          </a:xfrm>
          <a:prstGeom prst="rect">
            <a:avLst/>
          </a:prstGeom>
          <a:noFill/>
          <a:ln w="0">
            <a:noFill/>
          </a:ln>
        </p:spPr>
        <p:txBody>
          <a:bodyPr wrap="none" lIns="0" rIns="0" tIns="0" bIns="0" anchor="t">
            <a:noAutofit/>
          </a:bodyPr>
          <a:p>
            <a:r>
              <a:rPr b="0" lang="en-US" sz="1240" spc="-1" strike="noStrike">
                <a:solidFill>
                  <a:srgbClr val="20252c"/>
                </a:solidFill>
                <a:latin typeface="Arial"/>
                <a:ea typeface="Arial"/>
              </a:rPr>
              <a:t>processing and decoupled </a:t>
            </a:r>
            <a:endParaRPr b="0" lang="en-US" sz="1240" spc="-1" strike="noStrike">
              <a:solidFill>
                <a:srgbClr val="000000"/>
              </a:solidFill>
              <a:latin typeface="Times New Roman"/>
            </a:endParaRPr>
          </a:p>
        </p:txBody>
      </p:sp>
      <p:sp>
        <p:nvSpPr>
          <p:cNvPr id="220" name=""/>
          <p:cNvSpPr txBox="1"/>
          <p:nvPr/>
        </p:nvSpPr>
        <p:spPr>
          <a:xfrm>
            <a:off x="8906400" y="5014440"/>
            <a:ext cx="1046160" cy="175680"/>
          </a:xfrm>
          <a:prstGeom prst="rect">
            <a:avLst/>
          </a:prstGeom>
          <a:noFill/>
          <a:ln w="0">
            <a:noFill/>
          </a:ln>
        </p:spPr>
        <p:txBody>
          <a:bodyPr wrap="none" lIns="0" rIns="0" tIns="0" bIns="0" anchor="t">
            <a:noAutofit/>
          </a:bodyPr>
          <a:p>
            <a:r>
              <a:rPr b="0" lang="en-US" sz="1240" spc="-1" strike="noStrike">
                <a:solidFill>
                  <a:srgbClr val="20252c"/>
                </a:solidFill>
                <a:latin typeface="Arial"/>
                <a:ea typeface="Arial"/>
              </a:rPr>
              <a:t>TREADY logic.</a:t>
            </a:r>
            <a:endParaRPr b="0" lang="en-US" sz="1240" spc="-1" strike="noStrike">
              <a:solidFill>
                <a:srgbClr val="000000"/>
              </a:solidFill>
              <a:latin typeface="Times New Roman"/>
            </a:endParaRPr>
          </a:p>
        </p:txBody>
      </p:sp>
      <p:sp>
        <p:nvSpPr>
          <p:cNvPr id="221" name=""/>
          <p:cNvSpPr txBox="1"/>
          <p:nvPr/>
        </p:nvSpPr>
        <p:spPr>
          <a:xfrm>
            <a:off x="1124280" y="5952600"/>
            <a:ext cx="960840" cy="207720"/>
          </a:xfrm>
          <a:prstGeom prst="rect">
            <a:avLst/>
          </a:prstGeom>
          <a:noFill/>
          <a:ln w="0">
            <a:noFill/>
          </a:ln>
        </p:spPr>
        <p:txBody>
          <a:bodyPr wrap="none" lIns="0" rIns="0" tIns="0" bIns="0" anchor="t">
            <a:noAutofit/>
          </a:bodyPr>
          <a:p>
            <a:r>
              <a:rPr b="1" lang="en-US" sz="1460" spc="-1" strike="noStrike">
                <a:solidFill>
                  <a:srgbClr val="1d3859"/>
                </a:solidFill>
                <a:latin typeface="Arial"/>
                <a:ea typeface="Arial"/>
              </a:rPr>
              <a:t>19,046 → 0</a:t>
            </a:r>
            <a:endParaRPr b="0" lang="en-US" sz="1460" spc="-1" strike="noStrike">
              <a:solidFill>
                <a:srgbClr val="000000"/>
              </a:solidFill>
              <a:latin typeface="Times New Roman"/>
            </a:endParaRPr>
          </a:p>
        </p:txBody>
      </p:sp>
      <p:sp>
        <p:nvSpPr>
          <p:cNvPr id="222" name=""/>
          <p:cNvSpPr txBox="1"/>
          <p:nvPr/>
        </p:nvSpPr>
        <p:spPr>
          <a:xfrm>
            <a:off x="3135960" y="5961960"/>
            <a:ext cx="2626560" cy="174240"/>
          </a:xfrm>
          <a:prstGeom prst="rect">
            <a:avLst/>
          </a:prstGeom>
          <a:noFill/>
          <a:ln w="0">
            <a:noFill/>
          </a:ln>
        </p:spPr>
        <p:txBody>
          <a:bodyPr wrap="none" lIns="0" rIns="0" tIns="0" bIns="0" anchor="t">
            <a:noAutofit/>
          </a:bodyPr>
          <a:p>
            <a:r>
              <a:rPr b="0" lang="en-US" sz="1220" spc="-1" strike="noStrike">
                <a:solidFill>
                  <a:srgbClr val="525b65"/>
                </a:solidFill>
                <a:latin typeface="Arial"/>
                <a:ea typeface="Arial"/>
              </a:rPr>
              <a:t>failing endpoints (Step 4 base → final)</a:t>
            </a:r>
            <a:endParaRPr b="0" lang="en-US" sz="122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2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225" name=""/>
          <p:cNvSpPr/>
          <p:nvPr/>
        </p:nvSpPr>
        <p:spPr>
          <a:xfrm>
            <a:off x="618840" y="466560"/>
            <a:ext cx="10954080" cy="9720"/>
          </a:xfrm>
          <a:custGeom>
            <a:avLst/>
            <a:gdLst/>
            <a:ahLst/>
            <a:rect l="0" t="0" r="r" b="b"/>
            <a:pathLst>
              <a:path w="30428" h="27">
                <a:moveTo>
                  <a:pt x="0" y="0"/>
                </a:moveTo>
                <a:lnTo>
                  <a:pt x="30428" y="0"/>
                </a:lnTo>
                <a:lnTo>
                  <a:pt x="30428" y="27"/>
                </a:lnTo>
                <a:lnTo>
                  <a:pt x="0" y="27"/>
                </a:lnTo>
                <a:lnTo>
                  <a:pt x="0" y="0"/>
                </a:lnTo>
                <a:close/>
              </a:path>
            </a:pathLst>
          </a:custGeom>
          <a:solidFill>
            <a:srgbClr val="dfe3e6"/>
          </a:solidFill>
          <a:ln w="0">
            <a:noFill/>
          </a:ln>
        </p:spPr>
        <p:txBody>
          <a:bodyPr lIns="0" rIns="0" tIns="0" bIns="0" anchor="t">
            <a:noAutofit/>
          </a:bodyPr>
          <a:p>
            <a:endParaRPr b="0" lang="en-US" sz="2400" spc="-1" strike="noStrike">
              <a:solidFill>
                <a:srgbClr val="000000"/>
              </a:solidFill>
              <a:latin typeface="Times New Roman"/>
            </a:endParaRPr>
          </a:p>
        </p:txBody>
      </p:sp>
      <p:sp>
        <p:nvSpPr>
          <p:cNvPr id="226" name=""/>
          <p:cNvSpPr txBox="1"/>
          <p:nvPr/>
        </p:nvSpPr>
        <p:spPr>
          <a:xfrm>
            <a:off x="619200" y="216000"/>
            <a:ext cx="1771560" cy="134640"/>
          </a:xfrm>
          <a:prstGeom prst="rect">
            <a:avLst/>
          </a:prstGeom>
          <a:noFill/>
          <a:ln w="0">
            <a:noFill/>
          </a:ln>
        </p:spPr>
        <p:txBody>
          <a:bodyPr wrap="none" lIns="0" rIns="0" tIns="0" bIns="0" anchor="t">
            <a:noAutofit/>
          </a:bodyPr>
          <a:p>
            <a:r>
              <a:rPr b="0" lang="en-US" sz="939" spc="-1" strike="noStrike">
                <a:solidFill>
                  <a:srgbClr val="525b65"/>
                </a:solidFill>
                <a:latin typeface="Arial"/>
                <a:ea typeface="Arial"/>
              </a:rPr>
              <a:t>RoboKnights  /  SARCathon 2026</a:t>
            </a:r>
            <a:endParaRPr b="0" lang="en-US" sz="939" spc="-1" strike="noStrike">
              <a:solidFill>
                <a:srgbClr val="000000"/>
              </a:solidFill>
              <a:latin typeface="Times New Roman"/>
            </a:endParaRPr>
          </a:p>
        </p:txBody>
      </p:sp>
      <p:sp>
        <p:nvSpPr>
          <p:cNvPr id="227" name=""/>
          <p:cNvSpPr txBox="1"/>
          <p:nvPr/>
        </p:nvSpPr>
        <p:spPr>
          <a:xfrm>
            <a:off x="11421360" y="216000"/>
            <a:ext cx="131760" cy="134640"/>
          </a:xfrm>
          <a:prstGeom prst="rect">
            <a:avLst/>
          </a:prstGeom>
          <a:noFill/>
          <a:ln w="0">
            <a:noFill/>
          </a:ln>
        </p:spPr>
        <p:txBody>
          <a:bodyPr wrap="none" lIns="0" rIns="0" tIns="0" bIns="0" anchor="t">
            <a:noAutofit/>
          </a:bodyPr>
          <a:p>
            <a:r>
              <a:rPr b="0" lang="en-US" sz="939" spc="-1" strike="noStrike">
                <a:solidFill>
                  <a:srgbClr val="525b65"/>
                </a:solidFill>
                <a:latin typeface="Arial"/>
                <a:ea typeface="Arial"/>
              </a:rPr>
              <a:t>06</a:t>
            </a:r>
            <a:endParaRPr b="0" lang="en-US" sz="939" spc="-1" strike="noStrike">
              <a:solidFill>
                <a:srgbClr val="000000"/>
              </a:solidFill>
              <a:latin typeface="Times New Roman"/>
            </a:endParaRPr>
          </a:p>
        </p:txBody>
      </p:sp>
      <p:sp>
        <p:nvSpPr>
          <p:cNvPr id="228" name=""/>
          <p:cNvSpPr txBox="1"/>
          <p:nvPr/>
        </p:nvSpPr>
        <p:spPr>
          <a:xfrm>
            <a:off x="638280" y="723600"/>
            <a:ext cx="5406480" cy="387360"/>
          </a:xfrm>
          <a:prstGeom prst="rect">
            <a:avLst/>
          </a:prstGeom>
          <a:noFill/>
          <a:ln w="0">
            <a:noFill/>
          </a:ln>
        </p:spPr>
        <p:txBody>
          <a:bodyPr wrap="none" lIns="0" rIns="0" tIns="0" bIns="0" anchor="t">
            <a:noAutofit/>
          </a:bodyPr>
          <a:p>
            <a:r>
              <a:rPr b="1" lang="en-US" sz="2740" spc="-1" strike="noStrike">
                <a:solidFill>
                  <a:srgbClr val="20252c"/>
                </a:solidFill>
                <a:latin typeface="Arial"/>
                <a:ea typeface="Arial"/>
              </a:rPr>
              <a:t>RTL changes that mattered most</a:t>
            </a:r>
            <a:endParaRPr b="0" lang="en-US" sz="2740" spc="-1" strike="noStrike">
              <a:solidFill>
                <a:srgbClr val="000000"/>
              </a:solidFill>
              <a:latin typeface="Times New Roman"/>
            </a:endParaRPr>
          </a:p>
        </p:txBody>
      </p:sp>
      <p:sp>
        <p:nvSpPr>
          <p:cNvPr id="229" name=""/>
          <p:cNvSpPr/>
          <p:nvPr/>
        </p:nvSpPr>
        <p:spPr>
          <a:xfrm>
            <a:off x="704520" y="1838160"/>
            <a:ext cx="2686680" cy="410040"/>
          </a:xfrm>
          <a:custGeom>
            <a:avLst/>
            <a:gdLst/>
            <a:ahLst/>
            <a:rect l="0" t="0" r="r" b="b"/>
            <a:pathLst>
              <a:path w="7463" h="1139">
                <a:moveTo>
                  <a:pt x="0" y="0"/>
                </a:moveTo>
                <a:lnTo>
                  <a:pt x="7463" y="0"/>
                </a:lnTo>
                <a:lnTo>
                  <a:pt x="7463" y="1139"/>
                </a:lnTo>
                <a:lnTo>
                  <a:pt x="0" y="1139"/>
                </a:lnTo>
                <a:lnTo>
                  <a:pt x="0" y="0"/>
                </a:lnTo>
                <a:close/>
              </a:path>
            </a:pathLst>
          </a:custGeom>
          <a:solidFill>
            <a:srgbClr val="f4f5f6"/>
          </a:solidFill>
          <a:ln w="0">
            <a:noFill/>
          </a:ln>
        </p:spPr>
        <p:txBody>
          <a:bodyPr lIns="0" rIns="0" tIns="0" bIns="0" anchor="t">
            <a:noAutofit/>
          </a:bodyPr>
          <a:p>
            <a:endParaRPr b="0" lang="en-US" sz="2400" spc="-1" strike="noStrike">
              <a:solidFill>
                <a:srgbClr val="000000"/>
              </a:solidFill>
              <a:latin typeface="Times New Roman"/>
            </a:endParaRPr>
          </a:p>
        </p:txBody>
      </p:sp>
      <p:sp>
        <p:nvSpPr>
          <p:cNvPr id="230" name=""/>
          <p:cNvSpPr/>
          <p:nvPr/>
        </p:nvSpPr>
        <p:spPr>
          <a:xfrm>
            <a:off x="3390840" y="1838160"/>
            <a:ext cx="4476960" cy="410040"/>
          </a:xfrm>
          <a:custGeom>
            <a:avLst/>
            <a:gdLst/>
            <a:ahLst/>
            <a:rect l="0" t="0" r="r" b="b"/>
            <a:pathLst>
              <a:path w="12436" h="1139">
                <a:moveTo>
                  <a:pt x="0" y="0"/>
                </a:moveTo>
                <a:lnTo>
                  <a:pt x="12436" y="0"/>
                </a:lnTo>
                <a:lnTo>
                  <a:pt x="12436" y="1139"/>
                </a:lnTo>
                <a:lnTo>
                  <a:pt x="0" y="1139"/>
                </a:lnTo>
                <a:lnTo>
                  <a:pt x="0" y="0"/>
                </a:lnTo>
                <a:close/>
              </a:path>
            </a:pathLst>
          </a:custGeom>
          <a:solidFill>
            <a:srgbClr val="f4f5f6"/>
          </a:solidFill>
          <a:ln w="0">
            <a:noFill/>
          </a:ln>
        </p:spPr>
        <p:txBody>
          <a:bodyPr lIns="0" rIns="0" tIns="0" bIns="0" anchor="t">
            <a:noAutofit/>
          </a:bodyPr>
          <a:p>
            <a:endParaRPr b="0" lang="en-US" sz="2400" spc="-1" strike="noStrike">
              <a:solidFill>
                <a:srgbClr val="000000"/>
              </a:solidFill>
              <a:latin typeface="Times New Roman"/>
            </a:endParaRPr>
          </a:p>
        </p:txBody>
      </p:sp>
      <p:sp>
        <p:nvSpPr>
          <p:cNvPr id="231" name=""/>
          <p:cNvSpPr/>
          <p:nvPr/>
        </p:nvSpPr>
        <p:spPr>
          <a:xfrm>
            <a:off x="7867440" y="1838160"/>
            <a:ext cx="3762720" cy="410040"/>
          </a:xfrm>
          <a:custGeom>
            <a:avLst/>
            <a:gdLst/>
            <a:ahLst/>
            <a:rect l="0" t="0" r="r" b="b"/>
            <a:pathLst>
              <a:path w="10452" h="1139">
                <a:moveTo>
                  <a:pt x="0" y="0"/>
                </a:moveTo>
                <a:lnTo>
                  <a:pt x="10452" y="0"/>
                </a:lnTo>
                <a:lnTo>
                  <a:pt x="10452" y="1139"/>
                </a:lnTo>
                <a:lnTo>
                  <a:pt x="0" y="1139"/>
                </a:lnTo>
                <a:lnTo>
                  <a:pt x="0" y="0"/>
                </a:lnTo>
                <a:close/>
              </a:path>
            </a:pathLst>
          </a:custGeom>
          <a:solidFill>
            <a:srgbClr val="f4f5f6"/>
          </a:solidFill>
          <a:ln w="0">
            <a:noFill/>
          </a:ln>
        </p:spPr>
        <p:txBody>
          <a:bodyPr lIns="0" rIns="0" tIns="0" bIns="0" anchor="t">
            <a:noAutofit/>
          </a:bodyPr>
          <a:p>
            <a:endParaRPr b="0" lang="en-US" sz="2400" spc="-1" strike="noStrike">
              <a:solidFill>
                <a:srgbClr val="000000"/>
              </a:solidFill>
              <a:latin typeface="Times New Roman"/>
            </a:endParaRPr>
          </a:p>
        </p:txBody>
      </p:sp>
      <p:sp>
        <p:nvSpPr>
          <p:cNvPr id="232" name=""/>
          <p:cNvSpPr/>
          <p:nvPr/>
        </p:nvSpPr>
        <p:spPr>
          <a:xfrm>
            <a:off x="704520" y="2247840"/>
            <a:ext cx="2686680" cy="667080"/>
          </a:xfrm>
          <a:custGeom>
            <a:avLst/>
            <a:gdLst/>
            <a:ahLst/>
            <a:rect l="0" t="0" r="r" b="b"/>
            <a:pathLst>
              <a:path w="7463" h="1853">
                <a:moveTo>
                  <a:pt x="0" y="0"/>
                </a:moveTo>
                <a:lnTo>
                  <a:pt x="7463" y="0"/>
                </a:lnTo>
                <a:lnTo>
                  <a:pt x="7463" y="1853"/>
                </a:lnTo>
                <a:lnTo>
                  <a:pt x="0" y="1853"/>
                </a:lnTo>
                <a:lnTo>
                  <a:pt x="0" y="0"/>
                </a:lnTo>
                <a:close/>
              </a:path>
            </a:pathLst>
          </a:custGeom>
          <a:solidFill>
            <a:srgbClr val="fafaf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33" name=""/>
          <p:cNvSpPr/>
          <p:nvPr/>
        </p:nvSpPr>
        <p:spPr>
          <a:xfrm>
            <a:off x="3390840" y="2247840"/>
            <a:ext cx="4476960" cy="667080"/>
          </a:xfrm>
          <a:custGeom>
            <a:avLst/>
            <a:gdLst/>
            <a:ahLst/>
            <a:rect l="0" t="0" r="r" b="b"/>
            <a:pathLst>
              <a:path w="12436" h="1853">
                <a:moveTo>
                  <a:pt x="0" y="0"/>
                </a:moveTo>
                <a:lnTo>
                  <a:pt x="12436" y="0"/>
                </a:lnTo>
                <a:lnTo>
                  <a:pt x="12436" y="1853"/>
                </a:lnTo>
                <a:lnTo>
                  <a:pt x="0" y="1853"/>
                </a:lnTo>
                <a:lnTo>
                  <a:pt x="0" y="0"/>
                </a:lnTo>
                <a:close/>
              </a:path>
            </a:pathLst>
          </a:custGeom>
          <a:solidFill>
            <a:srgbClr val="fafaf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34" name=""/>
          <p:cNvSpPr/>
          <p:nvPr/>
        </p:nvSpPr>
        <p:spPr>
          <a:xfrm>
            <a:off x="7867440" y="2247840"/>
            <a:ext cx="3762720" cy="667080"/>
          </a:xfrm>
          <a:custGeom>
            <a:avLst/>
            <a:gdLst/>
            <a:ahLst/>
            <a:rect l="0" t="0" r="r" b="b"/>
            <a:pathLst>
              <a:path w="10452" h="1853">
                <a:moveTo>
                  <a:pt x="0" y="0"/>
                </a:moveTo>
                <a:lnTo>
                  <a:pt x="10452" y="0"/>
                </a:lnTo>
                <a:lnTo>
                  <a:pt x="10452" y="1853"/>
                </a:lnTo>
                <a:lnTo>
                  <a:pt x="0" y="1853"/>
                </a:lnTo>
                <a:lnTo>
                  <a:pt x="0" y="0"/>
                </a:lnTo>
                <a:close/>
              </a:path>
            </a:pathLst>
          </a:custGeom>
          <a:solidFill>
            <a:srgbClr val="fafaf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35" name=""/>
          <p:cNvSpPr/>
          <p:nvPr/>
        </p:nvSpPr>
        <p:spPr>
          <a:xfrm>
            <a:off x="704520" y="3581280"/>
            <a:ext cx="2686680" cy="667080"/>
          </a:xfrm>
          <a:custGeom>
            <a:avLst/>
            <a:gdLst/>
            <a:ahLst/>
            <a:rect l="0" t="0" r="r" b="b"/>
            <a:pathLst>
              <a:path w="7463" h="1853">
                <a:moveTo>
                  <a:pt x="0" y="0"/>
                </a:moveTo>
                <a:lnTo>
                  <a:pt x="7463" y="0"/>
                </a:lnTo>
                <a:lnTo>
                  <a:pt x="7463" y="1853"/>
                </a:lnTo>
                <a:lnTo>
                  <a:pt x="0" y="1853"/>
                </a:lnTo>
                <a:lnTo>
                  <a:pt x="0" y="0"/>
                </a:lnTo>
                <a:close/>
              </a:path>
            </a:pathLst>
          </a:custGeom>
          <a:solidFill>
            <a:srgbClr val="fafaf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36" name=""/>
          <p:cNvSpPr/>
          <p:nvPr/>
        </p:nvSpPr>
        <p:spPr>
          <a:xfrm>
            <a:off x="3390840" y="3581280"/>
            <a:ext cx="4476960" cy="667080"/>
          </a:xfrm>
          <a:custGeom>
            <a:avLst/>
            <a:gdLst/>
            <a:ahLst/>
            <a:rect l="0" t="0" r="r" b="b"/>
            <a:pathLst>
              <a:path w="12436" h="1853">
                <a:moveTo>
                  <a:pt x="0" y="0"/>
                </a:moveTo>
                <a:lnTo>
                  <a:pt x="12436" y="0"/>
                </a:lnTo>
                <a:lnTo>
                  <a:pt x="12436" y="1853"/>
                </a:lnTo>
                <a:lnTo>
                  <a:pt x="0" y="1853"/>
                </a:lnTo>
                <a:lnTo>
                  <a:pt x="0" y="0"/>
                </a:lnTo>
                <a:close/>
              </a:path>
            </a:pathLst>
          </a:custGeom>
          <a:solidFill>
            <a:srgbClr val="fafaf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37" name=""/>
          <p:cNvSpPr/>
          <p:nvPr/>
        </p:nvSpPr>
        <p:spPr>
          <a:xfrm>
            <a:off x="7867440" y="3581280"/>
            <a:ext cx="3762720" cy="667080"/>
          </a:xfrm>
          <a:custGeom>
            <a:avLst/>
            <a:gdLst/>
            <a:ahLst/>
            <a:rect l="0" t="0" r="r" b="b"/>
            <a:pathLst>
              <a:path w="10452" h="1853">
                <a:moveTo>
                  <a:pt x="0" y="0"/>
                </a:moveTo>
                <a:lnTo>
                  <a:pt x="10452" y="0"/>
                </a:lnTo>
                <a:lnTo>
                  <a:pt x="10452" y="1853"/>
                </a:lnTo>
                <a:lnTo>
                  <a:pt x="0" y="1853"/>
                </a:lnTo>
                <a:lnTo>
                  <a:pt x="0" y="0"/>
                </a:lnTo>
                <a:close/>
              </a:path>
            </a:pathLst>
          </a:custGeom>
          <a:solidFill>
            <a:srgbClr val="fafaf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38" name=""/>
          <p:cNvSpPr/>
          <p:nvPr/>
        </p:nvSpPr>
        <p:spPr>
          <a:xfrm>
            <a:off x="704520" y="4914720"/>
            <a:ext cx="2686680" cy="810000"/>
          </a:xfrm>
          <a:custGeom>
            <a:avLst/>
            <a:gdLst/>
            <a:ahLst/>
            <a:rect l="0" t="0" r="r" b="b"/>
            <a:pathLst>
              <a:path w="7463" h="2250">
                <a:moveTo>
                  <a:pt x="0" y="0"/>
                </a:moveTo>
                <a:lnTo>
                  <a:pt x="7463" y="0"/>
                </a:lnTo>
                <a:lnTo>
                  <a:pt x="7463" y="2250"/>
                </a:lnTo>
                <a:lnTo>
                  <a:pt x="0" y="2250"/>
                </a:lnTo>
                <a:lnTo>
                  <a:pt x="0" y="0"/>
                </a:lnTo>
                <a:close/>
              </a:path>
            </a:pathLst>
          </a:custGeom>
          <a:solidFill>
            <a:srgbClr val="fafaf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39" name=""/>
          <p:cNvSpPr/>
          <p:nvPr/>
        </p:nvSpPr>
        <p:spPr>
          <a:xfrm>
            <a:off x="3390840" y="4914720"/>
            <a:ext cx="4476960" cy="810000"/>
          </a:xfrm>
          <a:custGeom>
            <a:avLst/>
            <a:gdLst/>
            <a:ahLst/>
            <a:rect l="0" t="0" r="r" b="b"/>
            <a:pathLst>
              <a:path w="12436" h="2250">
                <a:moveTo>
                  <a:pt x="0" y="0"/>
                </a:moveTo>
                <a:lnTo>
                  <a:pt x="12436" y="0"/>
                </a:lnTo>
                <a:lnTo>
                  <a:pt x="12436" y="2250"/>
                </a:lnTo>
                <a:lnTo>
                  <a:pt x="0" y="2250"/>
                </a:lnTo>
                <a:lnTo>
                  <a:pt x="0" y="0"/>
                </a:lnTo>
                <a:close/>
              </a:path>
            </a:pathLst>
          </a:custGeom>
          <a:solidFill>
            <a:srgbClr val="fafaf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0" name=""/>
          <p:cNvSpPr/>
          <p:nvPr/>
        </p:nvSpPr>
        <p:spPr>
          <a:xfrm>
            <a:off x="7867440" y="4914720"/>
            <a:ext cx="3762720" cy="810000"/>
          </a:xfrm>
          <a:custGeom>
            <a:avLst/>
            <a:gdLst/>
            <a:ahLst/>
            <a:rect l="0" t="0" r="r" b="b"/>
            <a:pathLst>
              <a:path w="10452" h="2250">
                <a:moveTo>
                  <a:pt x="0" y="0"/>
                </a:moveTo>
                <a:lnTo>
                  <a:pt x="10452" y="0"/>
                </a:lnTo>
                <a:lnTo>
                  <a:pt x="10452" y="2250"/>
                </a:lnTo>
                <a:lnTo>
                  <a:pt x="0" y="2250"/>
                </a:lnTo>
                <a:lnTo>
                  <a:pt x="0" y="0"/>
                </a:lnTo>
                <a:close/>
              </a:path>
            </a:pathLst>
          </a:custGeom>
          <a:solidFill>
            <a:srgbClr val="fafaf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1" name=""/>
          <p:cNvSpPr/>
          <p:nvPr/>
        </p:nvSpPr>
        <p:spPr>
          <a:xfrm>
            <a:off x="695160" y="1828440"/>
            <a:ext cx="9720" cy="419760"/>
          </a:xfrm>
          <a:custGeom>
            <a:avLst/>
            <a:gdLst/>
            <a:ahLst/>
            <a:rect l="0" t="0" r="r" b="b"/>
            <a:pathLst>
              <a:path w="27" h="1166">
                <a:moveTo>
                  <a:pt x="0" y="0"/>
                </a:moveTo>
                <a:lnTo>
                  <a:pt x="27" y="0"/>
                </a:lnTo>
                <a:lnTo>
                  <a:pt x="27" y="1166"/>
                </a:lnTo>
                <a:lnTo>
                  <a:pt x="0" y="1166"/>
                </a:lnTo>
                <a:lnTo>
                  <a:pt x="0" y="0"/>
                </a:lnTo>
                <a:close/>
              </a:path>
            </a:pathLst>
          </a:custGeom>
          <a:solidFill>
            <a:srgbClr val="ced4d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2" name=""/>
          <p:cNvSpPr/>
          <p:nvPr/>
        </p:nvSpPr>
        <p:spPr>
          <a:xfrm>
            <a:off x="695160" y="1828440"/>
            <a:ext cx="2696040" cy="10080"/>
          </a:xfrm>
          <a:custGeom>
            <a:avLst/>
            <a:gdLst/>
            <a:ahLst/>
            <a:rect l="0" t="0" r="r" b="b"/>
            <a:pathLst>
              <a:path w="7489" h="28">
                <a:moveTo>
                  <a:pt x="0" y="0"/>
                </a:moveTo>
                <a:lnTo>
                  <a:pt x="7489" y="0"/>
                </a:lnTo>
                <a:lnTo>
                  <a:pt x="7489" y="28"/>
                </a:lnTo>
                <a:lnTo>
                  <a:pt x="0" y="28"/>
                </a:lnTo>
                <a:lnTo>
                  <a:pt x="0" y="0"/>
                </a:lnTo>
                <a:close/>
              </a:path>
            </a:pathLst>
          </a:custGeom>
          <a:solidFill>
            <a:srgbClr val="ced4d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3" name=""/>
          <p:cNvSpPr/>
          <p:nvPr/>
        </p:nvSpPr>
        <p:spPr>
          <a:xfrm>
            <a:off x="3390840" y="1828440"/>
            <a:ext cx="4476960" cy="10080"/>
          </a:xfrm>
          <a:custGeom>
            <a:avLst/>
            <a:gdLst/>
            <a:ahLst/>
            <a:rect l="0" t="0" r="r" b="b"/>
            <a:pathLst>
              <a:path w="12436" h="28">
                <a:moveTo>
                  <a:pt x="0" y="0"/>
                </a:moveTo>
                <a:lnTo>
                  <a:pt x="12436" y="0"/>
                </a:lnTo>
                <a:lnTo>
                  <a:pt x="12436" y="28"/>
                </a:lnTo>
                <a:lnTo>
                  <a:pt x="0" y="28"/>
                </a:lnTo>
                <a:lnTo>
                  <a:pt x="0" y="0"/>
                </a:lnTo>
                <a:close/>
              </a:path>
            </a:pathLst>
          </a:custGeom>
          <a:solidFill>
            <a:srgbClr val="ced4d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4" name=""/>
          <p:cNvSpPr/>
          <p:nvPr/>
        </p:nvSpPr>
        <p:spPr>
          <a:xfrm>
            <a:off x="7867440" y="1828440"/>
            <a:ext cx="3762720" cy="10080"/>
          </a:xfrm>
          <a:custGeom>
            <a:avLst/>
            <a:gdLst/>
            <a:ahLst/>
            <a:rect l="0" t="0" r="r" b="b"/>
            <a:pathLst>
              <a:path w="10452" h="28">
                <a:moveTo>
                  <a:pt x="0" y="0"/>
                </a:moveTo>
                <a:lnTo>
                  <a:pt x="10452" y="0"/>
                </a:lnTo>
                <a:lnTo>
                  <a:pt x="10452" y="28"/>
                </a:lnTo>
                <a:lnTo>
                  <a:pt x="0" y="28"/>
                </a:lnTo>
                <a:lnTo>
                  <a:pt x="0" y="0"/>
                </a:lnTo>
                <a:close/>
              </a:path>
            </a:pathLst>
          </a:custGeom>
          <a:solidFill>
            <a:srgbClr val="ced4d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5" name=""/>
          <p:cNvSpPr/>
          <p:nvPr/>
        </p:nvSpPr>
        <p:spPr>
          <a:xfrm>
            <a:off x="11620440" y="1828440"/>
            <a:ext cx="9720" cy="419760"/>
          </a:xfrm>
          <a:custGeom>
            <a:avLst/>
            <a:gdLst/>
            <a:ahLst/>
            <a:rect l="0" t="0" r="r" b="b"/>
            <a:pathLst>
              <a:path w="27" h="1166">
                <a:moveTo>
                  <a:pt x="0" y="0"/>
                </a:moveTo>
                <a:lnTo>
                  <a:pt x="27" y="0"/>
                </a:lnTo>
                <a:lnTo>
                  <a:pt x="27" y="1166"/>
                </a:lnTo>
                <a:lnTo>
                  <a:pt x="0" y="1166"/>
                </a:lnTo>
                <a:lnTo>
                  <a:pt x="0" y="0"/>
                </a:lnTo>
                <a:close/>
              </a:path>
            </a:pathLst>
          </a:custGeom>
          <a:solidFill>
            <a:srgbClr val="ced4d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6" name=""/>
          <p:cNvSpPr/>
          <p:nvPr/>
        </p:nvSpPr>
        <p:spPr>
          <a:xfrm>
            <a:off x="695160" y="2238120"/>
            <a:ext cx="2696040" cy="10080"/>
          </a:xfrm>
          <a:custGeom>
            <a:avLst/>
            <a:gdLst/>
            <a:ahLst/>
            <a:rect l="0" t="0" r="r" b="b"/>
            <a:pathLst>
              <a:path w="7489" h="28">
                <a:moveTo>
                  <a:pt x="0" y="0"/>
                </a:moveTo>
                <a:lnTo>
                  <a:pt x="7489" y="0"/>
                </a:lnTo>
                <a:lnTo>
                  <a:pt x="7489" y="28"/>
                </a:lnTo>
                <a:lnTo>
                  <a:pt x="0" y="28"/>
                </a:lnTo>
                <a:lnTo>
                  <a:pt x="0" y="0"/>
                </a:lnTo>
                <a:close/>
              </a:path>
            </a:pathLst>
          </a:custGeom>
          <a:solidFill>
            <a:srgbClr val="ced4d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7" name=""/>
          <p:cNvSpPr/>
          <p:nvPr/>
        </p:nvSpPr>
        <p:spPr>
          <a:xfrm>
            <a:off x="3390840" y="2238120"/>
            <a:ext cx="4476960" cy="10080"/>
          </a:xfrm>
          <a:custGeom>
            <a:avLst/>
            <a:gdLst/>
            <a:ahLst/>
            <a:rect l="0" t="0" r="r" b="b"/>
            <a:pathLst>
              <a:path w="12436" h="28">
                <a:moveTo>
                  <a:pt x="0" y="0"/>
                </a:moveTo>
                <a:lnTo>
                  <a:pt x="12436" y="0"/>
                </a:lnTo>
                <a:lnTo>
                  <a:pt x="12436" y="28"/>
                </a:lnTo>
                <a:lnTo>
                  <a:pt x="0" y="28"/>
                </a:lnTo>
                <a:lnTo>
                  <a:pt x="0" y="0"/>
                </a:lnTo>
                <a:close/>
              </a:path>
            </a:pathLst>
          </a:custGeom>
          <a:solidFill>
            <a:srgbClr val="ced4d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8" name=""/>
          <p:cNvSpPr/>
          <p:nvPr/>
        </p:nvSpPr>
        <p:spPr>
          <a:xfrm>
            <a:off x="7867440" y="2238120"/>
            <a:ext cx="3762720" cy="10080"/>
          </a:xfrm>
          <a:custGeom>
            <a:avLst/>
            <a:gdLst/>
            <a:ahLst/>
            <a:rect l="0" t="0" r="r" b="b"/>
            <a:pathLst>
              <a:path w="10452" h="28">
                <a:moveTo>
                  <a:pt x="0" y="0"/>
                </a:moveTo>
                <a:lnTo>
                  <a:pt x="10452" y="0"/>
                </a:lnTo>
                <a:lnTo>
                  <a:pt x="10452" y="28"/>
                </a:lnTo>
                <a:lnTo>
                  <a:pt x="0" y="28"/>
                </a:lnTo>
                <a:lnTo>
                  <a:pt x="0" y="0"/>
                </a:lnTo>
                <a:close/>
              </a:path>
            </a:pathLst>
          </a:custGeom>
          <a:solidFill>
            <a:srgbClr val="ced4da"/>
          </a:solidFill>
          <a:ln w="0">
            <a:noFill/>
          </a:ln>
        </p:spPr>
        <p:txBody>
          <a:bodyPr lIns="0" rIns="0" tIns="0" bIns="0" anchor="t">
            <a:noAutofit/>
          </a:bodyPr>
          <a:p>
            <a:endParaRPr b="0" lang="en-US" sz="2400" spc="-1" strike="noStrike">
              <a:solidFill>
                <a:srgbClr val="000000"/>
              </a:solidFill>
              <a:latin typeface="Times New Roman"/>
            </a:endParaRPr>
          </a:p>
        </p:txBody>
      </p:sp>
      <p:sp>
        <p:nvSpPr>
          <p:cNvPr id="249" name=""/>
          <p:cNvSpPr/>
          <p:nvPr/>
        </p:nvSpPr>
        <p:spPr>
          <a:xfrm>
            <a:off x="704520" y="2904840"/>
            <a:ext cx="2686680" cy="10080"/>
          </a:xfrm>
          <a:custGeom>
            <a:avLst/>
            <a:gdLst/>
            <a:ahLst/>
            <a:rect l="0" t="0" r="r" b="b"/>
            <a:pathLst>
              <a:path w="7463" h="28">
                <a:moveTo>
                  <a:pt x="0" y="0"/>
                </a:moveTo>
                <a:lnTo>
                  <a:pt x="7463" y="0"/>
                </a:lnTo>
                <a:lnTo>
                  <a:pt x="7463" y="28"/>
                </a:lnTo>
                <a:lnTo>
                  <a:pt x="0" y="28"/>
                </a:lnTo>
                <a:lnTo>
                  <a:pt x="0" y="0"/>
                </a:lnTo>
                <a:close/>
              </a:path>
            </a:pathLst>
          </a:custGeom>
          <a:solidFill>
            <a:srgbClr val="e6e9ec"/>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0" name=""/>
          <p:cNvSpPr/>
          <p:nvPr/>
        </p:nvSpPr>
        <p:spPr>
          <a:xfrm>
            <a:off x="3390840" y="2904840"/>
            <a:ext cx="4476960" cy="10080"/>
          </a:xfrm>
          <a:custGeom>
            <a:avLst/>
            <a:gdLst/>
            <a:ahLst/>
            <a:rect l="0" t="0" r="r" b="b"/>
            <a:pathLst>
              <a:path w="12436" h="28">
                <a:moveTo>
                  <a:pt x="0" y="0"/>
                </a:moveTo>
                <a:lnTo>
                  <a:pt x="12436" y="0"/>
                </a:lnTo>
                <a:lnTo>
                  <a:pt x="12436" y="28"/>
                </a:lnTo>
                <a:lnTo>
                  <a:pt x="0" y="28"/>
                </a:lnTo>
                <a:lnTo>
                  <a:pt x="0" y="0"/>
                </a:lnTo>
                <a:close/>
              </a:path>
            </a:pathLst>
          </a:custGeom>
          <a:solidFill>
            <a:srgbClr val="e6e9ec"/>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1" name=""/>
          <p:cNvSpPr/>
          <p:nvPr/>
        </p:nvSpPr>
        <p:spPr>
          <a:xfrm>
            <a:off x="7867440" y="2904840"/>
            <a:ext cx="3762720" cy="10080"/>
          </a:xfrm>
          <a:custGeom>
            <a:avLst/>
            <a:gdLst/>
            <a:ahLst/>
            <a:rect l="0" t="0" r="r" b="b"/>
            <a:pathLst>
              <a:path w="10452" h="28">
                <a:moveTo>
                  <a:pt x="0" y="0"/>
                </a:moveTo>
                <a:lnTo>
                  <a:pt x="10452" y="0"/>
                </a:lnTo>
                <a:lnTo>
                  <a:pt x="10452" y="28"/>
                </a:lnTo>
                <a:lnTo>
                  <a:pt x="0" y="28"/>
                </a:lnTo>
                <a:lnTo>
                  <a:pt x="0" y="0"/>
                </a:lnTo>
                <a:close/>
              </a:path>
            </a:pathLst>
          </a:custGeom>
          <a:solidFill>
            <a:srgbClr val="e6e9ec"/>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2" name=""/>
          <p:cNvSpPr/>
          <p:nvPr/>
        </p:nvSpPr>
        <p:spPr>
          <a:xfrm>
            <a:off x="704520" y="3571560"/>
            <a:ext cx="2686680" cy="10080"/>
          </a:xfrm>
          <a:custGeom>
            <a:avLst/>
            <a:gdLst/>
            <a:ahLst/>
            <a:rect l="0" t="0" r="r" b="b"/>
            <a:pathLst>
              <a:path w="7463" h="28">
                <a:moveTo>
                  <a:pt x="0" y="0"/>
                </a:moveTo>
                <a:lnTo>
                  <a:pt x="7463" y="0"/>
                </a:lnTo>
                <a:lnTo>
                  <a:pt x="7463" y="28"/>
                </a:lnTo>
                <a:lnTo>
                  <a:pt x="0" y="28"/>
                </a:lnTo>
                <a:lnTo>
                  <a:pt x="0" y="0"/>
                </a:lnTo>
                <a:close/>
              </a:path>
            </a:pathLst>
          </a:custGeom>
          <a:solidFill>
            <a:srgbClr val="e6e9ec"/>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3" name=""/>
          <p:cNvSpPr/>
          <p:nvPr/>
        </p:nvSpPr>
        <p:spPr>
          <a:xfrm>
            <a:off x="3390840" y="3571560"/>
            <a:ext cx="4476960" cy="10080"/>
          </a:xfrm>
          <a:custGeom>
            <a:avLst/>
            <a:gdLst/>
            <a:ahLst/>
            <a:rect l="0" t="0" r="r" b="b"/>
            <a:pathLst>
              <a:path w="12436" h="28">
                <a:moveTo>
                  <a:pt x="0" y="0"/>
                </a:moveTo>
                <a:lnTo>
                  <a:pt x="12436" y="0"/>
                </a:lnTo>
                <a:lnTo>
                  <a:pt x="12436" y="28"/>
                </a:lnTo>
                <a:lnTo>
                  <a:pt x="0" y="28"/>
                </a:lnTo>
                <a:lnTo>
                  <a:pt x="0" y="0"/>
                </a:lnTo>
                <a:close/>
              </a:path>
            </a:pathLst>
          </a:custGeom>
          <a:solidFill>
            <a:srgbClr val="e6e9ec"/>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4" name=""/>
          <p:cNvSpPr/>
          <p:nvPr/>
        </p:nvSpPr>
        <p:spPr>
          <a:xfrm>
            <a:off x="7867440" y="3571560"/>
            <a:ext cx="3762720" cy="10080"/>
          </a:xfrm>
          <a:custGeom>
            <a:avLst/>
            <a:gdLst/>
            <a:ahLst/>
            <a:rect l="0" t="0" r="r" b="b"/>
            <a:pathLst>
              <a:path w="10452" h="28">
                <a:moveTo>
                  <a:pt x="0" y="0"/>
                </a:moveTo>
                <a:lnTo>
                  <a:pt x="10452" y="0"/>
                </a:lnTo>
                <a:lnTo>
                  <a:pt x="10452" y="28"/>
                </a:lnTo>
                <a:lnTo>
                  <a:pt x="0" y="28"/>
                </a:lnTo>
                <a:lnTo>
                  <a:pt x="0" y="0"/>
                </a:lnTo>
                <a:close/>
              </a:path>
            </a:pathLst>
          </a:custGeom>
          <a:solidFill>
            <a:srgbClr val="e6e9ec"/>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5" name=""/>
          <p:cNvSpPr/>
          <p:nvPr/>
        </p:nvSpPr>
        <p:spPr>
          <a:xfrm>
            <a:off x="704520" y="4238280"/>
            <a:ext cx="2686680" cy="10080"/>
          </a:xfrm>
          <a:custGeom>
            <a:avLst/>
            <a:gdLst/>
            <a:ahLst/>
            <a:rect l="0" t="0" r="r" b="b"/>
            <a:pathLst>
              <a:path w="7463" h="28">
                <a:moveTo>
                  <a:pt x="0" y="0"/>
                </a:moveTo>
                <a:lnTo>
                  <a:pt x="7463" y="0"/>
                </a:lnTo>
                <a:lnTo>
                  <a:pt x="7463" y="28"/>
                </a:lnTo>
                <a:lnTo>
                  <a:pt x="0" y="28"/>
                </a:lnTo>
                <a:lnTo>
                  <a:pt x="0" y="0"/>
                </a:lnTo>
                <a:close/>
              </a:path>
            </a:pathLst>
          </a:custGeom>
          <a:solidFill>
            <a:srgbClr val="e6e9ec"/>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6" name=""/>
          <p:cNvSpPr/>
          <p:nvPr/>
        </p:nvSpPr>
        <p:spPr>
          <a:xfrm>
            <a:off x="3390840" y="4238280"/>
            <a:ext cx="4476960" cy="10080"/>
          </a:xfrm>
          <a:custGeom>
            <a:avLst/>
            <a:gdLst/>
            <a:ahLst/>
            <a:rect l="0" t="0" r="r" b="b"/>
            <a:pathLst>
              <a:path w="12436" h="28">
                <a:moveTo>
                  <a:pt x="0" y="0"/>
                </a:moveTo>
                <a:lnTo>
                  <a:pt x="12436" y="0"/>
                </a:lnTo>
                <a:lnTo>
                  <a:pt x="12436" y="28"/>
                </a:lnTo>
                <a:lnTo>
                  <a:pt x="0" y="28"/>
                </a:lnTo>
                <a:lnTo>
                  <a:pt x="0" y="0"/>
                </a:lnTo>
                <a:close/>
              </a:path>
            </a:pathLst>
          </a:custGeom>
          <a:solidFill>
            <a:srgbClr val="e6e9ec"/>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7" name=""/>
          <p:cNvSpPr/>
          <p:nvPr/>
        </p:nvSpPr>
        <p:spPr>
          <a:xfrm>
            <a:off x="7867440" y="4238280"/>
            <a:ext cx="3762720" cy="10080"/>
          </a:xfrm>
          <a:custGeom>
            <a:avLst/>
            <a:gdLst/>
            <a:ahLst/>
            <a:rect l="0" t="0" r="r" b="b"/>
            <a:pathLst>
              <a:path w="10452" h="28">
                <a:moveTo>
                  <a:pt x="0" y="0"/>
                </a:moveTo>
                <a:lnTo>
                  <a:pt x="10452" y="0"/>
                </a:lnTo>
                <a:lnTo>
                  <a:pt x="10452" y="28"/>
                </a:lnTo>
                <a:lnTo>
                  <a:pt x="0" y="28"/>
                </a:lnTo>
                <a:lnTo>
                  <a:pt x="0" y="0"/>
                </a:lnTo>
                <a:close/>
              </a:path>
            </a:pathLst>
          </a:custGeom>
          <a:solidFill>
            <a:srgbClr val="e6e9ec"/>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8" name=""/>
          <p:cNvSpPr/>
          <p:nvPr/>
        </p:nvSpPr>
        <p:spPr>
          <a:xfrm>
            <a:off x="704520" y="4905360"/>
            <a:ext cx="2686680" cy="9720"/>
          </a:xfrm>
          <a:custGeom>
            <a:avLst/>
            <a:gdLst/>
            <a:ahLst/>
            <a:rect l="0" t="0" r="r" b="b"/>
            <a:pathLst>
              <a:path w="7463" h="27">
                <a:moveTo>
                  <a:pt x="0" y="0"/>
                </a:moveTo>
                <a:lnTo>
                  <a:pt x="7463" y="0"/>
                </a:lnTo>
                <a:lnTo>
                  <a:pt x="7463" y="27"/>
                </a:lnTo>
                <a:lnTo>
                  <a:pt x="0" y="27"/>
                </a:lnTo>
                <a:lnTo>
                  <a:pt x="0" y="0"/>
                </a:lnTo>
                <a:close/>
              </a:path>
            </a:pathLst>
          </a:custGeom>
          <a:solidFill>
            <a:srgbClr val="e6e9ec"/>
          </a:solidFill>
          <a:ln w="0">
            <a:noFill/>
          </a:ln>
        </p:spPr>
        <p:txBody>
          <a:bodyPr lIns="0" rIns="0" tIns="0" bIns="0" anchor="t">
            <a:noAutofit/>
          </a:bodyPr>
          <a:p>
            <a:endParaRPr b="0" lang="en-US" sz="2400" spc="-1" strike="noStrike">
              <a:solidFill>
                <a:srgbClr val="000000"/>
              </a:solidFill>
              <a:latin typeface="Times New Roman"/>
            </a:endParaRPr>
          </a:p>
        </p:txBody>
      </p:sp>
      <p:sp>
        <p:nvSpPr>
          <p:cNvPr id="259" name=""/>
          <p:cNvSpPr/>
          <p:nvPr/>
        </p:nvSpPr>
        <p:spPr>
          <a:xfrm>
            <a:off x="3390840" y="4905360"/>
            <a:ext cx="4476960" cy="9720"/>
          </a:xfrm>
          <a:custGeom>
            <a:avLst/>
            <a:gdLst/>
            <a:ahLst/>
            <a:rect l="0" t="0" r="r" b="b"/>
            <a:pathLst>
              <a:path w="12436" h="27">
                <a:moveTo>
                  <a:pt x="0" y="0"/>
                </a:moveTo>
                <a:lnTo>
                  <a:pt x="12436" y="0"/>
                </a:lnTo>
                <a:lnTo>
                  <a:pt x="12436" y="27"/>
                </a:lnTo>
                <a:lnTo>
                  <a:pt x="0" y="27"/>
                </a:lnTo>
                <a:lnTo>
                  <a:pt x="0" y="0"/>
                </a:lnTo>
                <a:close/>
              </a:path>
            </a:pathLst>
          </a:custGeom>
          <a:solidFill>
            <a:srgbClr val="e6e9ec"/>
          </a:solidFill>
          <a:ln w="0">
            <a:noFill/>
          </a:ln>
        </p:spPr>
        <p:txBody>
          <a:bodyPr lIns="0" rIns="0" tIns="0" bIns="0" anchor="t">
            <a:noAutofit/>
          </a:bodyPr>
          <a:p>
            <a:endParaRPr b="0" lang="en-US" sz="2400" spc="-1" strike="noStrike">
              <a:solidFill>
                <a:srgbClr val="000000"/>
              </a:solidFill>
              <a:latin typeface="Times New Roman"/>
            </a:endParaRPr>
          </a:p>
        </p:txBody>
      </p:sp>
      <p:sp>
        <p:nvSpPr>
          <p:cNvPr id="260" name=""/>
          <p:cNvSpPr/>
          <p:nvPr/>
        </p:nvSpPr>
        <p:spPr>
          <a:xfrm>
            <a:off x="7867440" y="4905360"/>
            <a:ext cx="3762720" cy="9720"/>
          </a:xfrm>
          <a:custGeom>
            <a:avLst/>
            <a:gdLst/>
            <a:ahLst/>
            <a:rect l="0" t="0" r="r" b="b"/>
            <a:pathLst>
              <a:path w="10452" h="27">
                <a:moveTo>
                  <a:pt x="0" y="0"/>
                </a:moveTo>
                <a:lnTo>
                  <a:pt x="10452" y="0"/>
                </a:lnTo>
                <a:lnTo>
                  <a:pt x="10452" y="27"/>
                </a:lnTo>
                <a:lnTo>
                  <a:pt x="0" y="27"/>
                </a:lnTo>
                <a:lnTo>
                  <a:pt x="0" y="0"/>
                </a:lnTo>
                <a:close/>
              </a:path>
            </a:pathLst>
          </a:custGeom>
          <a:solidFill>
            <a:srgbClr val="e6e9ec"/>
          </a:solidFill>
          <a:ln w="0">
            <a:noFill/>
          </a:ln>
        </p:spPr>
        <p:txBody>
          <a:bodyPr lIns="0" rIns="0" tIns="0" bIns="0" anchor="t">
            <a:noAutofit/>
          </a:bodyPr>
          <a:p>
            <a:endParaRPr b="0" lang="en-US" sz="2400" spc="-1" strike="noStrike">
              <a:solidFill>
                <a:srgbClr val="000000"/>
              </a:solidFill>
              <a:latin typeface="Times New Roman"/>
            </a:endParaRPr>
          </a:p>
        </p:txBody>
      </p:sp>
      <p:sp>
        <p:nvSpPr>
          <p:cNvPr id="261" name=""/>
          <p:cNvSpPr/>
          <p:nvPr/>
        </p:nvSpPr>
        <p:spPr>
          <a:xfrm>
            <a:off x="704520" y="5714640"/>
            <a:ext cx="2686680" cy="10080"/>
          </a:xfrm>
          <a:custGeom>
            <a:avLst/>
            <a:gdLst/>
            <a:ahLst/>
            <a:rect l="0" t="0" r="r" b="b"/>
            <a:pathLst>
              <a:path w="7463" h="28">
                <a:moveTo>
                  <a:pt x="0" y="0"/>
                </a:moveTo>
                <a:lnTo>
                  <a:pt x="7463" y="0"/>
                </a:lnTo>
                <a:lnTo>
                  <a:pt x="7463" y="28"/>
                </a:lnTo>
                <a:lnTo>
                  <a:pt x="0" y="28"/>
                </a:lnTo>
                <a:lnTo>
                  <a:pt x="0" y="0"/>
                </a:lnTo>
                <a:close/>
              </a:path>
            </a:pathLst>
          </a:custGeom>
          <a:solidFill>
            <a:srgbClr val="e6e9ec"/>
          </a:solidFill>
          <a:ln w="0">
            <a:noFill/>
          </a:ln>
        </p:spPr>
        <p:txBody>
          <a:bodyPr lIns="0" rIns="0" tIns="0" bIns="0" anchor="t">
            <a:noAutofit/>
          </a:bodyPr>
          <a:p>
            <a:endParaRPr b="0" lang="en-US" sz="2400" spc="-1" strike="noStrike">
              <a:solidFill>
                <a:srgbClr val="000000"/>
              </a:solidFill>
              <a:latin typeface="Times New Roman"/>
            </a:endParaRPr>
          </a:p>
        </p:txBody>
      </p:sp>
      <p:sp>
        <p:nvSpPr>
          <p:cNvPr id="262" name=""/>
          <p:cNvSpPr/>
          <p:nvPr/>
        </p:nvSpPr>
        <p:spPr>
          <a:xfrm>
            <a:off x="3390840" y="5714640"/>
            <a:ext cx="4476960" cy="10080"/>
          </a:xfrm>
          <a:custGeom>
            <a:avLst/>
            <a:gdLst/>
            <a:ahLst/>
            <a:rect l="0" t="0" r="r" b="b"/>
            <a:pathLst>
              <a:path w="12436" h="28">
                <a:moveTo>
                  <a:pt x="0" y="0"/>
                </a:moveTo>
                <a:lnTo>
                  <a:pt x="12436" y="0"/>
                </a:lnTo>
                <a:lnTo>
                  <a:pt x="12436" y="28"/>
                </a:lnTo>
                <a:lnTo>
                  <a:pt x="0" y="28"/>
                </a:lnTo>
                <a:lnTo>
                  <a:pt x="0" y="0"/>
                </a:lnTo>
                <a:close/>
              </a:path>
            </a:pathLst>
          </a:custGeom>
          <a:solidFill>
            <a:srgbClr val="e6e9ec"/>
          </a:solidFill>
          <a:ln w="0">
            <a:noFill/>
          </a:ln>
        </p:spPr>
        <p:txBody>
          <a:bodyPr lIns="0" rIns="0" tIns="0" bIns="0" anchor="t">
            <a:noAutofit/>
          </a:bodyPr>
          <a:p>
            <a:endParaRPr b="0" lang="en-US" sz="2400" spc="-1" strike="noStrike">
              <a:solidFill>
                <a:srgbClr val="000000"/>
              </a:solidFill>
              <a:latin typeface="Times New Roman"/>
            </a:endParaRPr>
          </a:p>
        </p:txBody>
      </p:sp>
      <p:sp>
        <p:nvSpPr>
          <p:cNvPr id="263" name=""/>
          <p:cNvSpPr/>
          <p:nvPr/>
        </p:nvSpPr>
        <p:spPr>
          <a:xfrm>
            <a:off x="7867440" y="5714640"/>
            <a:ext cx="3762720" cy="10080"/>
          </a:xfrm>
          <a:custGeom>
            <a:avLst/>
            <a:gdLst/>
            <a:ahLst/>
            <a:rect l="0" t="0" r="r" b="b"/>
            <a:pathLst>
              <a:path w="10452" h="28">
                <a:moveTo>
                  <a:pt x="0" y="0"/>
                </a:moveTo>
                <a:lnTo>
                  <a:pt x="10452" y="0"/>
                </a:lnTo>
                <a:lnTo>
                  <a:pt x="10452" y="28"/>
                </a:lnTo>
                <a:lnTo>
                  <a:pt x="0" y="28"/>
                </a:lnTo>
                <a:lnTo>
                  <a:pt x="0" y="0"/>
                </a:lnTo>
                <a:close/>
              </a:path>
            </a:pathLst>
          </a:custGeom>
          <a:solidFill>
            <a:srgbClr val="e6e9ec"/>
          </a:solidFill>
          <a:ln w="0">
            <a:noFill/>
          </a:ln>
        </p:spPr>
        <p:txBody>
          <a:bodyPr lIns="0" rIns="0" tIns="0" bIns="0" anchor="t">
            <a:noAutofit/>
          </a:bodyPr>
          <a:p>
            <a:endParaRPr b="0" lang="en-US" sz="2400" spc="-1" strike="noStrike">
              <a:solidFill>
                <a:srgbClr val="000000"/>
              </a:solidFill>
              <a:latin typeface="Times New Roman"/>
            </a:endParaRPr>
          </a:p>
        </p:txBody>
      </p:sp>
      <p:sp>
        <p:nvSpPr>
          <p:cNvPr id="264" name=""/>
          <p:cNvSpPr txBox="1"/>
          <p:nvPr/>
        </p:nvSpPr>
        <p:spPr>
          <a:xfrm>
            <a:off x="638280" y="1336680"/>
            <a:ext cx="6819120" cy="171000"/>
          </a:xfrm>
          <a:prstGeom prst="rect">
            <a:avLst/>
          </a:prstGeom>
          <a:noFill/>
          <a:ln w="0">
            <a:noFill/>
          </a:ln>
        </p:spPr>
        <p:txBody>
          <a:bodyPr wrap="none" lIns="0" rIns="0" tIns="0" bIns="0" anchor="t">
            <a:noAutofit/>
          </a:bodyPr>
          <a:p>
            <a:r>
              <a:rPr b="0" lang="en-US" sz="1220" spc="-1" strike="noStrike">
                <a:solidFill>
                  <a:srgbClr val="525b65"/>
                </a:solidFill>
                <a:latin typeface="Arial"/>
                <a:ea typeface="Arial"/>
              </a:rPr>
              <a:t>Widen the datapath for throughput, pipeline it for clock speed, then fix the protocol so no data is lost.</a:t>
            </a:r>
            <a:endParaRPr b="0" lang="en-US" sz="1220" spc="-1" strike="noStrike">
              <a:solidFill>
                <a:srgbClr val="000000"/>
              </a:solidFill>
              <a:latin typeface="Times New Roman"/>
            </a:endParaRPr>
          </a:p>
        </p:txBody>
      </p:sp>
      <p:sp>
        <p:nvSpPr>
          <p:cNvPr id="265" name=""/>
          <p:cNvSpPr txBox="1"/>
          <p:nvPr/>
        </p:nvSpPr>
        <p:spPr>
          <a:xfrm>
            <a:off x="819000" y="1952280"/>
            <a:ext cx="755280" cy="166680"/>
          </a:xfrm>
          <a:prstGeom prst="rect">
            <a:avLst/>
          </a:prstGeom>
          <a:noFill/>
          <a:ln w="0">
            <a:noFill/>
          </a:ln>
        </p:spPr>
        <p:txBody>
          <a:bodyPr wrap="none" lIns="0" rIns="0" tIns="0" bIns="0" anchor="t">
            <a:noAutofit/>
          </a:bodyPr>
          <a:p>
            <a:r>
              <a:rPr b="1" lang="en-US" sz="1160" spc="-1" strike="noStrike">
                <a:solidFill>
                  <a:srgbClr val="1d3859"/>
                </a:solidFill>
                <a:latin typeface="Arial"/>
                <a:ea typeface="Arial"/>
              </a:rPr>
              <a:t>Bottleneck</a:t>
            </a:r>
            <a:endParaRPr b="0" lang="en-US" sz="1160" spc="-1" strike="noStrike">
              <a:solidFill>
                <a:srgbClr val="000000"/>
              </a:solidFill>
              <a:latin typeface="Times New Roman"/>
            </a:endParaRPr>
          </a:p>
        </p:txBody>
      </p:sp>
      <p:sp>
        <p:nvSpPr>
          <p:cNvPr id="266" name=""/>
          <p:cNvSpPr txBox="1"/>
          <p:nvPr/>
        </p:nvSpPr>
        <p:spPr>
          <a:xfrm>
            <a:off x="3500280" y="1952280"/>
            <a:ext cx="846720" cy="166680"/>
          </a:xfrm>
          <a:prstGeom prst="rect">
            <a:avLst/>
          </a:prstGeom>
          <a:noFill/>
          <a:ln w="0">
            <a:noFill/>
          </a:ln>
        </p:spPr>
        <p:txBody>
          <a:bodyPr wrap="none" lIns="0" rIns="0" tIns="0" bIns="0" anchor="t">
            <a:noAutofit/>
          </a:bodyPr>
          <a:p>
            <a:r>
              <a:rPr b="1" lang="en-US" sz="1160" spc="-1" strike="noStrike">
                <a:solidFill>
                  <a:srgbClr val="1d3859"/>
                </a:solidFill>
                <a:latin typeface="Arial"/>
                <a:ea typeface="Arial"/>
              </a:rPr>
              <a:t>RTL change</a:t>
            </a:r>
            <a:endParaRPr b="0" lang="en-US" sz="1160" spc="-1" strike="noStrike">
              <a:solidFill>
                <a:srgbClr val="000000"/>
              </a:solidFill>
              <a:latin typeface="Times New Roman"/>
            </a:endParaRPr>
          </a:p>
        </p:txBody>
      </p:sp>
      <p:sp>
        <p:nvSpPr>
          <p:cNvPr id="267" name=""/>
          <p:cNvSpPr txBox="1"/>
          <p:nvPr/>
        </p:nvSpPr>
        <p:spPr>
          <a:xfrm>
            <a:off x="7977240" y="1952280"/>
            <a:ext cx="1132920" cy="166680"/>
          </a:xfrm>
          <a:prstGeom prst="rect">
            <a:avLst/>
          </a:prstGeom>
          <a:noFill/>
          <a:ln w="0">
            <a:noFill/>
          </a:ln>
        </p:spPr>
        <p:txBody>
          <a:bodyPr wrap="none" lIns="0" rIns="0" tIns="0" bIns="0" anchor="t">
            <a:noAutofit/>
          </a:bodyPr>
          <a:p>
            <a:r>
              <a:rPr b="1" lang="en-US" sz="1160" spc="-1" strike="noStrike">
                <a:solidFill>
                  <a:srgbClr val="1d3859"/>
                </a:solidFill>
                <a:latin typeface="Arial"/>
                <a:ea typeface="Arial"/>
              </a:rPr>
              <a:t>Measured result</a:t>
            </a:r>
            <a:endParaRPr b="0" lang="en-US" sz="1160" spc="-1" strike="noStrike">
              <a:solidFill>
                <a:srgbClr val="000000"/>
              </a:solidFill>
              <a:latin typeface="Times New Roman"/>
            </a:endParaRPr>
          </a:p>
        </p:txBody>
      </p:sp>
      <p:sp>
        <p:nvSpPr>
          <p:cNvPr id="268" name=""/>
          <p:cNvSpPr txBox="1"/>
          <p:nvPr/>
        </p:nvSpPr>
        <p:spPr>
          <a:xfrm>
            <a:off x="814320" y="2366280"/>
            <a:ext cx="2436120" cy="160560"/>
          </a:xfrm>
          <a:prstGeom prst="rect">
            <a:avLst/>
          </a:prstGeom>
          <a:noFill/>
          <a:ln w="0">
            <a:noFill/>
          </a:ln>
        </p:spPr>
        <p:txBody>
          <a:bodyPr wrap="none" lIns="0" rIns="0" tIns="0" bIns="0" anchor="t">
            <a:noAutofit/>
          </a:bodyPr>
          <a:p>
            <a:r>
              <a:rPr b="1" lang="en-US" sz="1130" spc="-1" strike="noStrike">
                <a:solidFill>
                  <a:srgbClr val="20252c"/>
                </a:solidFill>
                <a:latin typeface="Arial"/>
                <a:ea typeface="Arial"/>
              </a:rPr>
              <a:t>32-bit TX serialiser, one TLP per Flit</a:t>
            </a:r>
            <a:endParaRPr b="0" lang="en-US" sz="1130" spc="-1" strike="noStrike">
              <a:solidFill>
                <a:srgbClr val="000000"/>
              </a:solidFill>
              <a:latin typeface="Times New Roman"/>
            </a:endParaRPr>
          </a:p>
        </p:txBody>
      </p:sp>
      <p:sp>
        <p:nvSpPr>
          <p:cNvPr id="269" name=""/>
          <p:cNvSpPr txBox="1"/>
          <p:nvPr/>
        </p:nvSpPr>
        <p:spPr>
          <a:xfrm>
            <a:off x="3500280" y="2366280"/>
            <a:ext cx="417204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512-bit tlp_tx_wide engine; merges beats into Max-Payload TLPs,</a:t>
            </a:r>
            <a:endParaRPr b="0" lang="en-US" sz="1130" spc="-1" strike="noStrike">
              <a:solidFill>
                <a:srgbClr val="000000"/>
              </a:solidFill>
              <a:latin typeface="Times New Roman"/>
            </a:endParaRPr>
          </a:p>
        </p:txBody>
      </p:sp>
      <p:sp>
        <p:nvSpPr>
          <p:cNvPr id="270" name=""/>
          <p:cNvSpPr txBox="1"/>
          <p:nvPr/>
        </p:nvSpPr>
        <p:spPr>
          <a:xfrm>
            <a:off x="3500280" y="2556720"/>
            <a:ext cx="76428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split at 4 KB</a:t>
            </a:r>
            <a:endParaRPr b="0" lang="en-US" sz="1130" spc="-1" strike="noStrike">
              <a:solidFill>
                <a:srgbClr val="000000"/>
              </a:solidFill>
              <a:latin typeface="Times New Roman"/>
            </a:endParaRPr>
          </a:p>
        </p:txBody>
      </p:sp>
      <p:sp>
        <p:nvSpPr>
          <p:cNvPr id="271" name=""/>
          <p:cNvSpPr txBox="1"/>
          <p:nvPr/>
        </p:nvSpPr>
        <p:spPr>
          <a:xfrm>
            <a:off x="7977240" y="2367000"/>
            <a:ext cx="1491120" cy="171000"/>
          </a:xfrm>
          <a:prstGeom prst="rect">
            <a:avLst/>
          </a:prstGeom>
          <a:noFill/>
          <a:ln w="0">
            <a:noFill/>
          </a:ln>
        </p:spPr>
        <p:txBody>
          <a:bodyPr wrap="none" lIns="0" rIns="0" tIns="0" bIns="0" anchor="t">
            <a:noAutofit/>
          </a:bodyPr>
          <a:p>
            <a:r>
              <a:rPr b="1" lang="en-US" sz="1200" spc="-1" strike="noStrike">
                <a:solidFill>
                  <a:srgbClr val="284f78"/>
                </a:solidFill>
                <a:latin typeface="Arial"/>
                <a:ea typeface="Arial"/>
              </a:rPr>
              <a:t>ML 0.06 → 6.17 GB/s</a:t>
            </a:r>
            <a:endParaRPr b="0" lang="en-US" sz="1200" spc="-1" strike="noStrike">
              <a:solidFill>
                <a:srgbClr val="000000"/>
              </a:solidFill>
              <a:latin typeface="Times New Roman"/>
            </a:endParaRPr>
          </a:p>
        </p:txBody>
      </p:sp>
      <p:sp>
        <p:nvSpPr>
          <p:cNvPr id="272" name=""/>
          <p:cNvSpPr txBox="1"/>
          <p:nvPr/>
        </p:nvSpPr>
        <p:spPr>
          <a:xfrm>
            <a:off x="7977240" y="2593800"/>
            <a:ext cx="666720" cy="148320"/>
          </a:xfrm>
          <a:prstGeom prst="rect">
            <a:avLst/>
          </a:prstGeom>
          <a:noFill/>
          <a:ln w="0">
            <a:noFill/>
          </a:ln>
        </p:spPr>
        <p:txBody>
          <a:bodyPr wrap="none" lIns="0" rIns="0" tIns="0" bIns="0" anchor="t">
            <a:noAutofit/>
          </a:bodyPr>
          <a:p>
            <a:r>
              <a:rPr b="0" lang="en-US" sz="1050" spc="-1" strike="noStrike">
                <a:solidFill>
                  <a:srgbClr val="525b65"/>
                </a:solidFill>
                <a:latin typeface="Arial"/>
                <a:ea typeface="Arial"/>
              </a:rPr>
              <a:t>about 100×</a:t>
            </a:r>
            <a:endParaRPr b="0" lang="en-US" sz="1050" spc="-1" strike="noStrike">
              <a:solidFill>
                <a:srgbClr val="000000"/>
              </a:solidFill>
              <a:latin typeface="Times New Roman"/>
            </a:endParaRPr>
          </a:p>
        </p:txBody>
      </p:sp>
      <p:sp>
        <p:nvSpPr>
          <p:cNvPr id="273" name=""/>
          <p:cNvSpPr txBox="1"/>
          <p:nvPr/>
        </p:nvSpPr>
        <p:spPr>
          <a:xfrm>
            <a:off x="814320" y="3033000"/>
            <a:ext cx="2275920" cy="160560"/>
          </a:xfrm>
          <a:prstGeom prst="rect">
            <a:avLst/>
          </a:prstGeom>
          <a:noFill/>
          <a:ln w="0">
            <a:noFill/>
          </a:ln>
        </p:spPr>
        <p:txBody>
          <a:bodyPr wrap="none" lIns="0" rIns="0" tIns="0" bIns="0" anchor="t">
            <a:noAutofit/>
          </a:bodyPr>
          <a:p>
            <a:r>
              <a:rPr b="1" lang="en-US" sz="1130" spc="-1" strike="noStrike">
                <a:solidFill>
                  <a:srgbClr val="20252c"/>
                </a:solidFill>
                <a:latin typeface="Arial"/>
                <a:ea typeface="Arial"/>
              </a:rPr>
              <a:t>RX decoded 1 DW per clock; PHY</a:t>
            </a:r>
            <a:endParaRPr b="0" lang="en-US" sz="1130" spc="-1" strike="noStrike">
              <a:solidFill>
                <a:srgbClr val="000000"/>
              </a:solidFill>
              <a:latin typeface="Times New Roman"/>
            </a:endParaRPr>
          </a:p>
        </p:txBody>
      </p:sp>
      <p:sp>
        <p:nvSpPr>
          <p:cNvPr id="274" name=""/>
          <p:cNvSpPr txBox="1"/>
          <p:nvPr/>
        </p:nvSpPr>
        <p:spPr>
          <a:xfrm>
            <a:off x="814320" y="3223440"/>
            <a:ext cx="1364760" cy="160560"/>
          </a:xfrm>
          <a:prstGeom prst="rect">
            <a:avLst/>
          </a:prstGeom>
          <a:noFill/>
          <a:ln w="0">
            <a:noFill/>
          </a:ln>
        </p:spPr>
        <p:txBody>
          <a:bodyPr wrap="none" lIns="0" rIns="0" tIns="0" bIns="0" anchor="t">
            <a:noAutofit/>
          </a:bodyPr>
          <a:p>
            <a:r>
              <a:rPr b="1" lang="en-US" sz="1130" spc="-1" strike="noStrike">
                <a:solidFill>
                  <a:srgbClr val="20252c"/>
                </a:solidFill>
                <a:latin typeface="Arial"/>
                <a:ea typeface="Arial"/>
              </a:rPr>
              <a:t>32× slower than link</a:t>
            </a:r>
            <a:endParaRPr b="0" lang="en-US" sz="1130" spc="-1" strike="noStrike">
              <a:solidFill>
                <a:srgbClr val="000000"/>
              </a:solidFill>
              <a:latin typeface="Times New Roman"/>
            </a:endParaRPr>
          </a:p>
        </p:txBody>
      </p:sp>
      <p:sp>
        <p:nvSpPr>
          <p:cNvPr id="275" name=""/>
          <p:cNvSpPr txBox="1"/>
          <p:nvPr/>
        </p:nvSpPr>
        <p:spPr>
          <a:xfrm>
            <a:off x="3500280" y="3033000"/>
            <a:ext cx="387612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16-DW/clock RX delimiter; wide PHY (8 B/lane/clk) with FIFO</a:t>
            </a:r>
            <a:endParaRPr b="0" lang="en-US" sz="1130" spc="-1" strike="noStrike">
              <a:solidFill>
                <a:srgbClr val="000000"/>
              </a:solidFill>
              <a:latin typeface="Times New Roman"/>
            </a:endParaRPr>
          </a:p>
        </p:txBody>
      </p:sp>
      <p:sp>
        <p:nvSpPr>
          <p:cNvPr id="276" name=""/>
          <p:cNvSpPr txBox="1"/>
          <p:nvPr/>
        </p:nvSpPr>
        <p:spPr>
          <a:xfrm>
            <a:off x="3500280" y="3223440"/>
            <a:ext cx="90756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back-pressure</a:t>
            </a:r>
            <a:endParaRPr b="0" lang="en-US" sz="1130" spc="-1" strike="noStrike">
              <a:solidFill>
                <a:srgbClr val="000000"/>
              </a:solidFill>
              <a:latin typeface="Times New Roman"/>
            </a:endParaRPr>
          </a:p>
        </p:txBody>
      </p:sp>
      <p:sp>
        <p:nvSpPr>
          <p:cNvPr id="277" name=""/>
          <p:cNvSpPr txBox="1"/>
          <p:nvPr/>
        </p:nvSpPr>
        <p:spPr>
          <a:xfrm>
            <a:off x="7977240" y="3034080"/>
            <a:ext cx="1527840" cy="171000"/>
          </a:xfrm>
          <a:prstGeom prst="rect">
            <a:avLst/>
          </a:prstGeom>
          <a:noFill/>
          <a:ln w="0">
            <a:noFill/>
          </a:ln>
        </p:spPr>
        <p:txBody>
          <a:bodyPr wrap="none" lIns="0" rIns="0" tIns="0" bIns="0" anchor="t">
            <a:noAutofit/>
          </a:bodyPr>
          <a:p>
            <a:r>
              <a:rPr b="1" lang="en-US" sz="1200" spc="-1" strike="noStrike">
                <a:solidFill>
                  <a:srgbClr val="284f78"/>
                </a:solidFill>
                <a:latin typeface="Arial"/>
                <a:ea typeface="Arial"/>
              </a:rPr>
              <a:t>NIC p99 58 → 0.59 µs</a:t>
            </a:r>
            <a:endParaRPr b="0" lang="en-US" sz="1200" spc="-1" strike="noStrike">
              <a:solidFill>
                <a:srgbClr val="000000"/>
              </a:solidFill>
              <a:latin typeface="Times New Roman"/>
            </a:endParaRPr>
          </a:p>
        </p:txBody>
      </p:sp>
      <p:sp>
        <p:nvSpPr>
          <p:cNvPr id="278" name=""/>
          <p:cNvSpPr txBox="1"/>
          <p:nvPr/>
        </p:nvSpPr>
        <p:spPr>
          <a:xfrm>
            <a:off x="7977240" y="3260520"/>
            <a:ext cx="1547640" cy="148320"/>
          </a:xfrm>
          <a:prstGeom prst="rect">
            <a:avLst/>
          </a:prstGeom>
          <a:noFill/>
          <a:ln w="0">
            <a:noFill/>
          </a:ln>
        </p:spPr>
        <p:txBody>
          <a:bodyPr wrap="none" lIns="0" rIns="0" tIns="0" bIns="0" anchor="t">
            <a:noAutofit/>
          </a:bodyPr>
          <a:p>
            <a:r>
              <a:rPr b="0" lang="en-US" sz="1050" spc="-1" strike="noStrike">
                <a:solidFill>
                  <a:srgbClr val="525b65"/>
                </a:solidFill>
                <a:latin typeface="Arial"/>
                <a:ea typeface="Arial"/>
              </a:rPr>
              <a:t>4.84 Mpps SmartNIC IMIX</a:t>
            </a:r>
            <a:endParaRPr b="0" lang="en-US" sz="1050" spc="-1" strike="noStrike">
              <a:solidFill>
                <a:srgbClr val="000000"/>
              </a:solidFill>
              <a:latin typeface="Times New Roman"/>
            </a:endParaRPr>
          </a:p>
        </p:txBody>
      </p:sp>
      <p:sp>
        <p:nvSpPr>
          <p:cNvPr id="279" name=""/>
          <p:cNvSpPr txBox="1"/>
          <p:nvPr/>
        </p:nvSpPr>
        <p:spPr>
          <a:xfrm>
            <a:off x="814320" y="3699720"/>
            <a:ext cx="2364480" cy="160560"/>
          </a:xfrm>
          <a:prstGeom prst="rect">
            <a:avLst/>
          </a:prstGeom>
          <a:noFill/>
          <a:ln w="0">
            <a:noFill/>
          </a:ln>
        </p:spPr>
        <p:txBody>
          <a:bodyPr wrap="none" lIns="0" rIns="0" tIns="0" bIns="0" anchor="t">
            <a:noAutofit/>
          </a:bodyPr>
          <a:p>
            <a:r>
              <a:rPr b="1" lang="en-US" sz="1130" spc="-1" strike="noStrike">
                <a:solidFill>
                  <a:srgbClr val="20252c"/>
                </a:solidFill>
                <a:latin typeface="Arial"/>
                <a:ea typeface="Arial"/>
              </a:rPr>
              <a:t>CRC-64/FEC: 51 logic levels in one</a:t>
            </a:r>
            <a:endParaRPr b="0" lang="en-US" sz="1130" spc="-1" strike="noStrike">
              <a:solidFill>
                <a:srgbClr val="000000"/>
              </a:solidFill>
              <a:latin typeface="Times New Roman"/>
            </a:endParaRPr>
          </a:p>
        </p:txBody>
      </p:sp>
      <p:sp>
        <p:nvSpPr>
          <p:cNvPr id="280" name=""/>
          <p:cNvSpPr txBox="1"/>
          <p:nvPr/>
        </p:nvSpPr>
        <p:spPr>
          <a:xfrm>
            <a:off x="814320" y="3890160"/>
            <a:ext cx="358920" cy="160560"/>
          </a:xfrm>
          <a:prstGeom prst="rect">
            <a:avLst/>
          </a:prstGeom>
          <a:noFill/>
          <a:ln w="0">
            <a:noFill/>
          </a:ln>
        </p:spPr>
        <p:txBody>
          <a:bodyPr wrap="none" lIns="0" rIns="0" tIns="0" bIns="0" anchor="t">
            <a:noAutofit/>
          </a:bodyPr>
          <a:p>
            <a:r>
              <a:rPr b="1" lang="en-US" sz="1130" spc="-1" strike="noStrike">
                <a:solidFill>
                  <a:srgbClr val="20252c"/>
                </a:solidFill>
                <a:latin typeface="Arial"/>
                <a:ea typeface="Arial"/>
              </a:rPr>
              <a:t>cycle</a:t>
            </a:r>
            <a:endParaRPr b="0" lang="en-US" sz="1130" spc="-1" strike="noStrike">
              <a:solidFill>
                <a:srgbClr val="000000"/>
              </a:solidFill>
              <a:latin typeface="Times New Roman"/>
            </a:endParaRPr>
          </a:p>
        </p:txBody>
      </p:sp>
      <p:sp>
        <p:nvSpPr>
          <p:cNvPr id="281" name=""/>
          <p:cNvSpPr txBox="1"/>
          <p:nvPr/>
        </p:nvSpPr>
        <p:spPr>
          <a:xfrm>
            <a:off x="3500280" y="3699720"/>
            <a:ext cx="359136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Pipelined check; CRC/FEC as constant-mask XOR trees</a:t>
            </a:r>
            <a:endParaRPr b="0" lang="en-US" sz="1130" spc="-1" strike="noStrike">
              <a:solidFill>
                <a:srgbClr val="000000"/>
              </a:solidFill>
              <a:latin typeface="Times New Roman"/>
            </a:endParaRPr>
          </a:p>
        </p:txBody>
      </p:sp>
      <p:sp>
        <p:nvSpPr>
          <p:cNvPr id="282" name=""/>
          <p:cNvSpPr txBox="1"/>
          <p:nvPr/>
        </p:nvSpPr>
        <p:spPr>
          <a:xfrm>
            <a:off x="7977240" y="3700800"/>
            <a:ext cx="1015560" cy="171000"/>
          </a:xfrm>
          <a:prstGeom prst="rect">
            <a:avLst/>
          </a:prstGeom>
          <a:noFill/>
          <a:ln w="0">
            <a:noFill/>
          </a:ln>
        </p:spPr>
        <p:txBody>
          <a:bodyPr wrap="none" lIns="0" rIns="0" tIns="0" bIns="0" anchor="t">
            <a:noAutofit/>
          </a:bodyPr>
          <a:p>
            <a:r>
              <a:rPr b="1" lang="en-US" sz="1200" spc="-1" strike="noStrike">
                <a:solidFill>
                  <a:srgbClr val="284f78"/>
                </a:solidFill>
                <a:latin typeface="Arial"/>
                <a:ea typeface="Arial"/>
              </a:rPr>
              <a:t>49 → 248 MHz</a:t>
            </a:r>
            <a:endParaRPr b="0" lang="en-US" sz="1200" spc="-1" strike="noStrike">
              <a:solidFill>
                <a:srgbClr val="000000"/>
              </a:solidFill>
              <a:latin typeface="Times New Roman"/>
            </a:endParaRPr>
          </a:p>
        </p:txBody>
      </p:sp>
      <p:sp>
        <p:nvSpPr>
          <p:cNvPr id="283" name=""/>
          <p:cNvSpPr txBox="1"/>
          <p:nvPr/>
        </p:nvSpPr>
        <p:spPr>
          <a:xfrm>
            <a:off x="814320" y="4366440"/>
            <a:ext cx="2053440" cy="160560"/>
          </a:xfrm>
          <a:prstGeom prst="rect">
            <a:avLst/>
          </a:prstGeom>
          <a:noFill/>
          <a:ln w="0">
            <a:noFill/>
          </a:ln>
        </p:spPr>
        <p:txBody>
          <a:bodyPr wrap="none" lIns="0" rIns="0" tIns="0" bIns="0" anchor="t">
            <a:noAutofit/>
          </a:bodyPr>
          <a:p>
            <a:r>
              <a:rPr b="1" lang="en-US" sz="1130" spc="-1" strike="noStrike">
                <a:solidFill>
                  <a:srgbClr val="20252c"/>
                </a:solidFill>
                <a:latin typeface="Arial"/>
                <a:ea typeface="Arial"/>
              </a:rPr>
              <a:t>TKEEP → popcount → limit →</a:t>
            </a:r>
            <a:endParaRPr b="0" lang="en-US" sz="1130" spc="-1" strike="noStrike">
              <a:solidFill>
                <a:srgbClr val="000000"/>
              </a:solidFill>
              <a:latin typeface="Times New Roman"/>
            </a:endParaRPr>
          </a:p>
        </p:txBody>
      </p:sp>
      <p:sp>
        <p:nvSpPr>
          <p:cNvPr id="284" name=""/>
          <p:cNvSpPr txBox="1"/>
          <p:nvPr/>
        </p:nvSpPr>
        <p:spPr>
          <a:xfrm>
            <a:off x="814320" y="4556880"/>
            <a:ext cx="1043280" cy="160560"/>
          </a:xfrm>
          <a:prstGeom prst="rect">
            <a:avLst/>
          </a:prstGeom>
          <a:noFill/>
          <a:ln w="0">
            <a:noFill/>
          </a:ln>
        </p:spPr>
        <p:txBody>
          <a:bodyPr wrap="none" lIns="0" rIns="0" tIns="0" bIns="0" anchor="t">
            <a:noAutofit/>
          </a:bodyPr>
          <a:p>
            <a:r>
              <a:rPr b="1" lang="en-US" sz="1130" spc="-1" strike="noStrike">
                <a:solidFill>
                  <a:srgbClr val="20252c"/>
                </a:solidFill>
                <a:latin typeface="Arial"/>
                <a:ea typeface="Arial"/>
              </a:rPr>
              <a:t>TREADY: 27 ns</a:t>
            </a:r>
            <a:endParaRPr b="0" lang="en-US" sz="1130" spc="-1" strike="noStrike">
              <a:solidFill>
                <a:srgbClr val="000000"/>
              </a:solidFill>
              <a:latin typeface="Times New Roman"/>
            </a:endParaRPr>
          </a:p>
        </p:txBody>
      </p:sp>
      <p:sp>
        <p:nvSpPr>
          <p:cNvPr id="285" name=""/>
          <p:cNvSpPr txBox="1"/>
          <p:nvPr/>
        </p:nvSpPr>
        <p:spPr>
          <a:xfrm>
            <a:off x="3500280" y="4366440"/>
            <a:ext cx="391752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TREADY independent of TKEEP; near-limit beat checked one</a:t>
            </a:r>
            <a:endParaRPr b="0" lang="en-US" sz="1130" spc="-1" strike="noStrike">
              <a:solidFill>
                <a:srgbClr val="000000"/>
              </a:solidFill>
              <a:latin typeface="Times New Roman"/>
            </a:endParaRPr>
          </a:p>
        </p:txBody>
      </p:sp>
      <p:sp>
        <p:nvSpPr>
          <p:cNvPr id="286" name=""/>
          <p:cNvSpPr txBox="1"/>
          <p:nvPr/>
        </p:nvSpPr>
        <p:spPr>
          <a:xfrm>
            <a:off x="3500280" y="4556880"/>
            <a:ext cx="99432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cycle later (X.1)</a:t>
            </a:r>
            <a:endParaRPr b="0" lang="en-US" sz="1130" spc="-1" strike="noStrike">
              <a:solidFill>
                <a:srgbClr val="000000"/>
              </a:solidFill>
              <a:latin typeface="Times New Roman"/>
            </a:endParaRPr>
          </a:p>
        </p:txBody>
      </p:sp>
      <p:sp>
        <p:nvSpPr>
          <p:cNvPr id="287" name=""/>
          <p:cNvSpPr txBox="1"/>
          <p:nvPr/>
        </p:nvSpPr>
        <p:spPr>
          <a:xfrm>
            <a:off x="7977240" y="4367520"/>
            <a:ext cx="1625400" cy="171000"/>
          </a:xfrm>
          <a:prstGeom prst="rect">
            <a:avLst/>
          </a:prstGeom>
          <a:noFill/>
          <a:ln w="0">
            <a:noFill/>
          </a:ln>
        </p:spPr>
        <p:txBody>
          <a:bodyPr wrap="none" lIns="0" rIns="0" tIns="0" bIns="0" anchor="t">
            <a:noAutofit/>
          </a:bodyPr>
          <a:p>
            <a:r>
              <a:rPr b="1" lang="en-US" sz="1200" spc="-1" strike="noStrike">
                <a:solidFill>
                  <a:srgbClr val="284f78"/>
                </a:solidFill>
                <a:latin typeface="Arial"/>
                <a:ea typeface="Arial"/>
              </a:rPr>
              <a:t>255 MHz, all paths met</a:t>
            </a:r>
            <a:endParaRPr b="0" lang="en-US" sz="1200" spc="-1" strike="noStrike">
              <a:solidFill>
                <a:srgbClr val="000000"/>
              </a:solidFill>
              <a:latin typeface="Times New Roman"/>
            </a:endParaRPr>
          </a:p>
        </p:txBody>
      </p:sp>
      <p:sp>
        <p:nvSpPr>
          <p:cNvPr id="288" name=""/>
          <p:cNvSpPr txBox="1"/>
          <p:nvPr/>
        </p:nvSpPr>
        <p:spPr>
          <a:xfrm>
            <a:off x="7977240" y="4594320"/>
            <a:ext cx="1555200" cy="148320"/>
          </a:xfrm>
          <a:prstGeom prst="rect">
            <a:avLst/>
          </a:prstGeom>
          <a:noFill/>
          <a:ln w="0">
            <a:noFill/>
          </a:ln>
        </p:spPr>
        <p:txBody>
          <a:bodyPr wrap="none" lIns="0" rIns="0" tIns="0" bIns="0" anchor="t">
            <a:noAutofit/>
          </a:bodyPr>
          <a:p>
            <a:r>
              <a:rPr b="0" lang="en-US" sz="1050" spc="-1" strike="noStrike">
                <a:solidFill>
                  <a:srgbClr val="525b65"/>
                </a:solidFill>
                <a:latin typeface="Arial"/>
                <a:ea typeface="Arial"/>
              </a:rPr>
              <a:t>ASIC slack −12 → −0.5 ns</a:t>
            </a:r>
            <a:endParaRPr b="0" lang="en-US" sz="1050" spc="-1" strike="noStrike">
              <a:solidFill>
                <a:srgbClr val="000000"/>
              </a:solidFill>
              <a:latin typeface="Times New Roman"/>
            </a:endParaRPr>
          </a:p>
        </p:txBody>
      </p:sp>
      <p:sp>
        <p:nvSpPr>
          <p:cNvPr id="289" name=""/>
          <p:cNvSpPr txBox="1"/>
          <p:nvPr/>
        </p:nvSpPr>
        <p:spPr>
          <a:xfrm>
            <a:off x="814320" y="5033160"/>
            <a:ext cx="2365920" cy="160560"/>
          </a:xfrm>
          <a:prstGeom prst="rect">
            <a:avLst/>
          </a:prstGeom>
          <a:noFill/>
          <a:ln w="0">
            <a:noFill/>
          </a:ln>
        </p:spPr>
        <p:txBody>
          <a:bodyPr wrap="none" lIns="0" rIns="0" tIns="0" bIns="0" anchor="t">
            <a:noAutofit/>
          </a:bodyPr>
          <a:p>
            <a:r>
              <a:rPr b="1" lang="en-US" sz="1130" spc="-1" strike="noStrike">
                <a:solidFill>
                  <a:srgbClr val="20252c"/>
                </a:solidFill>
                <a:latin typeface="Arial"/>
                <a:ea typeface="Arial"/>
              </a:rPr>
              <a:t>Replay never ACKed, FEC couldn't</a:t>
            </a:r>
            <a:endParaRPr b="0" lang="en-US" sz="1130" spc="-1" strike="noStrike">
              <a:solidFill>
                <a:srgbClr val="000000"/>
              </a:solidFill>
              <a:latin typeface="Times New Roman"/>
            </a:endParaRPr>
          </a:p>
        </p:txBody>
      </p:sp>
      <p:sp>
        <p:nvSpPr>
          <p:cNvPr id="290" name=""/>
          <p:cNvSpPr txBox="1"/>
          <p:nvPr/>
        </p:nvSpPr>
        <p:spPr>
          <a:xfrm>
            <a:off x="814320" y="5223600"/>
            <a:ext cx="2117520" cy="160560"/>
          </a:xfrm>
          <a:prstGeom prst="rect">
            <a:avLst/>
          </a:prstGeom>
          <a:noFill/>
          <a:ln w="0">
            <a:noFill/>
          </a:ln>
        </p:spPr>
        <p:txBody>
          <a:bodyPr wrap="none" lIns="0" rIns="0" tIns="0" bIns="0" anchor="t">
            <a:noAutofit/>
          </a:bodyPr>
          <a:p>
            <a:r>
              <a:rPr b="1" lang="en-US" sz="1130" spc="-1" strike="noStrike">
                <a:solidFill>
                  <a:srgbClr val="20252c"/>
                </a:solidFill>
                <a:latin typeface="Arial"/>
                <a:ea typeface="Arial"/>
              </a:rPr>
              <a:t>correct, link hung on cable pull</a:t>
            </a:r>
            <a:endParaRPr b="0" lang="en-US" sz="1130" spc="-1" strike="noStrike">
              <a:solidFill>
                <a:srgbClr val="000000"/>
              </a:solidFill>
              <a:latin typeface="Times New Roman"/>
            </a:endParaRPr>
          </a:p>
        </p:txBody>
      </p:sp>
      <p:sp>
        <p:nvSpPr>
          <p:cNvPr id="291" name=""/>
          <p:cNvSpPr txBox="1"/>
          <p:nvPr/>
        </p:nvSpPr>
        <p:spPr>
          <a:xfrm>
            <a:off x="3500280" y="5033160"/>
            <a:ext cx="402408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ACK/NAK replay, SEC-DED FEC + CRC-64, credit flow control,</a:t>
            </a:r>
            <a:endParaRPr b="0" lang="en-US" sz="1130" spc="-1" strike="noStrike">
              <a:solidFill>
                <a:srgbClr val="000000"/>
              </a:solidFill>
              <a:latin typeface="Times New Roman"/>
            </a:endParaRPr>
          </a:p>
        </p:txBody>
      </p:sp>
      <p:sp>
        <p:nvSpPr>
          <p:cNvPr id="292" name=""/>
          <p:cNvSpPr txBox="1"/>
          <p:nvPr/>
        </p:nvSpPr>
        <p:spPr>
          <a:xfrm>
            <a:off x="3500280" y="5223600"/>
            <a:ext cx="111492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link recovery (K6)</a:t>
            </a:r>
            <a:endParaRPr b="0" lang="en-US" sz="1130" spc="-1" strike="noStrike">
              <a:solidFill>
                <a:srgbClr val="000000"/>
              </a:solidFill>
              <a:latin typeface="Times New Roman"/>
            </a:endParaRPr>
          </a:p>
        </p:txBody>
      </p:sp>
      <p:sp>
        <p:nvSpPr>
          <p:cNvPr id="293" name=""/>
          <p:cNvSpPr txBox="1"/>
          <p:nvPr/>
        </p:nvSpPr>
        <p:spPr>
          <a:xfrm>
            <a:off x="7977240" y="5034240"/>
            <a:ext cx="1032480" cy="171000"/>
          </a:xfrm>
          <a:prstGeom prst="rect">
            <a:avLst/>
          </a:prstGeom>
          <a:noFill/>
          <a:ln w="0">
            <a:noFill/>
          </a:ln>
        </p:spPr>
        <p:txBody>
          <a:bodyPr wrap="none" lIns="0" rIns="0" tIns="0" bIns="0" anchor="t">
            <a:noAutofit/>
          </a:bodyPr>
          <a:p>
            <a:r>
              <a:rPr b="1" lang="en-US" sz="1200" spc="-1" strike="noStrike">
                <a:solidFill>
                  <a:srgbClr val="284f78"/>
                </a:solidFill>
                <a:latin typeface="Arial"/>
                <a:ea typeface="Arial"/>
              </a:rPr>
              <a:t>Zero data loss</a:t>
            </a:r>
            <a:endParaRPr b="0" lang="en-US" sz="1200" spc="-1" strike="noStrike">
              <a:solidFill>
                <a:srgbClr val="000000"/>
              </a:solidFill>
              <a:latin typeface="Times New Roman"/>
            </a:endParaRPr>
          </a:p>
        </p:txBody>
      </p:sp>
      <p:sp>
        <p:nvSpPr>
          <p:cNvPr id="294" name=""/>
          <p:cNvSpPr txBox="1"/>
          <p:nvPr/>
        </p:nvSpPr>
        <p:spPr>
          <a:xfrm>
            <a:off x="7977240" y="5261040"/>
            <a:ext cx="3449520" cy="148320"/>
          </a:xfrm>
          <a:prstGeom prst="rect">
            <a:avLst/>
          </a:prstGeom>
          <a:noFill/>
          <a:ln w="0">
            <a:noFill/>
          </a:ln>
        </p:spPr>
        <p:txBody>
          <a:bodyPr wrap="none" lIns="0" rIns="0" tIns="0" bIns="0" anchor="t">
            <a:noAutofit/>
          </a:bodyPr>
          <a:p>
            <a:r>
              <a:rPr b="0" lang="en-US" sz="1050" spc="-1" strike="noStrike">
                <a:solidFill>
                  <a:srgbClr val="525b65"/>
                </a:solidFill>
                <a:latin typeface="Arial"/>
                <a:ea typeface="Arial"/>
              </a:rPr>
              <a:t>1,069 errors corrected, 7 cable pulls recovered, 40 random</a:t>
            </a:r>
            <a:endParaRPr b="0" lang="en-US" sz="1050" spc="-1" strike="noStrike">
              <a:solidFill>
                <a:srgbClr val="000000"/>
              </a:solidFill>
              <a:latin typeface="Times New Roman"/>
            </a:endParaRPr>
          </a:p>
        </p:txBody>
      </p:sp>
      <p:sp>
        <p:nvSpPr>
          <p:cNvPr id="295" name=""/>
          <p:cNvSpPr txBox="1"/>
          <p:nvPr/>
        </p:nvSpPr>
        <p:spPr>
          <a:xfrm>
            <a:off x="7977240" y="5441760"/>
            <a:ext cx="354240" cy="148320"/>
          </a:xfrm>
          <a:prstGeom prst="rect">
            <a:avLst/>
          </a:prstGeom>
          <a:noFill/>
          <a:ln w="0">
            <a:noFill/>
          </a:ln>
        </p:spPr>
        <p:txBody>
          <a:bodyPr wrap="none" lIns="0" rIns="0" tIns="0" bIns="0" anchor="t">
            <a:noAutofit/>
          </a:bodyPr>
          <a:p>
            <a:r>
              <a:rPr b="0" lang="en-US" sz="1050" spc="-1" strike="noStrike">
                <a:solidFill>
                  <a:srgbClr val="525b65"/>
                </a:solidFill>
                <a:latin typeface="Arial"/>
                <a:ea typeface="Arial"/>
              </a:rPr>
              <a:t>seeds</a:t>
            </a:r>
            <a:endParaRPr b="0" lang="en-US" sz="1050" spc="-1" strike="noStrike">
              <a:solidFill>
                <a:srgbClr val="000000"/>
              </a:solidFill>
              <a:latin typeface="Times New Roman"/>
            </a:endParaRPr>
          </a:p>
        </p:txBody>
      </p:sp>
      <p:sp>
        <p:nvSpPr>
          <p:cNvPr id="296" name=""/>
          <p:cNvSpPr txBox="1"/>
          <p:nvPr/>
        </p:nvSpPr>
        <p:spPr>
          <a:xfrm>
            <a:off x="695160" y="6157080"/>
            <a:ext cx="485280" cy="160560"/>
          </a:xfrm>
          <a:prstGeom prst="rect">
            <a:avLst/>
          </a:prstGeom>
          <a:noFill/>
          <a:ln w="0">
            <a:noFill/>
          </a:ln>
        </p:spPr>
        <p:txBody>
          <a:bodyPr wrap="none" lIns="0" rIns="0" tIns="0" bIns="0" anchor="t">
            <a:noAutofit/>
          </a:bodyPr>
          <a:p>
            <a:r>
              <a:rPr b="1" lang="en-US" sz="1130" spc="-1" strike="noStrike">
                <a:solidFill>
                  <a:srgbClr val="1d3859"/>
                </a:solidFill>
                <a:latin typeface="Arial"/>
                <a:ea typeface="Arial"/>
              </a:rPr>
              <a:t>Overall</a:t>
            </a:r>
            <a:endParaRPr b="0" lang="en-US" sz="1130" spc="-1" strike="noStrike">
              <a:solidFill>
                <a:srgbClr val="000000"/>
              </a:solidFill>
              <a:latin typeface="Times New Roman"/>
            </a:endParaRPr>
          </a:p>
        </p:txBody>
      </p:sp>
      <p:sp>
        <p:nvSpPr>
          <p:cNvPr id="297" name=""/>
          <p:cNvSpPr/>
          <p:nvPr/>
        </p:nvSpPr>
        <p:spPr>
          <a:xfrm>
            <a:off x="618840" y="6457680"/>
            <a:ext cx="10954080" cy="10080"/>
          </a:xfrm>
          <a:custGeom>
            <a:avLst/>
            <a:gdLst/>
            <a:ahLst/>
            <a:rect l="0" t="0" r="r" b="b"/>
            <a:pathLst>
              <a:path w="30428" h="28">
                <a:moveTo>
                  <a:pt x="0" y="0"/>
                </a:moveTo>
                <a:lnTo>
                  <a:pt x="30428" y="0"/>
                </a:lnTo>
                <a:lnTo>
                  <a:pt x="30428" y="28"/>
                </a:lnTo>
                <a:lnTo>
                  <a:pt x="0" y="28"/>
                </a:lnTo>
                <a:lnTo>
                  <a:pt x="0" y="0"/>
                </a:lnTo>
                <a:close/>
              </a:path>
            </a:pathLst>
          </a:custGeom>
          <a:solidFill>
            <a:srgbClr val="dfe3e6"/>
          </a:solidFill>
          <a:ln w="0">
            <a:noFill/>
          </a:ln>
        </p:spPr>
        <p:txBody>
          <a:bodyPr lIns="0" rIns="0" tIns="0" bIns="0" anchor="t">
            <a:noAutofit/>
          </a:bodyPr>
          <a:p>
            <a:endParaRPr b="0" lang="en-US" sz="2400" spc="-1" strike="noStrike">
              <a:solidFill>
                <a:srgbClr val="000000"/>
              </a:solidFill>
              <a:latin typeface="Times New Roman"/>
            </a:endParaRPr>
          </a:p>
        </p:txBody>
      </p:sp>
      <p:sp>
        <p:nvSpPr>
          <p:cNvPr id="298" name=""/>
          <p:cNvSpPr txBox="1"/>
          <p:nvPr/>
        </p:nvSpPr>
        <p:spPr>
          <a:xfrm>
            <a:off x="1313280" y="6157080"/>
            <a:ext cx="725796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118 → 255 MHz (2.2×) with 2% more LUTs, because the wide path replaced the serial one rather than adding to it.</a:t>
            </a:r>
            <a:endParaRPr b="0" lang="en-US" sz="1130" spc="-1" strike="noStrike">
              <a:solidFill>
                <a:srgbClr val="000000"/>
              </a:solidFill>
              <a:latin typeface="Times New Roman"/>
            </a:endParaRPr>
          </a:p>
        </p:txBody>
      </p:sp>
      <p:sp>
        <p:nvSpPr>
          <p:cNvPr id="299" name=""/>
          <p:cNvSpPr txBox="1"/>
          <p:nvPr/>
        </p:nvSpPr>
        <p:spPr>
          <a:xfrm>
            <a:off x="619200" y="6550920"/>
            <a:ext cx="2867400" cy="119520"/>
          </a:xfrm>
          <a:prstGeom prst="rect">
            <a:avLst/>
          </a:prstGeom>
          <a:noFill/>
          <a:ln w="0">
            <a:noFill/>
          </a:ln>
        </p:spPr>
        <p:txBody>
          <a:bodyPr wrap="none" lIns="0" rIns="0" tIns="0" bIns="0" anchor="t">
            <a:noAutofit/>
          </a:bodyPr>
          <a:p>
            <a:r>
              <a:rPr b="0" lang="en-US" sz="839" spc="-1" strike="noStrike">
                <a:solidFill>
                  <a:srgbClr val="7a8188"/>
                </a:solidFill>
                <a:latin typeface="Arial"/>
                <a:ea typeface="Arial"/>
              </a:rPr>
              <a:t>AXI4-Stream → PCIe 6.0 Bridge  |  Round 2 technical review</a:t>
            </a:r>
            <a:endParaRPr b="0" lang="en-US" sz="839" spc="-1" strike="noStrike">
              <a:solidFill>
                <a:srgbClr val="000000"/>
              </a:solidFill>
              <a:latin typeface="Times New Roman"/>
            </a:endParaRPr>
          </a:p>
        </p:txBody>
      </p:sp>
      <p:sp>
        <p:nvSpPr>
          <p:cNvPr id="300" name=""/>
          <p:cNvSpPr txBox="1"/>
          <p:nvPr/>
        </p:nvSpPr>
        <p:spPr>
          <a:xfrm>
            <a:off x="11284560" y="6550920"/>
            <a:ext cx="267480" cy="119520"/>
          </a:xfrm>
          <a:prstGeom prst="rect">
            <a:avLst/>
          </a:prstGeom>
          <a:noFill/>
          <a:ln w="0">
            <a:noFill/>
          </a:ln>
        </p:spPr>
        <p:txBody>
          <a:bodyPr wrap="none" lIns="0" rIns="0" tIns="0" bIns="0" anchor="t">
            <a:noAutofit/>
          </a:bodyPr>
          <a:p>
            <a:r>
              <a:rPr b="0" lang="en-US" sz="839" spc="-1" strike="noStrike">
                <a:solidFill>
                  <a:srgbClr val="7a8188"/>
                </a:solidFill>
                <a:latin typeface="Arial"/>
                <a:ea typeface="Arial"/>
              </a:rPr>
              <a:t>6 / 10</a:t>
            </a:r>
            <a:endParaRPr b="0" lang="en-US" sz="839"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
          <p:cNvSpPr/>
          <p:nvPr/>
        </p:nvSpPr>
        <p:spPr>
          <a:xfrm>
            <a:off x="0" y="0"/>
            <a:ext cx="12191760" cy="6858000"/>
          </a:xfrm>
          <a:custGeom>
            <a:avLst/>
            <a:gdLst/>
            <a:ahLst/>
            <a:rect l="0" t="0" r="r" b="b"/>
            <a:pathLst>
              <a:path w="33866" h="19050">
                <a:moveTo>
                  <a:pt x="0" y="0"/>
                </a:moveTo>
                <a:lnTo>
                  <a:pt x="33866" y="0"/>
                </a:lnTo>
                <a:lnTo>
                  <a:pt x="33866"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02" name=""/>
          <p:cNvSpPr/>
          <p:nvPr/>
        </p:nvSpPr>
        <p:spPr>
          <a:xfrm>
            <a:off x="0" y="0"/>
            <a:ext cx="12192120" cy="6858360"/>
          </a:xfrm>
          <a:custGeom>
            <a:avLst/>
            <a:gdLst/>
            <a:ahLst/>
            <a:rect l="0" t="0" r="r" b="b"/>
            <a:pathLst>
              <a:path w="33867" h="19051">
                <a:moveTo>
                  <a:pt x="0" y="0"/>
                </a:moveTo>
                <a:lnTo>
                  <a:pt x="33867" y="0"/>
                </a:lnTo>
                <a:lnTo>
                  <a:pt x="33867" y="19051"/>
                </a:lnTo>
                <a:lnTo>
                  <a:pt x="0" y="19051"/>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03" name=""/>
          <p:cNvSpPr txBox="1"/>
          <p:nvPr/>
        </p:nvSpPr>
        <p:spPr>
          <a:xfrm>
            <a:off x="612360" y="226440"/>
            <a:ext cx="181584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RoboKnights  /  SARCathon 2026</a:t>
            </a:r>
            <a:endParaRPr b="0" lang="en-US" sz="960" spc="-1" strike="noStrike">
              <a:solidFill>
                <a:srgbClr val="000000"/>
              </a:solidFill>
              <a:latin typeface="Times New Roman"/>
            </a:endParaRPr>
          </a:p>
        </p:txBody>
      </p:sp>
      <p:sp>
        <p:nvSpPr>
          <p:cNvPr id="304" name=""/>
          <p:cNvSpPr/>
          <p:nvPr/>
        </p:nvSpPr>
        <p:spPr>
          <a:xfrm>
            <a:off x="612000" y="466200"/>
            <a:ext cx="10954800" cy="0"/>
          </a:xfrm>
          <a:prstGeom prst="line">
            <a:avLst/>
          </a:prstGeom>
          <a:ln w="9720">
            <a:solidFill>
              <a:srgbClr val="ced4da"/>
            </a:solidFill>
            <a:round/>
          </a:ln>
        </p:spPr>
        <p:style>
          <a:lnRef idx="0"/>
          <a:fillRef idx="0"/>
          <a:effectRef idx="0"/>
          <a:fontRef idx="minor"/>
        </p:style>
        <p:txBody>
          <a:bodyPr lIns="4680" rIns="4680" tIns="-4680" bIns="-4680" anchor="t">
            <a:noAutofit/>
          </a:bodyPr>
          <a:p>
            <a:endParaRPr b="0" lang="en-US" sz="2400" spc="-1" strike="noStrike">
              <a:solidFill>
                <a:srgbClr val="000000"/>
              </a:solidFill>
              <a:latin typeface="Times New Roman"/>
            </a:endParaRPr>
          </a:p>
        </p:txBody>
      </p:sp>
      <p:sp>
        <p:nvSpPr>
          <p:cNvPr id="305" name=""/>
          <p:cNvSpPr txBox="1"/>
          <p:nvPr/>
        </p:nvSpPr>
        <p:spPr>
          <a:xfrm>
            <a:off x="11413440" y="230760"/>
            <a:ext cx="13500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07</a:t>
            </a:r>
            <a:endParaRPr b="0" lang="en-US" sz="960" spc="-1" strike="noStrike">
              <a:solidFill>
                <a:srgbClr val="000000"/>
              </a:solidFill>
              <a:latin typeface="Times New Roman"/>
            </a:endParaRPr>
          </a:p>
        </p:txBody>
      </p:sp>
      <p:sp>
        <p:nvSpPr>
          <p:cNvPr id="306" name=""/>
          <p:cNvSpPr txBox="1"/>
          <p:nvPr/>
        </p:nvSpPr>
        <p:spPr>
          <a:xfrm>
            <a:off x="639720" y="737640"/>
            <a:ext cx="7818840" cy="379800"/>
          </a:xfrm>
          <a:prstGeom prst="rect">
            <a:avLst/>
          </a:prstGeom>
          <a:noFill/>
          <a:ln w="0">
            <a:noFill/>
          </a:ln>
        </p:spPr>
        <p:txBody>
          <a:bodyPr wrap="none" lIns="0" rIns="0" tIns="0" bIns="0" anchor="t">
            <a:noAutofit/>
          </a:bodyPr>
          <a:p>
            <a:r>
              <a:rPr b="1" lang="en-US" sz="2680" spc="-1" strike="noStrike">
                <a:solidFill>
                  <a:srgbClr val="20252c"/>
                </a:solidFill>
                <a:latin typeface="Arial"/>
                <a:ea typeface="Arial"/>
              </a:rPr>
              <a:t>Final FPGA results and workload measurements</a:t>
            </a:r>
            <a:endParaRPr b="0" lang="en-US" sz="2680" spc="-1" strike="noStrike">
              <a:solidFill>
                <a:srgbClr val="000000"/>
              </a:solidFill>
              <a:latin typeface="Times New Roman"/>
            </a:endParaRPr>
          </a:p>
        </p:txBody>
      </p:sp>
      <p:sp>
        <p:nvSpPr>
          <p:cNvPr id="307" name=""/>
          <p:cNvSpPr/>
          <p:nvPr/>
        </p:nvSpPr>
        <p:spPr>
          <a:xfrm>
            <a:off x="612000" y="6482880"/>
            <a:ext cx="10954800" cy="0"/>
          </a:xfrm>
          <a:prstGeom prst="line">
            <a:avLst/>
          </a:prstGeom>
          <a:ln w="7920">
            <a:solidFill>
              <a:srgbClr val="ced4da"/>
            </a:solidFill>
            <a:round/>
          </a:ln>
        </p:spPr>
        <p:style>
          <a:lnRef idx="0"/>
          <a:fillRef idx="0"/>
          <a:effectRef idx="0"/>
          <a:fontRef idx="minor"/>
        </p:style>
        <p:txBody>
          <a:bodyPr lIns="3960" rIns="3960" tIns="-3960" bIns="-3960" anchor="t">
            <a:noAutofit/>
          </a:bodyPr>
          <a:p>
            <a:endParaRPr b="0" lang="en-US" sz="2400" spc="-1" strike="noStrike">
              <a:solidFill>
                <a:srgbClr val="000000"/>
              </a:solidFill>
              <a:latin typeface="Times New Roman"/>
            </a:endParaRPr>
          </a:p>
        </p:txBody>
      </p:sp>
      <p:sp>
        <p:nvSpPr>
          <p:cNvPr id="308" name=""/>
          <p:cNvSpPr txBox="1"/>
          <p:nvPr/>
        </p:nvSpPr>
        <p:spPr>
          <a:xfrm>
            <a:off x="639720" y="1332720"/>
            <a:ext cx="6924240" cy="177120"/>
          </a:xfrm>
          <a:prstGeom prst="rect">
            <a:avLst/>
          </a:prstGeom>
          <a:noFill/>
          <a:ln w="0">
            <a:noFill/>
          </a:ln>
        </p:spPr>
        <p:txBody>
          <a:bodyPr wrap="none" lIns="0" rIns="0" tIns="0" bIns="0" anchor="t">
            <a:noAutofit/>
          </a:bodyPr>
          <a:p>
            <a:r>
              <a:rPr b="0" lang="en-US" sz="1250" spc="-1" strike="noStrike">
                <a:solidFill>
                  <a:srgbClr val="525b65"/>
                </a:solidFill>
                <a:latin typeface="Arial"/>
                <a:ea typeface="Arial"/>
              </a:rPr>
              <a:t>FPGA specifications are from the final X.1–X.4 ledger; workload results come from RTL simulation.</a:t>
            </a:r>
            <a:endParaRPr b="0" lang="en-US" sz="1250" spc="-1" strike="noStrike">
              <a:solidFill>
                <a:srgbClr val="000000"/>
              </a:solidFill>
              <a:latin typeface="Times New Roman"/>
            </a:endParaRPr>
          </a:p>
        </p:txBody>
      </p:sp>
      <p:sp>
        <p:nvSpPr>
          <p:cNvPr id="309" name=""/>
          <p:cNvSpPr txBox="1"/>
          <p:nvPr/>
        </p:nvSpPr>
        <p:spPr>
          <a:xfrm>
            <a:off x="639720" y="6578280"/>
            <a:ext cx="299088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AXI4-Stream → PCIe 6.0 Bridge  |  Round 2 technical review</a:t>
            </a:r>
            <a:endParaRPr b="0" lang="en-US" sz="870" spc="-1" strike="noStrike">
              <a:solidFill>
                <a:srgbClr val="000000"/>
              </a:solidFill>
              <a:latin typeface="Times New Roman"/>
            </a:endParaRPr>
          </a:p>
        </p:txBody>
      </p:sp>
      <p:sp>
        <p:nvSpPr>
          <p:cNvPr id="310" name=""/>
          <p:cNvSpPr txBox="1"/>
          <p:nvPr/>
        </p:nvSpPr>
        <p:spPr>
          <a:xfrm>
            <a:off x="11261520" y="6578280"/>
            <a:ext cx="27792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7 / 10</a:t>
            </a:r>
            <a:endParaRPr b="0" lang="en-US" sz="870" spc="-1" strike="noStrike">
              <a:solidFill>
                <a:srgbClr val="000000"/>
              </a:solidFill>
              <a:latin typeface="Times New Roman"/>
            </a:endParaRPr>
          </a:p>
        </p:txBody>
      </p:sp>
      <p:sp>
        <p:nvSpPr>
          <p:cNvPr id="311" name=""/>
          <p:cNvSpPr/>
          <p:nvPr/>
        </p:nvSpPr>
        <p:spPr>
          <a:xfrm>
            <a:off x="685800" y="2112120"/>
            <a:ext cx="5230080" cy="0"/>
          </a:xfrm>
          <a:prstGeom prst="line">
            <a:avLst/>
          </a:prstGeom>
          <a:ln w="9000">
            <a:solidFill>
              <a:srgbClr val="ced4da"/>
            </a:solidFill>
            <a:round/>
          </a:ln>
        </p:spPr>
        <p:style>
          <a:lnRef idx="0"/>
          <a:fillRef idx="0"/>
          <a:effectRef idx="0"/>
          <a:fontRef idx="minor"/>
        </p:style>
        <p:txBody>
          <a:bodyPr lIns="4320" rIns="4320" tIns="-4320" bIns="-4320" anchor="t">
            <a:noAutofit/>
          </a:bodyPr>
          <a:p>
            <a:endParaRPr b="0" lang="en-US" sz="2400" spc="-1" strike="noStrike">
              <a:solidFill>
                <a:srgbClr val="000000"/>
              </a:solidFill>
              <a:latin typeface="Times New Roman"/>
            </a:endParaRPr>
          </a:p>
        </p:txBody>
      </p:sp>
      <p:sp>
        <p:nvSpPr>
          <p:cNvPr id="312" name=""/>
          <p:cNvSpPr/>
          <p:nvPr/>
        </p:nvSpPr>
        <p:spPr>
          <a:xfrm>
            <a:off x="685800" y="2148480"/>
            <a:ext cx="5230440" cy="365400"/>
          </a:xfrm>
          <a:custGeom>
            <a:avLst/>
            <a:gdLst/>
            <a:ahLst/>
            <a:rect l="0" t="0" r="r" b="b"/>
            <a:pathLst>
              <a:path w="14529" h="1015">
                <a:moveTo>
                  <a:pt x="7266" y="1015"/>
                </a:moveTo>
                <a:lnTo>
                  <a:pt x="0" y="1015"/>
                </a:lnTo>
                <a:lnTo>
                  <a:pt x="0" y="0"/>
                </a:lnTo>
                <a:lnTo>
                  <a:pt x="14529" y="0"/>
                </a:lnTo>
                <a:lnTo>
                  <a:pt x="14529" y="1015"/>
                </a:lnTo>
                <a:lnTo>
                  <a:pt x="7266" y="1015"/>
                </a:lnTo>
                <a:close/>
              </a:path>
            </a:pathLst>
          </a:custGeom>
          <a:solidFill>
            <a:srgbClr val="f4f5f6"/>
          </a:solidFill>
          <a:ln w="6120">
            <a:solidFill>
              <a:srgbClr val="ced4da"/>
            </a:solidFill>
            <a:round/>
          </a:ln>
        </p:spPr>
        <p:txBody>
          <a:bodyPr lIns="2880" rIns="2880" tIns="2880" bIns="2880" anchor="t">
            <a:noAutofit/>
          </a:bodyPr>
          <a:p>
            <a:endParaRPr b="0" lang="en-US" sz="2400" spc="-1" strike="noStrike">
              <a:solidFill>
                <a:srgbClr val="000000"/>
              </a:solidFill>
              <a:latin typeface="Times New Roman"/>
            </a:endParaRPr>
          </a:p>
        </p:txBody>
      </p:sp>
      <p:sp>
        <p:nvSpPr>
          <p:cNvPr id="313" name=""/>
          <p:cNvSpPr txBox="1"/>
          <p:nvPr/>
        </p:nvSpPr>
        <p:spPr>
          <a:xfrm>
            <a:off x="685800" y="1806120"/>
            <a:ext cx="3178440" cy="201600"/>
          </a:xfrm>
          <a:prstGeom prst="rect">
            <a:avLst/>
          </a:prstGeom>
          <a:noFill/>
          <a:ln w="0">
            <a:noFill/>
          </a:ln>
        </p:spPr>
        <p:txBody>
          <a:bodyPr wrap="none" lIns="0" rIns="0" tIns="0" bIns="0" anchor="t">
            <a:noAutofit/>
          </a:bodyPr>
          <a:p>
            <a:r>
              <a:rPr b="1" lang="en-US" sz="1420" spc="-1" strike="noStrike">
                <a:solidFill>
                  <a:srgbClr val="1d3859"/>
                </a:solidFill>
                <a:latin typeface="Arial"/>
                <a:ea typeface="Arial"/>
              </a:rPr>
              <a:t>Final FPGA implementation  (xcu250)</a:t>
            </a:r>
            <a:endParaRPr b="0" lang="en-US" sz="1420" spc="-1" strike="noStrike">
              <a:solidFill>
                <a:srgbClr val="000000"/>
              </a:solidFill>
              <a:latin typeface="Times New Roman"/>
            </a:endParaRPr>
          </a:p>
        </p:txBody>
      </p:sp>
      <p:sp>
        <p:nvSpPr>
          <p:cNvPr id="314" name=""/>
          <p:cNvSpPr txBox="1"/>
          <p:nvPr/>
        </p:nvSpPr>
        <p:spPr>
          <a:xfrm>
            <a:off x="795240" y="2256840"/>
            <a:ext cx="686520" cy="155880"/>
          </a:xfrm>
          <a:prstGeom prst="rect">
            <a:avLst/>
          </a:prstGeom>
          <a:noFill/>
          <a:ln w="0">
            <a:noFill/>
          </a:ln>
        </p:spPr>
        <p:txBody>
          <a:bodyPr wrap="none" lIns="0" rIns="0" tIns="0" bIns="0" anchor="t">
            <a:noAutofit/>
          </a:bodyPr>
          <a:p>
            <a:r>
              <a:rPr b="1" lang="en-US" sz="1100" spc="-1" strike="noStrike">
                <a:solidFill>
                  <a:srgbClr val="1d3859"/>
                </a:solidFill>
                <a:latin typeface="Arial"/>
                <a:ea typeface="Arial"/>
              </a:rPr>
              <a:t>Parameter</a:t>
            </a:r>
            <a:endParaRPr b="0" lang="en-US" sz="1100" spc="-1" strike="noStrike">
              <a:solidFill>
                <a:srgbClr val="000000"/>
              </a:solidFill>
              <a:latin typeface="Times New Roman"/>
            </a:endParaRPr>
          </a:p>
        </p:txBody>
      </p:sp>
      <p:sp>
        <p:nvSpPr>
          <p:cNvPr id="315" name=""/>
          <p:cNvSpPr txBox="1"/>
          <p:nvPr/>
        </p:nvSpPr>
        <p:spPr>
          <a:xfrm>
            <a:off x="3218400" y="2256840"/>
            <a:ext cx="779400" cy="155880"/>
          </a:xfrm>
          <a:prstGeom prst="rect">
            <a:avLst/>
          </a:prstGeom>
          <a:noFill/>
          <a:ln w="0">
            <a:noFill/>
          </a:ln>
        </p:spPr>
        <p:txBody>
          <a:bodyPr wrap="none" lIns="0" rIns="0" tIns="0" bIns="0" anchor="t">
            <a:noAutofit/>
          </a:bodyPr>
          <a:p>
            <a:r>
              <a:rPr b="1" lang="en-US" sz="1100" spc="-1" strike="noStrike">
                <a:solidFill>
                  <a:srgbClr val="1d3859"/>
                </a:solidFill>
                <a:latin typeface="Arial"/>
                <a:ea typeface="Arial"/>
              </a:rPr>
              <a:t>Step 4 base</a:t>
            </a:r>
            <a:endParaRPr b="0" lang="en-US" sz="1100" spc="-1" strike="noStrike">
              <a:solidFill>
                <a:srgbClr val="000000"/>
              </a:solidFill>
              <a:latin typeface="Times New Roman"/>
            </a:endParaRPr>
          </a:p>
        </p:txBody>
      </p:sp>
      <p:sp>
        <p:nvSpPr>
          <p:cNvPr id="316" name=""/>
          <p:cNvSpPr txBox="1"/>
          <p:nvPr/>
        </p:nvSpPr>
        <p:spPr>
          <a:xfrm>
            <a:off x="4608360" y="2256840"/>
            <a:ext cx="326880" cy="155880"/>
          </a:xfrm>
          <a:prstGeom prst="rect">
            <a:avLst/>
          </a:prstGeom>
          <a:noFill/>
          <a:ln w="0">
            <a:noFill/>
          </a:ln>
        </p:spPr>
        <p:txBody>
          <a:bodyPr wrap="none" lIns="0" rIns="0" tIns="0" bIns="0" anchor="t">
            <a:noAutofit/>
          </a:bodyPr>
          <a:p>
            <a:r>
              <a:rPr b="1" lang="en-US" sz="1100" spc="-1" strike="noStrike">
                <a:solidFill>
                  <a:srgbClr val="1d3859"/>
                </a:solidFill>
                <a:latin typeface="Arial"/>
                <a:ea typeface="Arial"/>
              </a:rPr>
              <a:t>Final</a:t>
            </a:r>
            <a:endParaRPr b="0" lang="en-US" sz="1100" spc="-1" strike="noStrike">
              <a:solidFill>
                <a:srgbClr val="000000"/>
              </a:solidFill>
              <a:latin typeface="Times New Roman"/>
            </a:endParaRPr>
          </a:p>
        </p:txBody>
      </p:sp>
      <p:sp>
        <p:nvSpPr>
          <p:cNvPr id="317" name=""/>
          <p:cNvSpPr txBox="1"/>
          <p:nvPr/>
        </p:nvSpPr>
        <p:spPr>
          <a:xfrm>
            <a:off x="786240" y="2680560"/>
            <a:ext cx="709560" cy="159120"/>
          </a:xfrm>
          <a:prstGeom prst="rect">
            <a:avLst/>
          </a:prstGeom>
          <a:noFill/>
          <a:ln w="0">
            <a:noFill/>
          </a:ln>
        </p:spPr>
        <p:txBody>
          <a:bodyPr wrap="none" lIns="0" rIns="0" tIns="0" bIns="0" anchor="t">
            <a:noAutofit/>
          </a:bodyPr>
          <a:p>
            <a:r>
              <a:rPr b="0" lang="en-US" sz="1120" spc="-1" strike="noStrike">
                <a:solidFill>
                  <a:srgbClr val="20252c"/>
                </a:solidFill>
                <a:latin typeface="Arial"/>
                <a:ea typeface="Arial"/>
              </a:rPr>
              <a:t>PCIe Fmax</a:t>
            </a:r>
            <a:endParaRPr b="0" lang="en-US" sz="1120" spc="-1" strike="noStrike">
              <a:solidFill>
                <a:srgbClr val="000000"/>
              </a:solidFill>
              <a:latin typeface="Times New Roman"/>
            </a:endParaRPr>
          </a:p>
        </p:txBody>
      </p:sp>
      <p:sp>
        <p:nvSpPr>
          <p:cNvPr id="318" name=""/>
          <p:cNvSpPr txBox="1"/>
          <p:nvPr/>
        </p:nvSpPr>
        <p:spPr>
          <a:xfrm>
            <a:off x="3209400" y="2680560"/>
            <a:ext cx="567720" cy="159120"/>
          </a:xfrm>
          <a:prstGeom prst="rect">
            <a:avLst/>
          </a:prstGeom>
          <a:noFill/>
          <a:ln w="0">
            <a:noFill/>
          </a:ln>
        </p:spPr>
        <p:txBody>
          <a:bodyPr wrap="none" lIns="0" rIns="0" tIns="0" bIns="0" anchor="t">
            <a:noAutofit/>
          </a:bodyPr>
          <a:p>
            <a:r>
              <a:rPr b="0" lang="en-US" sz="1120" spc="-1" strike="noStrike">
                <a:solidFill>
                  <a:srgbClr val="525b65"/>
                </a:solidFill>
                <a:latin typeface="Arial"/>
                <a:ea typeface="Arial"/>
              </a:rPr>
              <a:t>118 MHz</a:t>
            </a:r>
            <a:endParaRPr b="0" lang="en-US" sz="1120" spc="-1" strike="noStrike">
              <a:solidFill>
                <a:srgbClr val="000000"/>
              </a:solidFill>
              <a:latin typeface="Times New Roman"/>
            </a:endParaRPr>
          </a:p>
        </p:txBody>
      </p:sp>
      <p:sp>
        <p:nvSpPr>
          <p:cNvPr id="319" name=""/>
          <p:cNvSpPr/>
          <p:nvPr/>
        </p:nvSpPr>
        <p:spPr>
          <a:xfrm>
            <a:off x="685800" y="2962440"/>
            <a:ext cx="5230080" cy="0"/>
          </a:xfrm>
          <a:prstGeom prst="line">
            <a:avLst/>
          </a:prstGeom>
          <a:ln w="5760">
            <a:solidFill>
              <a:srgbClr val="ced4da"/>
            </a:solidFill>
            <a:round/>
          </a:ln>
        </p:spPr>
        <p:style>
          <a:lnRef idx="0"/>
          <a:fillRef idx="0"/>
          <a:effectRef idx="0"/>
          <a:fontRef idx="minor"/>
        </p:style>
        <p:txBody>
          <a:bodyPr lIns="2880" rIns="2880" tIns="-2880" bIns="-2880" anchor="t">
            <a:noAutofit/>
          </a:bodyPr>
          <a:p>
            <a:endParaRPr b="0" lang="en-US" sz="2400" spc="-1" strike="noStrike">
              <a:solidFill>
                <a:srgbClr val="000000"/>
              </a:solidFill>
              <a:latin typeface="Times New Roman"/>
            </a:endParaRPr>
          </a:p>
        </p:txBody>
      </p:sp>
      <p:sp>
        <p:nvSpPr>
          <p:cNvPr id="320" name=""/>
          <p:cNvSpPr/>
          <p:nvPr/>
        </p:nvSpPr>
        <p:spPr>
          <a:xfrm>
            <a:off x="685800" y="2962440"/>
            <a:ext cx="5230440" cy="448200"/>
          </a:xfrm>
          <a:custGeom>
            <a:avLst/>
            <a:gdLst/>
            <a:ahLst/>
            <a:rect l="0" t="0" r="r" b="b"/>
            <a:pathLst>
              <a:path w="14529" h="1245">
                <a:moveTo>
                  <a:pt x="7266" y="1245"/>
                </a:moveTo>
                <a:lnTo>
                  <a:pt x="0" y="1245"/>
                </a:lnTo>
                <a:lnTo>
                  <a:pt x="0" y="0"/>
                </a:lnTo>
                <a:lnTo>
                  <a:pt x="14529" y="0"/>
                </a:lnTo>
                <a:lnTo>
                  <a:pt x="14529" y="1245"/>
                </a:lnTo>
                <a:lnTo>
                  <a:pt x="7266" y="1245"/>
                </a:lnTo>
                <a:close/>
              </a:path>
            </a:pathLst>
          </a:custGeom>
          <a:solidFill>
            <a:srgbClr val="fafafa"/>
          </a:solidFill>
          <a:ln w="12240">
            <a:solidFill>
              <a:srgbClr val="fafafa"/>
            </a:solidFill>
            <a:round/>
          </a:ln>
        </p:spPr>
        <p:txBody>
          <a:bodyPr lIns="6120" rIns="6120" tIns="6120" bIns="6120" anchor="t">
            <a:noAutofit/>
          </a:bodyPr>
          <a:p>
            <a:endParaRPr b="0" lang="en-US" sz="2400" spc="-1" strike="noStrike">
              <a:solidFill>
                <a:srgbClr val="000000"/>
              </a:solidFill>
              <a:latin typeface="Times New Roman"/>
            </a:endParaRPr>
          </a:p>
        </p:txBody>
      </p:sp>
      <p:sp>
        <p:nvSpPr>
          <p:cNvPr id="321" name=""/>
          <p:cNvSpPr txBox="1"/>
          <p:nvPr/>
        </p:nvSpPr>
        <p:spPr>
          <a:xfrm>
            <a:off x="4599360" y="2680560"/>
            <a:ext cx="567720" cy="159120"/>
          </a:xfrm>
          <a:prstGeom prst="rect">
            <a:avLst/>
          </a:prstGeom>
          <a:noFill/>
          <a:ln w="0">
            <a:noFill/>
          </a:ln>
        </p:spPr>
        <p:txBody>
          <a:bodyPr wrap="none" lIns="0" rIns="0" tIns="0" bIns="0" anchor="t">
            <a:noAutofit/>
          </a:bodyPr>
          <a:p>
            <a:r>
              <a:rPr b="0" lang="en-US" sz="1120" spc="-1" strike="noStrike">
                <a:solidFill>
                  <a:srgbClr val="284f78"/>
                </a:solidFill>
                <a:latin typeface="Arial"/>
                <a:ea typeface="Arial"/>
              </a:rPr>
              <a:t>255 MHz</a:t>
            </a:r>
            <a:endParaRPr b="0" lang="en-US" sz="1120" spc="-1" strike="noStrike">
              <a:solidFill>
                <a:srgbClr val="000000"/>
              </a:solidFill>
              <a:latin typeface="Times New Roman"/>
            </a:endParaRPr>
          </a:p>
        </p:txBody>
      </p:sp>
      <p:sp>
        <p:nvSpPr>
          <p:cNvPr id="322" name=""/>
          <p:cNvSpPr txBox="1"/>
          <p:nvPr/>
        </p:nvSpPr>
        <p:spPr>
          <a:xfrm>
            <a:off x="786240" y="3128760"/>
            <a:ext cx="622440" cy="159120"/>
          </a:xfrm>
          <a:prstGeom prst="rect">
            <a:avLst/>
          </a:prstGeom>
          <a:noFill/>
          <a:ln w="0">
            <a:noFill/>
          </a:ln>
        </p:spPr>
        <p:txBody>
          <a:bodyPr wrap="none" lIns="0" rIns="0" tIns="0" bIns="0" anchor="t">
            <a:noAutofit/>
          </a:bodyPr>
          <a:p>
            <a:r>
              <a:rPr b="0" lang="en-US" sz="1120" spc="-1" strike="noStrike">
                <a:solidFill>
                  <a:srgbClr val="20252c"/>
                </a:solidFill>
                <a:latin typeface="Arial"/>
                <a:ea typeface="Arial"/>
              </a:rPr>
              <a:t>AXI Fmax</a:t>
            </a:r>
            <a:endParaRPr b="0" lang="en-US" sz="1120" spc="-1" strike="noStrike">
              <a:solidFill>
                <a:srgbClr val="000000"/>
              </a:solidFill>
              <a:latin typeface="Times New Roman"/>
            </a:endParaRPr>
          </a:p>
        </p:txBody>
      </p:sp>
      <p:sp>
        <p:nvSpPr>
          <p:cNvPr id="323" name=""/>
          <p:cNvSpPr txBox="1"/>
          <p:nvPr/>
        </p:nvSpPr>
        <p:spPr>
          <a:xfrm>
            <a:off x="3209400" y="3128760"/>
            <a:ext cx="142560" cy="159120"/>
          </a:xfrm>
          <a:prstGeom prst="rect">
            <a:avLst/>
          </a:prstGeom>
          <a:noFill/>
          <a:ln w="0">
            <a:noFill/>
          </a:ln>
        </p:spPr>
        <p:txBody>
          <a:bodyPr wrap="none" lIns="0" rIns="0" tIns="0" bIns="0" anchor="t">
            <a:noAutofit/>
          </a:bodyPr>
          <a:p>
            <a:r>
              <a:rPr b="0" lang="en-US" sz="1120" spc="-1" strike="noStrike">
                <a:solidFill>
                  <a:srgbClr val="525b65"/>
                </a:solidFill>
                <a:latin typeface="Arial"/>
                <a:ea typeface="Arial"/>
              </a:rPr>
              <a:t>—</a:t>
            </a:r>
            <a:endParaRPr b="0" lang="en-US" sz="1120" spc="-1" strike="noStrike">
              <a:solidFill>
                <a:srgbClr val="000000"/>
              </a:solidFill>
              <a:latin typeface="Times New Roman"/>
            </a:endParaRPr>
          </a:p>
        </p:txBody>
      </p:sp>
      <p:sp>
        <p:nvSpPr>
          <p:cNvPr id="324" name=""/>
          <p:cNvSpPr/>
          <p:nvPr/>
        </p:nvSpPr>
        <p:spPr>
          <a:xfrm>
            <a:off x="685800" y="3410280"/>
            <a:ext cx="5230440" cy="1440"/>
          </a:xfrm>
          <a:prstGeom prst="line">
            <a:avLst/>
          </a:prstGeom>
          <a:ln w="5760">
            <a:solidFill>
              <a:srgbClr val="ced4da"/>
            </a:solidFill>
            <a:round/>
          </a:ln>
        </p:spPr>
        <p:style>
          <a:lnRef idx="0"/>
          <a:fillRef idx="0"/>
          <a:effectRef idx="0"/>
          <a:fontRef idx="minor"/>
        </p:style>
        <p:txBody>
          <a:bodyPr lIns="2880" rIns="2880" tIns="-1440" bIns="-1440" anchor="t">
            <a:noAutofit/>
          </a:bodyPr>
          <a:p>
            <a:endParaRPr b="0" lang="en-US" sz="2400" spc="-1" strike="noStrike">
              <a:solidFill>
                <a:srgbClr val="000000"/>
              </a:solidFill>
              <a:latin typeface="Times New Roman"/>
            </a:endParaRPr>
          </a:p>
        </p:txBody>
      </p:sp>
      <p:sp>
        <p:nvSpPr>
          <p:cNvPr id="325" name=""/>
          <p:cNvSpPr txBox="1"/>
          <p:nvPr/>
        </p:nvSpPr>
        <p:spPr>
          <a:xfrm>
            <a:off x="4599360" y="3128760"/>
            <a:ext cx="567720" cy="159120"/>
          </a:xfrm>
          <a:prstGeom prst="rect">
            <a:avLst/>
          </a:prstGeom>
          <a:noFill/>
          <a:ln w="0">
            <a:noFill/>
          </a:ln>
        </p:spPr>
        <p:txBody>
          <a:bodyPr wrap="none" lIns="0" rIns="0" tIns="0" bIns="0" anchor="t">
            <a:noAutofit/>
          </a:bodyPr>
          <a:p>
            <a:r>
              <a:rPr b="0" lang="en-US" sz="1120" spc="-1" strike="noStrike">
                <a:solidFill>
                  <a:srgbClr val="284f78"/>
                </a:solidFill>
                <a:latin typeface="Arial"/>
                <a:ea typeface="Arial"/>
              </a:rPr>
              <a:t>221 MHz</a:t>
            </a:r>
            <a:endParaRPr b="0" lang="en-US" sz="1120" spc="-1" strike="noStrike">
              <a:solidFill>
                <a:srgbClr val="000000"/>
              </a:solidFill>
              <a:latin typeface="Times New Roman"/>
            </a:endParaRPr>
          </a:p>
        </p:txBody>
      </p:sp>
      <p:sp>
        <p:nvSpPr>
          <p:cNvPr id="326" name=""/>
          <p:cNvSpPr txBox="1"/>
          <p:nvPr/>
        </p:nvSpPr>
        <p:spPr>
          <a:xfrm>
            <a:off x="786240" y="3576600"/>
            <a:ext cx="820800" cy="159120"/>
          </a:xfrm>
          <a:prstGeom prst="rect">
            <a:avLst/>
          </a:prstGeom>
          <a:noFill/>
          <a:ln w="0">
            <a:noFill/>
          </a:ln>
        </p:spPr>
        <p:txBody>
          <a:bodyPr wrap="none" lIns="0" rIns="0" tIns="0" bIns="0" anchor="t">
            <a:noAutofit/>
          </a:bodyPr>
          <a:p>
            <a:r>
              <a:rPr b="0" lang="en-US" sz="1120" spc="-1" strike="noStrike">
                <a:solidFill>
                  <a:srgbClr val="20252c"/>
                </a:solidFill>
                <a:latin typeface="Arial"/>
                <a:ea typeface="Arial"/>
              </a:rPr>
              <a:t>WNS @ 4 ns</a:t>
            </a:r>
            <a:endParaRPr b="0" lang="en-US" sz="1120" spc="-1" strike="noStrike">
              <a:solidFill>
                <a:srgbClr val="000000"/>
              </a:solidFill>
              <a:latin typeface="Times New Roman"/>
            </a:endParaRPr>
          </a:p>
        </p:txBody>
      </p:sp>
      <p:sp>
        <p:nvSpPr>
          <p:cNvPr id="327" name=""/>
          <p:cNvSpPr txBox="1"/>
          <p:nvPr/>
        </p:nvSpPr>
        <p:spPr>
          <a:xfrm>
            <a:off x="3209400" y="3576600"/>
            <a:ext cx="625680" cy="159120"/>
          </a:xfrm>
          <a:prstGeom prst="rect">
            <a:avLst/>
          </a:prstGeom>
          <a:noFill/>
          <a:ln w="0">
            <a:noFill/>
          </a:ln>
        </p:spPr>
        <p:txBody>
          <a:bodyPr wrap="none" lIns="0" rIns="0" tIns="0" bIns="0" anchor="t">
            <a:noAutofit/>
          </a:bodyPr>
          <a:p>
            <a:r>
              <a:rPr b="0" lang="en-US" sz="1120" spc="-1" strike="noStrike">
                <a:solidFill>
                  <a:srgbClr val="525b65"/>
                </a:solidFill>
                <a:latin typeface="Arial"/>
                <a:ea typeface="Arial"/>
              </a:rPr>
              <a:t>−</a:t>
            </a:r>
            <a:r>
              <a:rPr b="0" lang="en-US" sz="1120" spc="-1" strike="noStrike">
                <a:solidFill>
                  <a:srgbClr val="525b65"/>
                </a:solidFill>
                <a:latin typeface="Arial"/>
                <a:ea typeface="Arial"/>
              </a:rPr>
              <a:t>4.439 ns</a:t>
            </a:r>
            <a:endParaRPr b="0" lang="en-US" sz="1120" spc="-1" strike="noStrike">
              <a:solidFill>
                <a:srgbClr val="000000"/>
              </a:solidFill>
              <a:latin typeface="Times New Roman"/>
            </a:endParaRPr>
          </a:p>
        </p:txBody>
      </p:sp>
      <p:sp>
        <p:nvSpPr>
          <p:cNvPr id="328" name=""/>
          <p:cNvSpPr/>
          <p:nvPr/>
        </p:nvSpPr>
        <p:spPr>
          <a:xfrm>
            <a:off x="685800" y="3858120"/>
            <a:ext cx="5230440" cy="1440"/>
          </a:xfrm>
          <a:prstGeom prst="line">
            <a:avLst/>
          </a:prstGeom>
          <a:ln w="5760">
            <a:solidFill>
              <a:srgbClr val="ced4da"/>
            </a:solidFill>
            <a:round/>
          </a:ln>
        </p:spPr>
        <p:style>
          <a:lnRef idx="0"/>
          <a:fillRef idx="0"/>
          <a:effectRef idx="0"/>
          <a:fontRef idx="minor"/>
        </p:style>
        <p:txBody>
          <a:bodyPr lIns="2880" rIns="2880" tIns="-1440" bIns="-1440" anchor="t">
            <a:noAutofit/>
          </a:bodyPr>
          <a:p>
            <a:endParaRPr b="0" lang="en-US" sz="2400" spc="-1" strike="noStrike">
              <a:solidFill>
                <a:srgbClr val="000000"/>
              </a:solidFill>
              <a:latin typeface="Times New Roman"/>
            </a:endParaRPr>
          </a:p>
        </p:txBody>
      </p:sp>
      <p:sp>
        <p:nvSpPr>
          <p:cNvPr id="329" name=""/>
          <p:cNvSpPr/>
          <p:nvPr/>
        </p:nvSpPr>
        <p:spPr>
          <a:xfrm>
            <a:off x="685800" y="3858840"/>
            <a:ext cx="5230440" cy="448200"/>
          </a:xfrm>
          <a:custGeom>
            <a:avLst/>
            <a:gdLst/>
            <a:ahLst/>
            <a:rect l="0" t="0" r="r" b="b"/>
            <a:pathLst>
              <a:path w="14529" h="1245">
                <a:moveTo>
                  <a:pt x="7266" y="1245"/>
                </a:moveTo>
                <a:lnTo>
                  <a:pt x="0" y="1245"/>
                </a:lnTo>
                <a:lnTo>
                  <a:pt x="0" y="0"/>
                </a:lnTo>
                <a:lnTo>
                  <a:pt x="14529" y="0"/>
                </a:lnTo>
                <a:lnTo>
                  <a:pt x="14529" y="1245"/>
                </a:lnTo>
                <a:lnTo>
                  <a:pt x="7266" y="1245"/>
                </a:lnTo>
                <a:close/>
              </a:path>
            </a:pathLst>
          </a:custGeom>
          <a:solidFill>
            <a:srgbClr val="fafafa"/>
          </a:solidFill>
          <a:ln w="12240">
            <a:solidFill>
              <a:srgbClr val="fafafa"/>
            </a:solidFill>
            <a:round/>
          </a:ln>
        </p:spPr>
        <p:txBody>
          <a:bodyPr lIns="6120" rIns="6120" tIns="6120" bIns="6120" anchor="t">
            <a:noAutofit/>
          </a:bodyPr>
          <a:p>
            <a:endParaRPr b="0" lang="en-US" sz="2400" spc="-1" strike="noStrike">
              <a:solidFill>
                <a:srgbClr val="000000"/>
              </a:solidFill>
              <a:latin typeface="Times New Roman"/>
            </a:endParaRPr>
          </a:p>
        </p:txBody>
      </p:sp>
      <p:sp>
        <p:nvSpPr>
          <p:cNvPr id="330" name=""/>
          <p:cNvSpPr txBox="1"/>
          <p:nvPr/>
        </p:nvSpPr>
        <p:spPr>
          <a:xfrm>
            <a:off x="4599360" y="3576600"/>
            <a:ext cx="627120" cy="159120"/>
          </a:xfrm>
          <a:prstGeom prst="rect">
            <a:avLst/>
          </a:prstGeom>
          <a:noFill/>
          <a:ln w="0">
            <a:noFill/>
          </a:ln>
        </p:spPr>
        <p:txBody>
          <a:bodyPr wrap="none" lIns="0" rIns="0" tIns="0" bIns="0" anchor="t">
            <a:noAutofit/>
          </a:bodyPr>
          <a:p>
            <a:r>
              <a:rPr b="0" lang="en-US" sz="1120" spc="-1" strike="noStrike">
                <a:solidFill>
                  <a:srgbClr val="284f78"/>
                </a:solidFill>
                <a:latin typeface="Arial"/>
                <a:ea typeface="Arial"/>
              </a:rPr>
              <a:t>+0.072 ns</a:t>
            </a:r>
            <a:endParaRPr b="0" lang="en-US" sz="1120" spc="-1" strike="noStrike">
              <a:solidFill>
                <a:srgbClr val="000000"/>
              </a:solidFill>
              <a:latin typeface="Times New Roman"/>
            </a:endParaRPr>
          </a:p>
        </p:txBody>
      </p:sp>
      <p:sp>
        <p:nvSpPr>
          <p:cNvPr id="331" name=""/>
          <p:cNvSpPr txBox="1"/>
          <p:nvPr/>
        </p:nvSpPr>
        <p:spPr>
          <a:xfrm>
            <a:off x="786240" y="4024800"/>
            <a:ext cx="653040" cy="159120"/>
          </a:xfrm>
          <a:prstGeom prst="rect">
            <a:avLst/>
          </a:prstGeom>
          <a:noFill/>
          <a:ln w="0">
            <a:noFill/>
          </a:ln>
        </p:spPr>
        <p:txBody>
          <a:bodyPr wrap="none" lIns="0" rIns="0" tIns="0" bIns="0" anchor="t">
            <a:noAutofit/>
          </a:bodyPr>
          <a:p>
            <a:r>
              <a:rPr b="0" lang="en-US" sz="1120" spc="-1" strike="noStrike">
                <a:solidFill>
                  <a:srgbClr val="20252c"/>
                </a:solidFill>
                <a:latin typeface="Arial"/>
                <a:ea typeface="Arial"/>
              </a:rPr>
              <a:t>CLB LUTs</a:t>
            </a:r>
            <a:endParaRPr b="0" lang="en-US" sz="1120" spc="-1" strike="noStrike">
              <a:solidFill>
                <a:srgbClr val="000000"/>
              </a:solidFill>
              <a:latin typeface="Times New Roman"/>
            </a:endParaRPr>
          </a:p>
        </p:txBody>
      </p:sp>
      <p:sp>
        <p:nvSpPr>
          <p:cNvPr id="332" name=""/>
          <p:cNvSpPr txBox="1"/>
          <p:nvPr/>
        </p:nvSpPr>
        <p:spPr>
          <a:xfrm>
            <a:off x="3209400" y="4024800"/>
            <a:ext cx="433440" cy="159120"/>
          </a:xfrm>
          <a:prstGeom prst="rect">
            <a:avLst/>
          </a:prstGeom>
          <a:noFill/>
          <a:ln w="0">
            <a:noFill/>
          </a:ln>
        </p:spPr>
        <p:txBody>
          <a:bodyPr wrap="none" lIns="0" rIns="0" tIns="0" bIns="0" anchor="t">
            <a:noAutofit/>
          </a:bodyPr>
          <a:p>
            <a:r>
              <a:rPr b="0" lang="en-US" sz="1120" spc="-1" strike="noStrike">
                <a:solidFill>
                  <a:srgbClr val="525b65"/>
                </a:solidFill>
                <a:latin typeface="Arial"/>
                <a:ea typeface="Arial"/>
              </a:rPr>
              <a:t>56,043</a:t>
            </a:r>
            <a:endParaRPr b="0" lang="en-US" sz="1120" spc="-1" strike="noStrike">
              <a:solidFill>
                <a:srgbClr val="000000"/>
              </a:solidFill>
              <a:latin typeface="Times New Roman"/>
            </a:endParaRPr>
          </a:p>
        </p:txBody>
      </p:sp>
      <p:sp>
        <p:nvSpPr>
          <p:cNvPr id="333" name=""/>
          <p:cNvSpPr/>
          <p:nvPr/>
        </p:nvSpPr>
        <p:spPr>
          <a:xfrm>
            <a:off x="685800" y="4306680"/>
            <a:ext cx="5230080" cy="0"/>
          </a:xfrm>
          <a:prstGeom prst="line">
            <a:avLst/>
          </a:prstGeom>
          <a:ln w="5760">
            <a:solidFill>
              <a:srgbClr val="ced4da"/>
            </a:solidFill>
            <a:round/>
          </a:ln>
        </p:spPr>
        <p:style>
          <a:lnRef idx="0"/>
          <a:fillRef idx="0"/>
          <a:effectRef idx="0"/>
          <a:fontRef idx="minor"/>
        </p:style>
        <p:txBody>
          <a:bodyPr lIns="2880" rIns="2880" tIns="-2880" bIns="-2880" anchor="t">
            <a:noAutofit/>
          </a:bodyPr>
          <a:p>
            <a:endParaRPr b="0" lang="en-US" sz="2400" spc="-1" strike="noStrike">
              <a:solidFill>
                <a:srgbClr val="000000"/>
              </a:solidFill>
              <a:latin typeface="Times New Roman"/>
            </a:endParaRPr>
          </a:p>
        </p:txBody>
      </p:sp>
      <p:sp>
        <p:nvSpPr>
          <p:cNvPr id="334" name=""/>
          <p:cNvSpPr txBox="1"/>
          <p:nvPr/>
        </p:nvSpPr>
        <p:spPr>
          <a:xfrm>
            <a:off x="4599360" y="4024800"/>
            <a:ext cx="433440" cy="159120"/>
          </a:xfrm>
          <a:prstGeom prst="rect">
            <a:avLst/>
          </a:prstGeom>
          <a:noFill/>
          <a:ln w="0">
            <a:noFill/>
          </a:ln>
        </p:spPr>
        <p:txBody>
          <a:bodyPr wrap="none" lIns="0" rIns="0" tIns="0" bIns="0" anchor="t">
            <a:noAutofit/>
          </a:bodyPr>
          <a:p>
            <a:r>
              <a:rPr b="0" lang="en-US" sz="1120" spc="-1" strike="noStrike">
                <a:solidFill>
                  <a:srgbClr val="284f78"/>
                </a:solidFill>
                <a:latin typeface="Arial"/>
                <a:ea typeface="Arial"/>
              </a:rPr>
              <a:t>57,245</a:t>
            </a:r>
            <a:endParaRPr b="0" lang="en-US" sz="1120" spc="-1" strike="noStrike">
              <a:solidFill>
                <a:srgbClr val="000000"/>
              </a:solidFill>
              <a:latin typeface="Times New Roman"/>
            </a:endParaRPr>
          </a:p>
        </p:txBody>
      </p:sp>
      <p:sp>
        <p:nvSpPr>
          <p:cNvPr id="335" name=""/>
          <p:cNvSpPr txBox="1"/>
          <p:nvPr/>
        </p:nvSpPr>
        <p:spPr>
          <a:xfrm>
            <a:off x="786240" y="4473000"/>
            <a:ext cx="575280" cy="159120"/>
          </a:xfrm>
          <a:prstGeom prst="rect">
            <a:avLst/>
          </a:prstGeom>
          <a:noFill/>
          <a:ln w="0">
            <a:noFill/>
          </a:ln>
        </p:spPr>
        <p:txBody>
          <a:bodyPr wrap="none" lIns="0" rIns="0" tIns="0" bIns="0" anchor="t">
            <a:noAutofit/>
          </a:bodyPr>
          <a:p>
            <a:r>
              <a:rPr b="0" lang="en-US" sz="1120" spc="-1" strike="noStrike">
                <a:solidFill>
                  <a:srgbClr val="20252c"/>
                </a:solidFill>
                <a:latin typeface="Arial"/>
                <a:ea typeface="Arial"/>
              </a:rPr>
              <a:t>Flip-flops</a:t>
            </a:r>
            <a:endParaRPr b="0" lang="en-US" sz="1120" spc="-1" strike="noStrike">
              <a:solidFill>
                <a:srgbClr val="000000"/>
              </a:solidFill>
              <a:latin typeface="Times New Roman"/>
            </a:endParaRPr>
          </a:p>
        </p:txBody>
      </p:sp>
      <p:sp>
        <p:nvSpPr>
          <p:cNvPr id="336" name=""/>
          <p:cNvSpPr txBox="1"/>
          <p:nvPr/>
        </p:nvSpPr>
        <p:spPr>
          <a:xfrm>
            <a:off x="3209400" y="4473000"/>
            <a:ext cx="433440" cy="159120"/>
          </a:xfrm>
          <a:prstGeom prst="rect">
            <a:avLst/>
          </a:prstGeom>
          <a:noFill/>
          <a:ln w="0">
            <a:noFill/>
          </a:ln>
        </p:spPr>
        <p:txBody>
          <a:bodyPr wrap="none" lIns="0" rIns="0" tIns="0" bIns="0" anchor="t">
            <a:noAutofit/>
          </a:bodyPr>
          <a:p>
            <a:r>
              <a:rPr b="0" lang="en-US" sz="1120" spc="-1" strike="noStrike">
                <a:solidFill>
                  <a:srgbClr val="525b65"/>
                </a:solidFill>
                <a:latin typeface="Arial"/>
                <a:ea typeface="Arial"/>
              </a:rPr>
              <a:t>24,482</a:t>
            </a:r>
            <a:endParaRPr b="0" lang="en-US" sz="1120" spc="-1" strike="noStrike">
              <a:solidFill>
                <a:srgbClr val="000000"/>
              </a:solidFill>
              <a:latin typeface="Times New Roman"/>
            </a:endParaRPr>
          </a:p>
        </p:txBody>
      </p:sp>
      <p:sp>
        <p:nvSpPr>
          <p:cNvPr id="337" name=""/>
          <p:cNvSpPr/>
          <p:nvPr/>
        </p:nvSpPr>
        <p:spPr>
          <a:xfrm>
            <a:off x="685800" y="4754880"/>
            <a:ext cx="5230080" cy="360"/>
          </a:xfrm>
          <a:prstGeom prst="line">
            <a:avLst/>
          </a:prstGeom>
          <a:ln w="5760">
            <a:solidFill>
              <a:srgbClr val="ced4da"/>
            </a:solidFill>
            <a:round/>
          </a:ln>
        </p:spPr>
        <p:style>
          <a:lnRef idx="0"/>
          <a:fillRef idx="0"/>
          <a:effectRef idx="0"/>
          <a:fontRef idx="minor"/>
        </p:style>
        <p:txBody>
          <a:bodyPr lIns="2880" rIns="2880" tIns="-2520" bIns="-2520" anchor="t">
            <a:noAutofit/>
          </a:bodyPr>
          <a:p>
            <a:endParaRPr b="0" lang="en-US" sz="2400" spc="-1" strike="noStrike">
              <a:solidFill>
                <a:srgbClr val="000000"/>
              </a:solidFill>
              <a:latin typeface="Times New Roman"/>
            </a:endParaRPr>
          </a:p>
        </p:txBody>
      </p:sp>
      <p:sp>
        <p:nvSpPr>
          <p:cNvPr id="338" name=""/>
          <p:cNvSpPr/>
          <p:nvPr/>
        </p:nvSpPr>
        <p:spPr>
          <a:xfrm>
            <a:off x="685800" y="4754880"/>
            <a:ext cx="5230440" cy="448560"/>
          </a:xfrm>
          <a:custGeom>
            <a:avLst/>
            <a:gdLst/>
            <a:ahLst/>
            <a:rect l="0" t="0" r="r" b="b"/>
            <a:pathLst>
              <a:path w="14529" h="1246">
                <a:moveTo>
                  <a:pt x="7266" y="1246"/>
                </a:moveTo>
                <a:lnTo>
                  <a:pt x="0" y="1246"/>
                </a:lnTo>
                <a:lnTo>
                  <a:pt x="0" y="0"/>
                </a:lnTo>
                <a:lnTo>
                  <a:pt x="14529" y="0"/>
                </a:lnTo>
                <a:lnTo>
                  <a:pt x="14529" y="1246"/>
                </a:lnTo>
                <a:lnTo>
                  <a:pt x="7266" y="1246"/>
                </a:lnTo>
                <a:close/>
              </a:path>
            </a:pathLst>
          </a:custGeom>
          <a:solidFill>
            <a:srgbClr val="fafafa"/>
          </a:solidFill>
          <a:ln w="12240">
            <a:solidFill>
              <a:srgbClr val="fafafa"/>
            </a:solidFill>
            <a:round/>
          </a:ln>
        </p:spPr>
        <p:txBody>
          <a:bodyPr lIns="6120" rIns="6120" tIns="6120" bIns="6120" anchor="t">
            <a:noAutofit/>
          </a:bodyPr>
          <a:p>
            <a:endParaRPr b="0" lang="en-US" sz="2400" spc="-1" strike="noStrike">
              <a:solidFill>
                <a:srgbClr val="000000"/>
              </a:solidFill>
              <a:latin typeface="Times New Roman"/>
            </a:endParaRPr>
          </a:p>
        </p:txBody>
      </p:sp>
      <p:sp>
        <p:nvSpPr>
          <p:cNvPr id="339" name=""/>
          <p:cNvSpPr txBox="1"/>
          <p:nvPr/>
        </p:nvSpPr>
        <p:spPr>
          <a:xfrm>
            <a:off x="4599360" y="4473000"/>
            <a:ext cx="433440" cy="159120"/>
          </a:xfrm>
          <a:prstGeom prst="rect">
            <a:avLst/>
          </a:prstGeom>
          <a:noFill/>
          <a:ln w="0">
            <a:noFill/>
          </a:ln>
        </p:spPr>
        <p:txBody>
          <a:bodyPr wrap="none" lIns="0" rIns="0" tIns="0" bIns="0" anchor="t">
            <a:noAutofit/>
          </a:bodyPr>
          <a:p>
            <a:r>
              <a:rPr b="0" lang="en-US" sz="1120" spc="-1" strike="noStrike">
                <a:solidFill>
                  <a:srgbClr val="284f78"/>
                </a:solidFill>
                <a:latin typeface="Arial"/>
                <a:ea typeface="Arial"/>
              </a:rPr>
              <a:t>39,269</a:t>
            </a:r>
            <a:endParaRPr b="0" lang="en-US" sz="1120" spc="-1" strike="noStrike">
              <a:solidFill>
                <a:srgbClr val="000000"/>
              </a:solidFill>
              <a:latin typeface="Times New Roman"/>
            </a:endParaRPr>
          </a:p>
        </p:txBody>
      </p:sp>
      <p:sp>
        <p:nvSpPr>
          <p:cNvPr id="340" name=""/>
          <p:cNvSpPr txBox="1"/>
          <p:nvPr/>
        </p:nvSpPr>
        <p:spPr>
          <a:xfrm>
            <a:off x="786240" y="4920840"/>
            <a:ext cx="1072080" cy="159120"/>
          </a:xfrm>
          <a:prstGeom prst="rect">
            <a:avLst/>
          </a:prstGeom>
          <a:noFill/>
          <a:ln w="0">
            <a:noFill/>
          </a:ln>
        </p:spPr>
        <p:txBody>
          <a:bodyPr wrap="none" lIns="0" rIns="0" tIns="0" bIns="0" anchor="t">
            <a:noAutofit/>
          </a:bodyPr>
          <a:p>
            <a:r>
              <a:rPr b="0" lang="en-US" sz="1120" spc="-1" strike="noStrike">
                <a:solidFill>
                  <a:srgbClr val="20252c"/>
                </a:solidFill>
                <a:latin typeface="Arial"/>
                <a:ea typeface="Arial"/>
              </a:rPr>
              <a:t>Failing endpoints</a:t>
            </a:r>
            <a:endParaRPr b="0" lang="en-US" sz="1120" spc="-1" strike="noStrike">
              <a:solidFill>
                <a:srgbClr val="000000"/>
              </a:solidFill>
              <a:latin typeface="Times New Roman"/>
            </a:endParaRPr>
          </a:p>
        </p:txBody>
      </p:sp>
      <p:sp>
        <p:nvSpPr>
          <p:cNvPr id="341" name=""/>
          <p:cNvSpPr txBox="1"/>
          <p:nvPr/>
        </p:nvSpPr>
        <p:spPr>
          <a:xfrm>
            <a:off x="3209400" y="4920840"/>
            <a:ext cx="433440" cy="159120"/>
          </a:xfrm>
          <a:prstGeom prst="rect">
            <a:avLst/>
          </a:prstGeom>
          <a:noFill/>
          <a:ln w="0">
            <a:noFill/>
          </a:ln>
        </p:spPr>
        <p:txBody>
          <a:bodyPr wrap="none" lIns="0" rIns="0" tIns="0" bIns="0" anchor="t">
            <a:noAutofit/>
          </a:bodyPr>
          <a:p>
            <a:r>
              <a:rPr b="0" lang="en-US" sz="1120" spc="-1" strike="noStrike">
                <a:solidFill>
                  <a:srgbClr val="525b65"/>
                </a:solidFill>
                <a:latin typeface="Arial"/>
                <a:ea typeface="Arial"/>
              </a:rPr>
              <a:t>19,046</a:t>
            </a:r>
            <a:endParaRPr b="0" lang="en-US" sz="1120" spc="-1" strike="noStrike">
              <a:solidFill>
                <a:srgbClr val="000000"/>
              </a:solidFill>
              <a:latin typeface="Times New Roman"/>
            </a:endParaRPr>
          </a:p>
        </p:txBody>
      </p:sp>
      <p:sp>
        <p:nvSpPr>
          <p:cNvPr id="342" name=""/>
          <p:cNvSpPr/>
          <p:nvPr/>
        </p:nvSpPr>
        <p:spPr>
          <a:xfrm>
            <a:off x="685800" y="5202720"/>
            <a:ext cx="5230080" cy="0"/>
          </a:xfrm>
          <a:prstGeom prst="line">
            <a:avLst/>
          </a:prstGeom>
          <a:ln w="5760">
            <a:solidFill>
              <a:srgbClr val="ced4da"/>
            </a:solidFill>
            <a:round/>
          </a:ln>
        </p:spPr>
        <p:style>
          <a:lnRef idx="0"/>
          <a:fillRef idx="0"/>
          <a:effectRef idx="0"/>
          <a:fontRef idx="minor"/>
        </p:style>
        <p:txBody>
          <a:bodyPr lIns="2880" rIns="2880" tIns="-2880" bIns="-2880" anchor="t">
            <a:noAutofit/>
          </a:bodyPr>
          <a:p>
            <a:endParaRPr b="0" lang="en-US" sz="2400" spc="-1" strike="noStrike">
              <a:solidFill>
                <a:srgbClr val="000000"/>
              </a:solidFill>
              <a:latin typeface="Times New Roman"/>
            </a:endParaRPr>
          </a:p>
        </p:txBody>
      </p:sp>
      <p:sp>
        <p:nvSpPr>
          <p:cNvPr id="343" name=""/>
          <p:cNvSpPr txBox="1"/>
          <p:nvPr/>
        </p:nvSpPr>
        <p:spPr>
          <a:xfrm>
            <a:off x="4599360" y="4920840"/>
            <a:ext cx="141840" cy="159120"/>
          </a:xfrm>
          <a:prstGeom prst="rect">
            <a:avLst/>
          </a:prstGeom>
          <a:noFill/>
          <a:ln w="0">
            <a:noFill/>
          </a:ln>
        </p:spPr>
        <p:txBody>
          <a:bodyPr wrap="none" lIns="0" rIns="0" tIns="0" bIns="0" anchor="t">
            <a:noAutofit/>
          </a:bodyPr>
          <a:p>
            <a:r>
              <a:rPr b="0" lang="en-US" sz="1120" spc="-1" strike="noStrike">
                <a:solidFill>
                  <a:srgbClr val="284f78"/>
                </a:solidFill>
                <a:latin typeface="Arial"/>
                <a:ea typeface="Arial"/>
              </a:rPr>
              <a:t>0</a:t>
            </a:r>
            <a:endParaRPr b="0" lang="en-US" sz="1120" spc="-1" strike="noStrike">
              <a:solidFill>
                <a:srgbClr val="000000"/>
              </a:solidFill>
              <a:latin typeface="Times New Roman"/>
            </a:endParaRPr>
          </a:p>
        </p:txBody>
      </p:sp>
      <p:sp>
        <p:nvSpPr>
          <p:cNvPr id="344" name=""/>
          <p:cNvSpPr/>
          <p:nvPr/>
        </p:nvSpPr>
        <p:spPr>
          <a:xfrm>
            <a:off x="6208560" y="2112120"/>
            <a:ext cx="5321880" cy="0"/>
          </a:xfrm>
          <a:prstGeom prst="line">
            <a:avLst/>
          </a:prstGeom>
          <a:ln w="9000">
            <a:solidFill>
              <a:srgbClr val="ced4da"/>
            </a:solidFill>
            <a:round/>
          </a:ln>
        </p:spPr>
        <p:style>
          <a:lnRef idx="0"/>
          <a:fillRef idx="0"/>
          <a:effectRef idx="0"/>
          <a:fontRef idx="minor"/>
        </p:style>
        <p:txBody>
          <a:bodyPr lIns="4320" rIns="4320" tIns="-4320" bIns="-4320" anchor="t">
            <a:noAutofit/>
          </a:bodyPr>
          <a:p>
            <a:endParaRPr b="0" lang="en-US" sz="2400" spc="-1" strike="noStrike">
              <a:solidFill>
                <a:srgbClr val="000000"/>
              </a:solidFill>
              <a:latin typeface="Times New Roman"/>
            </a:endParaRPr>
          </a:p>
        </p:txBody>
      </p:sp>
      <p:sp>
        <p:nvSpPr>
          <p:cNvPr id="345" name=""/>
          <p:cNvSpPr/>
          <p:nvPr/>
        </p:nvSpPr>
        <p:spPr>
          <a:xfrm>
            <a:off x="6208560" y="2148480"/>
            <a:ext cx="5322240" cy="365400"/>
          </a:xfrm>
          <a:custGeom>
            <a:avLst/>
            <a:gdLst/>
            <a:ahLst/>
            <a:rect l="0" t="0" r="r" b="b"/>
            <a:pathLst>
              <a:path w="14784" h="1015">
                <a:moveTo>
                  <a:pt x="7392" y="1015"/>
                </a:moveTo>
                <a:lnTo>
                  <a:pt x="0" y="1015"/>
                </a:lnTo>
                <a:lnTo>
                  <a:pt x="0" y="0"/>
                </a:lnTo>
                <a:lnTo>
                  <a:pt x="14784" y="0"/>
                </a:lnTo>
                <a:lnTo>
                  <a:pt x="14784" y="1015"/>
                </a:lnTo>
                <a:lnTo>
                  <a:pt x="7392" y="1015"/>
                </a:lnTo>
                <a:close/>
              </a:path>
            </a:pathLst>
          </a:custGeom>
          <a:solidFill>
            <a:srgbClr val="f4f5f6"/>
          </a:solidFill>
          <a:ln w="6120">
            <a:solidFill>
              <a:srgbClr val="ced4da"/>
            </a:solidFill>
            <a:round/>
          </a:ln>
        </p:spPr>
        <p:txBody>
          <a:bodyPr lIns="2880" rIns="2880" tIns="2880" bIns="2880" anchor="t">
            <a:noAutofit/>
          </a:bodyPr>
          <a:p>
            <a:endParaRPr b="0" lang="en-US" sz="2400" spc="-1" strike="noStrike">
              <a:solidFill>
                <a:srgbClr val="000000"/>
              </a:solidFill>
              <a:latin typeface="Times New Roman"/>
            </a:endParaRPr>
          </a:p>
        </p:txBody>
      </p:sp>
      <p:sp>
        <p:nvSpPr>
          <p:cNvPr id="346" name=""/>
          <p:cNvSpPr txBox="1"/>
          <p:nvPr/>
        </p:nvSpPr>
        <p:spPr>
          <a:xfrm>
            <a:off x="6208920" y="1806120"/>
            <a:ext cx="2727000" cy="201600"/>
          </a:xfrm>
          <a:prstGeom prst="rect">
            <a:avLst/>
          </a:prstGeom>
          <a:noFill/>
          <a:ln w="0">
            <a:noFill/>
          </a:ln>
        </p:spPr>
        <p:txBody>
          <a:bodyPr wrap="none" lIns="0" rIns="0" tIns="0" bIns="0" anchor="t">
            <a:noAutofit/>
          </a:bodyPr>
          <a:p>
            <a:r>
              <a:rPr b="1" lang="en-US" sz="1420" spc="-1" strike="noStrike">
                <a:solidFill>
                  <a:srgbClr val="1d3859"/>
                </a:solidFill>
                <a:latin typeface="Arial"/>
                <a:ea typeface="Arial"/>
              </a:rPr>
              <a:t>Traffic results  (simulation only)</a:t>
            </a:r>
            <a:endParaRPr b="0" lang="en-US" sz="1420" spc="-1" strike="noStrike">
              <a:solidFill>
                <a:srgbClr val="000000"/>
              </a:solidFill>
              <a:latin typeface="Times New Roman"/>
            </a:endParaRPr>
          </a:p>
        </p:txBody>
      </p:sp>
      <p:sp>
        <p:nvSpPr>
          <p:cNvPr id="347" name=""/>
          <p:cNvSpPr txBox="1"/>
          <p:nvPr/>
        </p:nvSpPr>
        <p:spPr>
          <a:xfrm>
            <a:off x="6318360" y="2256840"/>
            <a:ext cx="1175760" cy="155880"/>
          </a:xfrm>
          <a:prstGeom prst="rect">
            <a:avLst/>
          </a:prstGeom>
          <a:noFill/>
          <a:ln w="0">
            <a:noFill/>
          </a:ln>
        </p:spPr>
        <p:txBody>
          <a:bodyPr wrap="none" lIns="0" rIns="0" tIns="0" bIns="0" anchor="t">
            <a:noAutofit/>
          </a:bodyPr>
          <a:p>
            <a:r>
              <a:rPr b="1" lang="en-US" sz="1100" spc="-1" strike="noStrike">
                <a:solidFill>
                  <a:srgbClr val="1d3859"/>
                </a:solidFill>
                <a:latin typeface="Arial"/>
                <a:ea typeface="Arial"/>
              </a:rPr>
              <a:t>Workload / metric</a:t>
            </a:r>
            <a:endParaRPr b="0" lang="en-US" sz="1100" spc="-1" strike="noStrike">
              <a:solidFill>
                <a:srgbClr val="000000"/>
              </a:solidFill>
              <a:latin typeface="Times New Roman"/>
            </a:endParaRPr>
          </a:p>
        </p:txBody>
      </p:sp>
      <p:sp>
        <p:nvSpPr>
          <p:cNvPr id="348" name=""/>
          <p:cNvSpPr txBox="1"/>
          <p:nvPr/>
        </p:nvSpPr>
        <p:spPr>
          <a:xfrm>
            <a:off x="9125280" y="2256840"/>
            <a:ext cx="334440" cy="155880"/>
          </a:xfrm>
          <a:prstGeom prst="rect">
            <a:avLst/>
          </a:prstGeom>
          <a:noFill/>
          <a:ln w="0">
            <a:noFill/>
          </a:ln>
        </p:spPr>
        <p:txBody>
          <a:bodyPr wrap="none" lIns="0" rIns="0" tIns="0" bIns="0" anchor="t">
            <a:noAutofit/>
          </a:bodyPr>
          <a:p>
            <a:r>
              <a:rPr b="1" lang="en-US" sz="1100" spc="-1" strike="noStrike">
                <a:solidFill>
                  <a:srgbClr val="1d3859"/>
                </a:solidFill>
                <a:latin typeface="Arial"/>
                <a:ea typeface="Arial"/>
              </a:rPr>
              <a:t>Base</a:t>
            </a:r>
            <a:endParaRPr b="0" lang="en-US" sz="1100" spc="-1" strike="noStrike">
              <a:solidFill>
                <a:srgbClr val="000000"/>
              </a:solidFill>
              <a:latin typeface="Times New Roman"/>
            </a:endParaRPr>
          </a:p>
        </p:txBody>
      </p:sp>
      <p:sp>
        <p:nvSpPr>
          <p:cNvPr id="349" name=""/>
          <p:cNvSpPr txBox="1"/>
          <p:nvPr/>
        </p:nvSpPr>
        <p:spPr>
          <a:xfrm>
            <a:off x="10332360" y="2256840"/>
            <a:ext cx="677520" cy="155880"/>
          </a:xfrm>
          <a:prstGeom prst="rect">
            <a:avLst/>
          </a:prstGeom>
          <a:noFill/>
          <a:ln w="0">
            <a:noFill/>
          </a:ln>
        </p:spPr>
        <p:txBody>
          <a:bodyPr wrap="none" lIns="0" rIns="0" tIns="0" bIns="0" anchor="t">
            <a:noAutofit/>
          </a:bodyPr>
          <a:p>
            <a:r>
              <a:rPr b="1" lang="en-US" sz="1100" spc="-1" strike="noStrike">
                <a:solidFill>
                  <a:srgbClr val="1d3859"/>
                </a:solidFill>
                <a:latin typeface="Arial"/>
                <a:ea typeface="Arial"/>
              </a:rPr>
              <a:t>Optimized</a:t>
            </a:r>
            <a:endParaRPr b="0" lang="en-US" sz="1100" spc="-1" strike="noStrike">
              <a:solidFill>
                <a:srgbClr val="000000"/>
              </a:solidFill>
              <a:latin typeface="Times New Roman"/>
            </a:endParaRPr>
          </a:p>
        </p:txBody>
      </p:sp>
      <p:sp>
        <p:nvSpPr>
          <p:cNvPr id="350" name=""/>
          <p:cNvSpPr txBox="1"/>
          <p:nvPr/>
        </p:nvSpPr>
        <p:spPr>
          <a:xfrm>
            <a:off x="6309000" y="2711160"/>
            <a:ext cx="136152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ML tensor throughput</a:t>
            </a:r>
            <a:endParaRPr b="0" lang="en-US" sz="1130" spc="-1" strike="noStrike">
              <a:solidFill>
                <a:srgbClr val="000000"/>
              </a:solidFill>
              <a:latin typeface="Times New Roman"/>
            </a:endParaRPr>
          </a:p>
        </p:txBody>
      </p:sp>
      <p:sp>
        <p:nvSpPr>
          <p:cNvPr id="351" name=""/>
          <p:cNvSpPr txBox="1"/>
          <p:nvPr/>
        </p:nvSpPr>
        <p:spPr>
          <a:xfrm>
            <a:off x="9116640" y="2711160"/>
            <a:ext cx="717120" cy="160560"/>
          </a:xfrm>
          <a:prstGeom prst="rect">
            <a:avLst/>
          </a:prstGeom>
          <a:noFill/>
          <a:ln w="0">
            <a:noFill/>
          </a:ln>
        </p:spPr>
        <p:txBody>
          <a:bodyPr wrap="none" lIns="0" rIns="0" tIns="0" bIns="0" anchor="t">
            <a:noAutofit/>
          </a:bodyPr>
          <a:p>
            <a:r>
              <a:rPr b="0" lang="en-US" sz="1130" spc="-1" strike="noStrike">
                <a:solidFill>
                  <a:srgbClr val="525b65"/>
                </a:solidFill>
                <a:latin typeface="Arial"/>
                <a:ea typeface="Arial"/>
              </a:rPr>
              <a:t>0.061 GB/s</a:t>
            </a:r>
            <a:endParaRPr b="0" lang="en-US" sz="1130" spc="-1" strike="noStrike">
              <a:solidFill>
                <a:srgbClr val="000000"/>
              </a:solidFill>
              <a:latin typeface="Times New Roman"/>
            </a:endParaRPr>
          </a:p>
        </p:txBody>
      </p:sp>
      <p:sp>
        <p:nvSpPr>
          <p:cNvPr id="352" name=""/>
          <p:cNvSpPr/>
          <p:nvPr/>
        </p:nvSpPr>
        <p:spPr>
          <a:xfrm>
            <a:off x="6208560" y="3026520"/>
            <a:ext cx="5321880" cy="0"/>
          </a:xfrm>
          <a:prstGeom prst="line">
            <a:avLst/>
          </a:prstGeom>
          <a:ln w="5760">
            <a:solidFill>
              <a:srgbClr val="ced4da"/>
            </a:solidFill>
            <a:round/>
          </a:ln>
        </p:spPr>
        <p:style>
          <a:lnRef idx="0"/>
          <a:fillRef idx="0"/>
          <a:effectRef idx="0"/>
          <a:fontRef idx="minor"/>
        </p:style>
        <p:txBody>
          <a:bodyPr lIns="2880" rIns="2880" tIns="-2880" bIns="-2880" anchor="t">
            <a:noAutofit/>
          </a:bodyPr>
          <a:p>
            <a:endParaRPr b="0" lang="en-US" sz="2400" spc="-1" strike="noStrike">
              <a:solidFill>
                <a:srgbClr val="000000"/>
              </a:solidFill>
              <a:latin typeface="Times New Roman"/>
            </a:endParaRPr>
          </a:p>
        </p:txBody>
      </p:sp>
      <p:sp>
        <p:nvSpPr>
          <p:cNvPr id="353" name=""/>
          <p:cNvSpPr/>
          <p:nvPr/>
        </p:nvSpPr>
        <p:spPr>
          <a:xfrm>
            <a:off x="6208560" y="3025800"/>
            <a:ext cx="5322240" cy="512280"/>
          </a:xfrm>
          <a:custGeom>
            <a:avLst/>
            <a:gdLst/>
            <a:ahLst/>
            <a:rect l="0" t="0" r="r" b="b"/>
            <a:pathLst>
              <a:path w="14784" h="1423">
                <a:moveTo>
                  <a:pt x="7392" y="1423"/>
                </a:moveTo>
                <a:lnTo>
                  <a:pt x="0" y="1423"/>
                </a:lnTo>
                <a:lnTo>
                  <a:pt x="0" y="0"/>
                </a:lnTo>
                <a:lnTo>
                  <a:pt x="14784" y="0"/>
                </a:lnTo>
                <a:lnTo>
                  <a:pt x="14784" y="1423"/>
                </a:lnTo>
                <a:lnTo>
                  <a:pt x="7392" y="1423"/>
                </a:lnTo>
                <a:close/>
              </a:path>
            </a:pathLst>
          </a:custGeom>
          <a:solidFill>
            <a:srgbClr val="fafafa"/>
          </a:solidFill>
          <a:ln w="12240">
            <a:solidFill>
              <a:srgbClr val="fafafa"/>
            </a:solidFill>
            <a:round/>
          </a:ln>
        </p:spPr>
        <p:txBody>
          <a:bodyPr lIns="6120" rIns="6120" tIns="6120" bIns="6120" anchor="t">
            <a:noAutofit/>
          </a:bodyPr>
          <a:p>
            <a:endParaRPr b="0" lang="en-US" sz="2400" spc="-1" strike="noStrike">
              <a:solidFill>
                <a:srgbClr val="000000"/>
              </a:solidFill>
              <a:latin typeface="Times New Roman"/>
            </a:endParaRPr>
          </a:p>
        </p:txBody>
      </p:sp>
      <p:sp>
        <p:nvSpPr>
          <p:cNvPr id="354" name=""/>
          <p:cNvSpPr txBox="1"/>
          <p:nvPr/>
        </p:nvSpPr>
        <p:spPr>
          <a:xfrm>
            <a:off x="10323360" y="2711160"/>
            <a:ext cx="636120" cy="160560"/>
          </a:xfrm>
          <a:prstGeom prst="rect">
            <a:avLst/>
          </a:prstGeom>
          <a:noFill/>
          <a:ln w="0">
            <a:noFill/>
          </a:ln>
        </p:spPr>
        <p:txBody>
          <a:bodyPr wrap="none" lIns="0" rIns="0" tIns="0" bIns="0" anchor="t">
            <a:noAutofit/>
          </a:bodyPr>
          <a:p>
            <a:r>
              <a:rPr b="0" lang="en-US" sz="1130" spc="-1" strike="noStrike">
                <a:solidFill>
                  <a:srgbClr val="284f78"/>
                </a:solidFill>
                <a:latin typeface="Arial"/>
                <a:ea typeface="Arial"/>
              </a:rPr>
              <a:t>6.17 GB/s</a:t>
            </a:r>
            <a:endParaRPr b="0" lang="en-US" sz="1130" spc="-1" strike="noStrike">
              <a:solidFill>
                <a:srgbClr val="000000"/>
              </a:solidFill>
              <a:latin typeface="Times New Roman"/>
            </a:endParaRPr>
          </a:p>
        </p:txBody>
      </p:sp>
      <p:sp>
        <p:nvSpPr>
          <p:cNvPr id="355" name=""/>
          <p:cNvSpPr txBox="1"/>
          <p:nvPr/>
        </p:nvSpPr>
        <p:spPr>
          <a:xfrm>
            <a:off x="6309000" y="3223440"/>
            <a:ext cx="125028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SmartNIC IMIX rate</a:t>
            </a:r>
            <a:endParaRPr b="0" lang="en-US" sz="1130" spc="-1" strike="noStrike">
              <a:solidFill>
                <a:srgbClr val="000000"/>
              </a:solidFill>
              <a:latin typeface="Times New Roman"/>
            </a:endParaRPr>
          </a:p>
        </p:txBody>
      </p:sp>
      <p:sp>
        <p:nvSpPr>
          <p:cNvPr id="356" name=""/>
          <p:cNvSpPr txBox="1"/>
          <p:nvPr/>
        </p:nvSpPr>
        <p:spPr>
          <a:xfrm>
            <a:off x="9116640" y="3223440"/>
            <a:ext cx="668160" cy="160560"/>
          </a:xfrm>
          <a:prstGeom prst="rect">
            <a:avLst/>
          </a:prstGeom>
          <a:noFill/>
          <a:ln w="0">
            <a:noFill/>
          </a:ln>
        </p:spPr>
        <p:txBody>
          <a:bodyPr wrap="none" lIns="0" rIns="0" tIns="0" bIns="0" anchor="t">
            <a:noAutofit/>
          </a:bodyPr>
          <a:p>
            <a:r>
              <a:rPr b="0" lang="en-US" sz="1130" spc="-1" strike="noStrike">
                <a:solidFill>
                  <a:srgbClr val="525b65"/>
                </a:solidFill>
                <a:latin typeface="Arial"/>
                <a:ea typeface="Arial"/>
              </a:rPr>
              <a:t>0.15 Mpps</a:t>
            </a:r>
            <a:endParaRPr b="0" lang="en-US" sz="1130" spc="-1" strike="noStrike">
              <a:solidFill>
                <a:srgbClr val="000000"/>
              </a:solidFill>
              <a:latin typeface="Times New Roman"/>
            </a:endParaRPr>
          </a:p>
        </p:txBody>
      </p:sp>
      <p:sp>
        <p:nvSpPr>
          <p:cNvPr id="357" name=""/>
          <p:cNvSpPr/>
          <p:nvPr/>
        </p:nvSpPr>
        <p:spPr>
          <a:xfrm>
            <a:off x="6208560" y="3538080"/>
            <a:ext cx="5322240" cy="1440"/>
          </a:xfrm>
          <a:prstGeom prst="line">
            <a:avLst/>
          </a:prstGeom>
          <a:ln w="5760">
            <a:solidFill>
              <a:srgbClr val="ced4da"/>
            </a:solidFill>
            <a:round/>
          </a:ln>
        </p:spPr>
        <p:style>
          <a:lnRef idx="0"/>
          <a:fillRef idx="0"/>
          <a:effectRef idx="0"/>
          <a:fontRef idx="minor"/>
        </p:style>
        <p:txBody>
          <a:bodyPr lIns="2880" rIns="2880" tIns="-1440" bIns="-1440" anchor="t">
            <a:noAutofit/>
          </a:bodyPr>
          <a:p>
            <a:endParaRPr b="0" lang="en-US" sz="2400" spc="-1" strike="noStrike">
              <a:solidFill>
                <a:srgbClr val="000000"/>
              </a:solidFill>
              <a:latin typeface="Times New Roman"/>
            </a:endParaRPr>
          </a:p>
        </p:txBody>
      </p:sp>
      <p:sp>
        <p:nvSpPr>
          <p:cNvPr id="358" name=""/>
          <p:cNvSpPr txBox="1"/>
          <p:nvPr/>
        </p:nvSpPr>
        <p:spPr>
          <a:xfrm>
            <a:off x="10323360" y="3223440"/>
            <a:ext cx="668160" cy="160560"/>
          </a:xfrm>
          <a:prstGeom prst="rect">
            <a:avLst/>
          </a:prstGeom>
          <a:noFill/>
          <a:ln w="0">
            <a:noFill/>
          </a:ln>
        </p:spPr>
        <p:txBody>
          <a:bodyPr wrap="none" lIns="0" rIns="0" tIns="0" bIns="0" anchor="t">
            <a:noAutofit/>
          </a:bodyPr>
          <a:p>
            <a:r>
              <a:rPr b="0" lang="en-US" sz="1130" spc="-1" strike="noStrike">
                <a:solidFill>
                  <a:srgbClr val="284f78"/>
                </a:solidFill>
                <a:latin typeface="Arial"/>
                <a:ea typeface="Arial"/>
              </a:rPr>
              <a:t>4.84 Mpps</a:t>
            </a:r>
            <a:endParaRPr b="0" lang="en-US" sz="1130" spc="-1" strike="noStrike">
              <a:solidFill>
                <a:srgbClr val="000000"/>
              </a:solidFill>
              <a:latin typeface="Times New Roman"/>
            </a:endParaRPr>
          </a:p>
        </p:txBody>
      </p:sp>
      <p:sp>
        <p:nvSpPr>
          <p:cNvPr id="359" name=""/>
          <p:cNvSpPr txBox="1"/>
          <p:nvPr/>
        </p:nvSpPr>
        <p:spPr>
          <a:xfrm>
            <a:off x="6309000" y="3735360"/>
            <a:ext cx="104328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64 B packet rate</a:t>
            </a:r>
            <a:endParaRPr b="0" lang="en-US" sz="1130" spc="-1" strike="noStrike">
              <a:solidFill>
                <a:srgbClr val="000000"/>
              </a:solidFill>
              <a:latin typeface="Times New Roman"/>
            </a:endParaRPr>
          </a:p>
        </p:txBody>
      </p:sp>
      <p:sp>
        <p:nvSpPr>
          <p:cNvPr id="360" name=""/>
          <p:cNvSpPr txBox="1"/>
          <p:nvPr/>
        </p:nvSpPr>
        <p:spPr>
          <a:xfrm>
            <a:off x="9116640" y="3735360"/>
            <a:ext cx="668160" cy="160560"/>
          </a:xfrm>
          <a:prstGeom prst="rect">
            <a:avLst/>
          </a:prstGeom>
          <a:noFill/>
          <a:ln w="0">
            <a:noFill/>
          </a:ln>
        </p:spPr>
        <p:txBody>
          <a:bodyPr wrap="none" lIns="0" rIns="0" tIns="0" bIns="0" anchor="t">
            <a:noAutofit/>
          </a:bodyPr>
          <a:p>
            <a:r>
              <a:rPr b="0" lang="en-US" sz="1130" spc="-1" strike="noStrike">
                <a:solidFill>
                  <a:srgbClr val="525b65"/>
                </a:solidFill>
                <a:latin typeface="Arial"/>
                <a:ea typeface="Arial"/>
              </a:rPr>
              <a:t>0.48 Mpps</a:t>
            </a:r>
            <a:endParaRPr b="0" lang="en-US" sz="1130" spc="-1" strike="noStrike">
              <a:solidFill>
                <a:srgbClr val="000000"/>
              </a:solidFill>
              <a:latin typeface="Times New Roman"/>
            </a:endParaRPr>
          </a:p>
        </p:txBody>
      </p:sp>
      <p:sp>
        <p:nvSpPr>
          <p:cNvPr id="361" name=""/>
          <p:cNvSpPr/>
          <p:nvPr/>
        </p:nvSpPr>
        <p:spPr>
          <a:xfrm>
            <a:off x="6208560" y="4050360"/>
            <a:ext cx="5322240" cy="1440"/>
          </a:xfrm>
          <a:prstGeom prst="line">
            <a:avLst/>
          </a:prstGeom>
          <a:ln w="5760">
            <a:solidFill>
              <a:srgbClr val="ced4da"/>
            </a:solidFill>
            <a:round/>
          </a:ln>
        </p:spPr>
        <p:style>
          <a:lnRef idx="0"/>
          <a:fillRef idx="0"/>
          <a:effectRef idx="0"/>
          <a:fontRef idx="minor"/>
        </p:style>
        <p:txBody>
          <a:bodyPr lIns="2880" rIns="2880" tIns="-1440" bIns="-1440" anchor="t">
            <a:noAutofit/>
          </a:bodyPr>
          <a:p>
            <a:endParaRPr b="0" lang="en-US" sz="2400" spc="-1" strike="noStrike">
              <a:solidFill>
                <a:srgbClr val="000000"/>
              </a:solidFill>
              <a:latin typeface="Times New Roman"/>
            </a:endParaRPr>
          </a:p>
        </p:txBody>
      </p:sp>
      <p:sp>
        <p:nvSpPr>
          <p:cNvPr id="362" name=""/>
          <p:cNvSpPr/>
          <p:nvPr/>
        </p:nvSpPr>
        <p:spPr>
          <a:xfrm>
            <a:off x="6208560" y="4050360"/>
            <a:ext cx="5322240" cy="511560"/>
          </a:xfrm>
          <a:custGeom>
            <a:avLst/>
            <a:gdLst/>
            <a:ahLst/>
            <a:rect l="0" t="0" r="r" b="b"/>
            <a:pathLst>
              <a:path w="14784" h="1421">
                <a:moveTo>
                  <a:pt x="7392" y="1421"/>
                </a:moveTo>
                <a:lnTo>
                  <a:pt x="0" y="1421"/>
                </a:lnTo>
                <a:lnTo>
                  <a:pt x="0" y="0"/>
                </a:lnTo>
                <a:lnTo>
                  <a:pt x="14784" y="0"/>
                </a:lnTo>
                <a:lnTo>
                  <a:pt x="14784" y="1421"/>
                </a:lnTo>
                <a:lnTo>
                  <a:pt x="7392" y="1421"/>
                </a:lnTo>
                <a:close/>
              </a:path>
            </a:pathLst>
          </a:custGeom>
          <a:solidFill>
            <a:srgbClr val="fafafa"/>
          </a:solidFill>
          <a:ln w="12240">
            <a:solidFill>
              <a:srgbClr val="fafafa"/>
            </a:solidFill>
            <a:round/>
          </a:ln>
        </p:spPr>
        <p:txBody>
          <a:bodyPr lIns="6120" rIns="6120" tIns="6120" bIns="6120" anchor="t">
            <a:noAutofit/>
          </a:bodyPr>
          <a:p>
            <a:endParaRPr b="0" lang="en-US" sz="2400" spc="-1" strike="noStrike">
              <a:solidFill>
                <a:srgbClr val="000000"/>
              </a:solidFill>
              <a:latin typeface="Times New Roman"/>
            </a:endParaRPr>
          </a:p>
        </p:txBody>
      </p:sp>
      <p:sp>
        <p:nvSpPr>
          <p:cNvPr id="363" name=""/>
          <p:cNvSpPr txBox="1"/>
          <p:nvPr/>
        </p:nvSpPr>
        <p:spPr>
          <a:xfrm>
            <a:off x="10323360" y="3735360"/>
            <a:ext cx="668160" cy="160560"/>
          </a:xfrm>
          <a:prstGeom prst="rect">
            <a:avLst/>
          </a:prstGeom>
          <a:noFill/>
          <a:ln w="0">
            <a:noFill/>
          </a:ln>
        </p:spPr>
        <p:txBody>
          <a:bodyPr wrap="none" lIns="0" rIns="0" tIns="0" bIns="0" anchor="t">
            <a:noAutofit/>
          </a:bodyPr>
          <a:p>
            <a:r>
              <a:rPr b="0" lang="en-US" sz="1130" spc="-1" strike="noStrike">
                <a:solidFill>
                  <a:srgbClr val="284f78"/>
                </a:solidFill>
                <a:latin typeface="Arial"/>
                <a:ea typeface="Arial"/>
              </a:rPr>
              <a:t>11.6 Mpps</a:t>
            </a:r>
            <a:endParaRPr b="0" lang="en-US" sz="1130" spc="-1" strike="noStrike">
              <a:solidFill>
                <a:srgbClr val="000000"/>
              </a:solidFill>
              <a:latin typeface="Times New Roman"/>
            </a:endParaRPr>
          </a:p>
        </p:txBody>
      </p:sp>
      <p:sp>
        <p:nvSpPr>
          <p:cNvPr id="364" name=""/>
          <p:cNvSpPr txBox="1"/>
          <p:nvPr/>
        </p:nvSpPr>
        <p:spPr>
          <a:xfrm>
            <a:off x="6309000" y="4247280"/>
            <a:ext cx="135396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NIC IMIX p99 latency</a:t>
            </a:r>
            <a:endParaRPr b="0" lang="en-US" sz="1130" spc="-1" strike="noStrike">
              <a:solidFill>
                <a:srgbClr val="000000"/>
              </a:solidFill>
              <a:latin typeface="Times New Roman"/>
            </a:endParaRPr>
          </a:p>
        </p:txBody>
      </p:sp>
      <p:sp>
        <p:nvSpPr>
          <p:cNvPr id="365" name=""/>
          <p:cNvSpPr txBox="1"/>
          <p:nvPr/>
        </p:nvSpPr>
        <p:spPr>
          <a:xfrm>
            <a:off x="9116640" y="4247280"/>
            <a:ext cx="352800" cy="160560"/>
          </a:xfrm>
          <a:prstGeom prst="rect">
            <a:avLst/>
          </a:prstGeom>
          <a:noFill/>
          <a:ln w="0">
            <a:noFill/>
          </a:ln>
        </p:spPr>
        <p:txBody>
          <a:bodyPr wrap="none" lIns="0" rIns="0" tIns="0" bIns="0" anchor="t">
            <a:noAutofit/>
          </a:bodyPr>
          <a:p>
            <a:r>
              <a:rPr b="0" lang="en-US" sz="1130" spc="-1" strike="noStrike">
                <a:solidFill>
                  <a:srgbClr val="525b65"/>
                </a:solidFill>
                <a:latin typeface="Arial"/>
                <a:ea typeface="Arial"/>
              </a:rPr>
              <a:t>58 μs</a:t>
            </a:r>
            <a:endParaRPr b="0" lang="en-US" sz="1130" spc="-1" strike="noStrike">
              <a:solidFill>
                <a:srgbClr val="000000"/>
              </a:solidFill>
              <a:latin typeface="Times New Roman"/>
            </a:endParaRPr>
          </a:p>
        </p:txBody>
      </p:sp>
      <p:sp>
        <p:nvSpPr>
          <p:cNvPr id="366" name=""/>
          <p:cNvSpPr/>
          <p:nvPr/>
        </p:nvSpPr>
        <p:spPr>
          <a:xfrm>
            <a:off x="6208560" y="4562640"/>
            <a:ext cx="5321880" cy="0"/>
          </a:xfrm>
          <a:prstGeom prst="line">
            <a:avLst/>
          </a:prstGeom>
          <a:ln w="5760">
            <a:solidFill>
              <a:srgbClr val="ced4da"/>
            </a:solidFill>
            <a:round/>
          </a:ln>
        </p:spPr>
        <p:style>
          <a:lnRef idx="0"/>
          <a:fillRef idx="0"/>
          <a:effectRef idx="0"/>
          <a:fontRef idx="minor"/>
        </p:style>
        <p:txBody>
          <a:bodyPr lIns="2880" rIns="2880" tIns="-2880" bIns="-2880" anchor="t">
            <a:noAutofit/>
          </a:bodyPr>
          <a:p>
            <a:endParaRPr b="0" lang="en-US" sz="2400" spc="-1" strike="noStrike">
              <a:solidFill>
                <a:srgbClr val="000000"/>
              </a:solidFill>
              <a:latin typeface="Times New Roman"/>
            </a:endParaRPr>
          </a:p>
        </p:txBody>
      </p:sp>
      <p:sp>
        <p:nvSpPr>
          <p:cNvPr id="367" name=""/>
          <p:cNvSpPr txBox="1"/>
          <p:nvPr/>
        </p:nvSpPr>
        <p:spPr>
          <a:xfrm>
            <a:off x="10323360" y="4247280"/>
            <a:ext cx="473040" cy="160560"/>
          </a:xfrm>
          <a:prstGeom prst="rect">
            <a:avLst/>
          </a:prstGeom>
          <a:noFill/>
          <a:ln w="0">
            <a:noFill/>
          </a:ln>
        </p:spPr>
        <p:txBody>
          <a:bodyPr wrap="none" lIns="0" rIns="0" tIns="0" bIns="0" anchor="t">
            <a:noAutofit/>
          </a:bodyPr>
          <a:p>
            <a:r>
              <a:rPr b="0" lang="en-US" sz="1130" spc="-1" strike="noStrike">
                <a:solidFill>
                  <a:srgbClr val="284f78"/>
                </a:solidFill>
                <a:latin typeface="Arial"/>
                <a:ea typeface="Arial"/>
              </a:rPr>
              <a:t>0.59 μs</a:t>
            </a:r>
            <a:endParaRPr b="0" lang="en-US" sz="1130" spc="-1" strike="noStrike">
              <a:solidFill>
                <a:srgbClr val="000000"/>
              </a:solidFill>
              <a:latin typeface="Times New Roman"/>
            </a:endParaRPr>
          </a:p>
        </p:txBody>
      </p:sp>
      <p:sp>
        <p:nvSpPr>
          <p:cNvPr id="368" name=""/>
          <p:cNvSpPr txBox="1"/>
          <p:nvPr/>
        </p:nvSpPr>
        <p:spPr>
          <a:xfrm>
            <a:off x="6309000" y="4759560"/>
            <a:ext cx="104328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NIC p99, ML 1:7</a:t>
            </a:r>
            <a:endParaRPr b="0" lang="en-US" sz="1130" spc="-1" strike="noStrike">
              <a:solidFill>
                <a:srgbClr val="000000"/>
              </a:solidFill>
              <a:latin typeface="Times New Roman"/>
            </a:endParaRPr>
          </a:p>
        </p:txBody>
      </p:sp>
      <p:sp>
        <p:nvSpPr>
          <p:cNvPr id="369" name=""/>
          <p:cNvSpPr txBox="1"/>
          <p:nvPr/>
        </p:nvSpPr>
        <p:spPr>
          <a:xfrm>
            <a:off x="9116640" y="4759560"/>
            <a:ext cx="433440" cy="160560"/>
          </a:xfrm>
          <a:prstGeom prst="rect">
            <a:avLst/>
          </a:prstGeom>
          <a:noFill/>
          <a:ln w="0">
            <a:noFill/>
          </a:ln>
        </p:spPr>
        <p:txBody>
          <a:bodyPr wrap="none" lIns="0" rIns="0" tIns="0" bIns="0" anchor="t">
            <a:noAutofit/>
          </a:bodyPr>
          <a:p>
            <a:r>
              <a:rPr b="0" lang="en-US" sz="1130" spc="-1" strike="noStrike">
                <a:solidFill>
                  <a:srgbClr val="525b65"/>
                </a:solidFill>
                <a:latin typeface="Arial"/>
                <a:ea typeface="Arial"/>
              </a:rPr>
              <a:t>241 μs</a:t>
            </a:r>
            <a:endParaRPr b="0" lang="en-US" sz="1130" spc="-1" strike="noStrike">
              <a:solidFill>
                <a:srgbClr val="000000"/>
              </a:solidFill>
              <a:latin typeface="Times New Roman"/>
            </a:endParaRPr>
          </a:p>
        </p:txBody>
      </p:sp>
      <p:sp>
        <p:nvSpPr>
          <p:cNvPr id="370" name=""/>
          <p:cNvSpPr/>
          <p:nvPr/>
        </p:nvSpPr>
        <p:spPr>
          <a:xfrm>
            <a:off x="6208560" y="5074920"/>
            <a:ext cx="5321880" cy="360"/>
          </a:xfrm>
          <a:prstGeom prst="line">
            <a:avLst/>
          </a:prstGeom>
          <a:ln w="5760">
            <a:solidFill>
              <a:srgbClr val="ced4da"/>
            </a:solidFill>
            <a:round/>
          </a:ln>
        </p:spPr>
        <p:style>
          <a:lnRef idx="0"/>
          <a:fillRef idx="0"/>
          <a:effectRef idx="0"/>
          <a:fontRef idx="minor"/>
        </p:style>
        <p:txBody>
          <a:bodyPr lIns="2880" rIns="2880" tIns="-2520" bIns="-2520" anchor="t">
            <a:noAutofit/>
          </a:bodyPr>
          <a:p>
            <a:endParaRPr b="0" lang="en-US" sz="2400" spc="-1" strike="noStrike">
              <a:solidFill>
                <a:srgbClr val="000000"/>
              </a:solidFill>
              <a:latin typeface="Times New Roman"/>
            </a:endParaRPr>
          </a:p>
        </p:txBody>
      </p:sp>
      <p:sp>
        <p:nvSpPr>
          <p:cNvPr id="371" name=""/>
          <p:cNvSpPr/>
          <p:nvPr/>
        </p:nvSpPr>
        <p:spPr>
          <a:xfrm>
            <a:off x="685800" y="5604840"/>
            <a:ext cx="10872720" cy="1440"/>
          </a:xfrm>
          <a:prstGeom prst="line">
            <a:avLst/>
          </a:prstGeom>
          <a:ln w="10440">
            <a:solidFill>
              <a:srgbClr val="ced4da"/>
            </a:solidFill>
            <a:round/>
          </a:ln>
        </p:spPr>
        <p:style>
          <a:lnRef idx="0"/>
          <a:fillRef idx="0"/>
          <a:effectRef idx="0"/>
          <a:fontRef idx="minor"/>
        </p:style>
        <p:txBody>
          <a:bodyPr lIns="5040" rIns="5040" tIns="-3600" bIns="-3600" anchor="t">
            <a:noAutofit/>
          </a:bodyPr>
          <a:p>
            <a:endParaRPr b="0" lang="en-US" sz="2400" spc="-1" strike="noStrike">
              <a:solidFill>
                <a:srgbClr val="000000"/>
              </a:solidFill>
              <a:latin typeface="Times New Roman"/>
            </a:endParaRPr>
          </a:p>
        </p:txBody>
      </p:sp>
      <p:sp>
        <p:nvSpPr>
          <p:cNvPr id="372" name=""/>
          <p:cNvSpPr txBox="1"/>
          <p:nvPr/>
        </p:nvSpPr>
        <p:spPr>
          <a:xfrm>
            <a:off x="10323360" y="4759560"/>
            <a:ext cx="392400" cy="160560"/>
          </a:xfrm>
          <a:prstGeom prst="rect">
            <a:avLst/>
          </a:prstGeom>
          <a:noFill/>
          <a:ln w="0">
            <a:noFill/>
          </a:ln>
        </p:spPr>
        <p:txBody>
          <a:bodyPr wrap="none" lIns="0" rIns="0" tIns="0" bIns="0" anchor="t">
            <a:noAutofit/>
          </a:bodyPr>
          <a:p>
            <a:r>
              <a:rPr b="0" lang="en-US" sz="1130" spc="-1" strike="noStrike">
                <a:solidFill>
                  <a:srgbClr val="284f78"/>
                </a:solidFill>
                <a:latin typeface="Arial"/>
                <a:ea typeface="Arial"/>
              </a:rPr>
              <a:t>4.2 μs</a:t>
            </a:r>
            <a:endParaRPr b="0" lang="en-US" sz="1130" spc="-1" strike="noStrike">
              <a:solidFill>
                <a:srgbClr val="000000"/>
              </a:solidFill>
              <a:latin typeface="Times New Roman"/>
            </a:endParaRPr>
          </a:p>
        </p:txBody>
      </p:sp>
      <p:sp>
        <p:nvSpPr>
          <p:cNvPr id="373" name=""/>
          <p:cNvSpPr txBox="1"/>
          <p:nvPr/>
        </p:nvSpPr>
        <p:spPr>
          <a:xfrm>
            <a:off x="694440" y="5783400"/>
            <a:ext cx="1005120" cy="162000"/>
          </a:xfrm>
          <a:prstGeom prst="rect">
            <a:avLst/>
          </a:prstGeom>
          <a:noFill/>
          <a:ln w="0">
            <a:noFill/>
          </a:ln>
        </p:spPr>
        <p:txBody>
          <a:bodyPr wrap="none" lIns="0" rIns="0" tIns="0" bIns="0" anchor="t">
            <a:noAutofit/>
          </a:bodyPr>
          <a:p>
            <a:r>
              <a:rPr b="1" lang="en-US" sz="1140" spc="-1" strike="noStrike">
                <a:solidFill>
                  <a:srgbClr val="1d3859"/>
                </a:solidFill>
                <a:latin typeface="Arial"/>
                <a:ea typeface="Arial"/>
              </a:rPr>
              <a:t>Resource note</a:t>
            </a:r>
            <a:endParaRPr b="0" lang="en-US" sz="1140" spc="-1" strike="noStrike">
              <a:solidFill>
                <a:srgbClr val="000000"/>
              </a:solidFill>
              <a:latin typeface="Times New Roman"/>
            </a:endParaRPr>
          </a:p>
        </p:txBody>
      </p:sp>
      <p:sp>
        <p:nvSpPr>
          <p:cNvPr id="374" name=""/>
          <p:cNvSpPr txBox="1"/>
          <p:nvPr/>
        </p:nvSpPr>
        <p:spPr>
          <a:xfrm>
            <a:off x="1965600" y="5914440"/>
            <a:ext cx="8724240" cy="155880"/>
          </a:xfrm>
          <a:prstGeom prst="rect">
            <a:avLst/>
          </a:prstGeom>
          <a:noFill/>
          <a:ln w="0">
            <a:noFill/>
          </a:ln>
        </p:spPr>
        <p:txBody>
          <a:bodyPr wrap="none" lIns="0" rIns="0" tIns="0" bIns="0" anchor="t">
            <a:noAutofit/>
          </a:bodyPr>
          <a:p>
            <a:r>
              <a:rPr b="0" lang="en-US" sz="1100" spc="-1" strike="noStrike">
                <a:solidFill>
                  <a:srgbClr val="525b65"/>
                </a:solidFill>
                <a:latin typeface="Arial"/>
                <a:ea typeface="Arial"/>
              </a:rPr>
              <a:t>BRAM / URAM / DSP = 0. Separate supplied synthesis report: 57,184 LUTs, 39,225 FFs; tool power estimate 3.499 W (medium confidence).</a:t>
            </a:r>
            <a:endParaRPr b="0" lang="en-US" sz="11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
          <p:cNvSpPr/>
          <p:nvPr/>
        </p:nvSpPr>
        <p:spPr>
          <a:xfrm>
            <a:off x="0" y="0"/>
            <a:ext cx="12191760" cy="6858000"/>
          </a:xfrm>
          <a:custGeom>
            <a:avLst/>
            <a:gdLst/>
            <a:ahLst/>
            <a:rect l="0" t="0" r="r" b="b"/>
            <a:pathLst>
              <a:path w="33866" h="19050">
                <a:moveTo>
                  <a:pt x="0" y="0"/>
                </a:moveTo>
                <a:lnTo>
                  <a:pt x="33866" y="0"/>
                </a:lnTo>
                <a:lnTo>
                  <a:pt x="33866"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76" name=""/>
          <p:cNvSpPr/>
          <p:nvPr/>
        </p:nvSpPr>
        <p:spPr>
          <a:xfrm>
            <a:off x="0" y="0"/>
            <a:ext cx="12192120" cy="6858360"/>
          </a:xfrm>
          <a:custGeom>
            <a:avLst/>
            <a:gdLst/>
            <a:ahLst/>
            <a:rect l="0" t="0" r="r" b="b"/>
            <a:pathLst>
              <a:path w="33867" h="19051">
                <a:moveTo>
                  <a:pt x="0" y="0"/>
                </a:moveTo>
                <a:lnTo>
                  <a:pt x="33867" y="0"/>
                </a:lnTo>
                <a:lnTo>
                  <a:pt x="33867" y="19051"/>
                </a:lnTo>
                <a:lnTo>
                  <a:pt x="0" y="19051"/>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77" name=""/>
          <p:cNvSpPr txBox="1"/>
          <p:nvPr/>
        </p:nvSpPr>
        <p:spPr>
          <a:xfrm>
            <a:off x="612360" y="226440"/>
            <a:ext cx="181584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RoboKnights  /  SARCathon 2026</a:t>
            </a:r>
            <a:endParaRPr b="0" lang="en-US" sz="960" spc="-1" strike="noStrike">
              <a:solidFill>
                <a:srgbClr val="000000"/>
              </a:solidFill>
              <a:latin typeface="Times New Roman"/>
            </a:endParaRPr>
          </a:p>
        </p:txBody>
      </p:sp>
      <p:sp>
        <p:nvSpPr>
          <p:cNvPr id="378" name=""/>
          <p:cNvSpPr/>
          <p:nvPr/>
        </p:nvSpPr>
        <p:spPr>
          <a:xfrm>
            <a:off x="612000" y="466200"/>
            <a:ext cx="10954800" cy="0"/>
          </a:xfrm>
          <a:prstGeom prst="line">
            <a:avLst/>
          </a:prstGeom>
          <a:ln w="9720">
            <a:solidFill>
              <a:srgbClr val="ced4da"/>
            </a:solidFill>
            <a:round/>
          </a:ln>
        </p:spPr>
        <p:style>
          <a:lnRef idx="0"/>
          <a:fillRef idx="0"/>
          <a:effectRef idx="0"/>
          <a:fontRef idx="minor"/>
        </p:style>
        <p:txBody>
          <a:bodyPr lIns="4680" rIns="4680" tIns="-4680" bIns="-4680" anchor="t">
            <a:noAutofit/>
          </a:bodyPr>
          <a:p>
            <a:endParaRPr b="0" lang="en-US" sz="2400" spc="-1" strike="noStrike">
              <a:solidFill>
                <a:srgbClr val="000000"/>
              </a:solidFill>
              <a:latin typeface="Times New Roman"/>
            </a:endParaRPr>
          </a:p>
        </p:txBody>
      </p:sp>
      <p:sp>
        <p:nvSpPr>
          <p:cNvPr id="379" name=""/>
          <p:cNvSpPr txBox="1"/>
          <p:nvPr/>
        </p:nvSpPr>
        <p:spPr>
          <a:xfrm>
            <a:off x="11413440" y="230760"/>
            <a:ext cx="13500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08</a:t>
            </a:r>
            <a:endParaRPr b="0" lang="en-US" sz="960" spc="-1" strike="noStrike">
              <a:solidFill>
                <a:srgbClr val="000000"/>
              </a:solidFill>
              <a:latin typeface="Times New Roman"/>
            </a:endParaRPr>
          </a:p>
        </p:txBody>
      </p:sp>
      <p:sp>
        <p:nvSpPr>
          <p:cNvPr id="380" name=""/>
          <p:cNvSpPr txBox="1"/>
          <p:nvPr/>
        </p:nvSpPr>
        <p:spPr>
          <a:xfrm>
            <a:off x="639720" y="737640"/>
            <a:ext cx="6855840" cy="379800"/>
          </a:xfrm>
          <a:prstGeom prst="rect">
            <a:avLst/>
          </a:prstGeom>
          <a:noFill/>
          <a:ln w="0">
            <a:noFill/>
          </a:ln>
        </p:spPr>
        <p:txBody>
          <a:bodyPr wrap="none" lIns="0" rIns="0" tIns="0" bIns="0" anchor="t">
            <a:noAutofit/>
          </a:bodyPr>
          <a:p>
            <a:r>
              <a:rPr b="1" lang="en-US" sz="2680" spc="-1" strike="noStrike">
                <a:solidFill>
                  <a:srgbClr val="20252c"/>
                </a:solidFill>
                <a:latin typeface="Arial"/>
                <a:ea typeface="Arial"/>
              </a:rPr>
              <a:t>SKY130 — physical implementation status</a:t>
            </a:r>
            <a:endParaRPr b="0" lang="en-US" sz="2680" spc="-1" strike="noStrike">
              <a:solidFill>
                <a:srgbClr val="000000"/>
              </a:solidFill>
              <a:latin typeface="Times New Roman"/>
            </a:endParaRPr>
          </a:p>
        </p:txBody>
      </p:sp>
      <p:sp>
        <p:nvSpPr>
          <p:cNvPr id="381" name=""/>
          <p:cNvSpPr/>
          <p:nvPr/>
        </p:nvSpPr>
        <p:spPr>
          <a:xfrm>
            <a:off x="612000" y="6482880"/>
            <a:ext cx="10954800" cy="0"/>
          </a:xfrm>
          <a:prstGeom prst="line">
            <a:avLst/>
          </a:prstGeom>
          <a:ln w="7920">
            <a:solidFill>
              <a:srgbClr val="ced4da"/>
            </a:solidFill>
            <a:round/>
          </a:ln>
        </p:spPr>
        <p:style>
          <a:lnRef idx="0"/>
          <a:fillRef idx="0"/>
          <a:effectRef idx="0"/>
          <a:fontRef idx="minor"/>
        </p:style>
        <p:txBody>
          <a:bodyPr lIns="3960" rIns="3960" tIns="-3960" bIns="-3960" anchor="t">
            <a:noAutofit/>
          </a:bodyPr>
          <a:p>
            <a:endParaRPr b="0" lang="en-US" sz="2400" spc="-1" strike="noStrike">
              <a:solidFill>
                <a:srgbClr val="000000"/>
              </a:solidFill>
              <a:latin typeface="Times New Roman"/>
            </a:endParaRPr>
          </a:p>
        </p:txBody>
      </p:sp>
      <p:sp>
        <p:nvSpPr>
          <p:cNvPr id="382" name=""/>
          <p:cNvSpPr txBox="1"/>
          <p:nvPr/>
        </p:nvSpPr>
        <p:spPr>
          <a:xfrm>
            <a:off x="639720" y="1332720"/>
            <a:ext cx="7779240" cy="177120"/>
          </a:xfrm>
          <a:prstGeom prst="rect">
            <a:avLst/>
          </a:prstGeom>
          <a:noFill/>
          <a:ln w="0">
            <a:noFill/>
          </a:ln>
        </p:spPr>
        <p:txBody>
          <a:bodyPr wrap="none" lIns="0" rIns="0" tIns="0" bIns="0" anchor="t">
            <a:noAutofit/>
          </a:bodyPr>
          <a:p>
            <a:r>
              <a:rPr b="0" lang="en-US" sz="1250" spc="-1" strike="noStrike">
                <a:solidFill>
                  <a:srgbClr val="525b65"/>
                </a:solidFill>
                <a:latin typeface="Arial"/>
                <a:ea typeface="Arial"/>
              </a:rPr>
              <a:t>Reported status on 24 October 2026; interconnect GDSII completed, full-bridge physical sign-off not confirmed.</a:t>
            </a:r>
            <a:endParaRPr b="0" lang="en-US" sz="1250" spc="-1" strike="noStrike">
              <a:solidFill>
                <a:srgbClr val="000000"/>
              </a:solidFill>
              <a:latin typeface="Times New Roman"/>
            </a:endParaRPr>
          </a:p>
        </p:txBody>
      </p:sp>
      <p:sp>
        <p:nvSpPr>
          <p:cNvPr id="383" name=""/>
          <p:cNvSpPr txBox="1"/>
          <p:nvPr/>
        </p:nvSpPr>
        <p:spPr>
          <a:xfrm>
            <a:off x="639720" y="6578280"/>
            <a:ext cx="299088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AXI4-Stream → PCIe 6.0 Bridge  |  Round 2 technical review</a:t>
            </a:r>
            <a:endParaRPr b="0" lang="en-US" sz="870" spc="-1" strike="noStrike">
              <a:solidFill>
                <a:srgbClr val="000000"/>
              </a:solidFill>
              <a:latin typeface="Times New Roman"/>
            </a:endParaRPr>
          </a:p>
        </p:txBody>
      </p:sp>
      <p:pic>
        <p:nvPicPr>
          <p:cNvPr id="384" name="" descr=""/>
          <p:cNvPicPr/>
          <p:nvPr/>
        </p:nvPicPr>
        <p:blipFill>
          <a:blip r:embed="rId1"/>
          <a:stretch/>
        </p:blipFill>
        <p:spPr>
          <a:xfrm>
            <a:off x="667440" y="1700280"/>
            <a:ext cx="5229720" cy="3025800"/>
          </a:xfrm>
          <a:prstGeom prst="rect">
            <a:avLst/>
          </a:prstGeom>
          <a:ln w="0">
            <a:noFill/>
          </a:ln>
        </p:spPr>
      </p:pic>
      <p:pic>
        <p:nvPicPr>
          <p:cNvPr id="385" name="" descr=""/>
          <p:cNvPicPr/>
          <p:nvPr/>
        </p:nvPicPr>
        <p:blipFill>
          <a:blip r:embed="rId2"/>
          <a:stretch/>
        </p:blipFill>
        <p:spPr>
          <a:xfrm>
            <a:off x="6254640" y="1700280"/>
            <a:ext cx="5229720" cy="3025800"/>
          </a:xfrm>
          <a:prstGeom prst="rect">
            <a:avLst/>
          </a:prstGeom>
          <a:ln w="0">
            <a:noFill/>
          </a:ln>
        </p:spPr>
      </p:pic>
      <p:sp>
        <p:nvSpPr>
          <p:cNvPr id="386" name=""/>
          <p:cNvSpPr txBox="1"/>
          <p:nvPr/>
        </p:nvSpPr>
        <p:spPr>
          <a:xfrm>
            <a:off x="11261520" y="6578280"/>
            <a:ext cx="27792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8 / 10</a:t>
            </a:r>
            <a:endParaRPr b="0" lang="en-US" sz="870" spc="-1" strike="noStrike">
              <a:solidFill>
                <a:srgbClr val="000000"/>
              </a:solidFill>
              <a:latin typeface="Times New Roman"/>
            </a:endParaRPr>
          </a:p>
        </p:txBody>
      </p:sp>
      <p:sp>
        <p:nvSpPr>
          <p:cNvPr id="387" name=""/>
          <p:cNvSpPr txBox="1"/>
          <p:nvPr/>
        </p:nvSpPr>
        <p:spPr>
          <a:xfrm>
            <a:off x="776880" y="4818240"/>
            <a:ext cx="2500200" cy="152640"/>
          </a:xfrm>
          <a:prstGeom prst="rect">
            <a:avLst/>
          </a:prstGeom>
          <a:noFill/>
          <a:ln w="0">
            <a:noFill/>
          </a:ln>
        </p:spPr>
        <p:txBody>
          <a:bodyPr wrap="none" lIns="0" rIns="0" tIns="0" bIns="0" anchor="t">
            <a:noAutofit/>
          </a:bodyPr>
          <a:p>
            <a:r>
              <a:rPr b="0" i="1" lang="en-US" sz="1080" spc="-1" strike="noStrike">
                <a:solidFill>
                  <a:srgbClr val="525b65"/>
                </a:solidFill>
                <a:latin typeface="Arial"/>
                <a:ea typeface="Arial"/>
              </a:rPr>
              <a:t>Layout view 1 · dense cell/routing display</a:t>
            </a:r>
            <a:endParaRPr b="0" lang="en-US" sz="1080" spc="-1" strike="noStrike">
              <a:solidFill>
                <a:srgbClr val="000000"/>
              </a:solidFill>
              <a:latin typeface="Times New Roman"/>
            </a:endParaRPr>
          </a:p>
        </p:txBody>
      </p:sp>
      <p:sp>
        <p:nvSpPr>
          <p:cNvPr id="388" name=""/>
          <p:cNvSpPr/>
          <p:nvPr/>
        </p:nvSpPr>
        <p:spPr>
          <a:xfrm>
            <a:off x="676440" y="5101920"/>
            <a:ext cx="10817280" cy="1440"/>
          </a:xfrm>
          <a:prstGeom prst="line">
            <a:avLst/>
          </a:prstGeom>
          <a:ln w="9720">
            <a:solidFill>
              <a:srgbClr val="ced4da"/>
            </a:solidFill>
            <a:round/>
          </a:ln>
        </p:spPr>
        <p:style>
          <a:lnRef idx="0"/>
          <a:fillRef idx="0"/>
          <a:effectRef idx="0"/>
          <a:fontRef idx="minor"/>
        </p:style>
        <p:txBody>
          <a:bodyPr lIns="4680" rIns="4680" tIns="-3240" bIns="-3240" anchor="t">
            <a:noAutofit/>
          </a:bodyPr>
          <a:p>
            <a:endParaRPr b="0" lang="en-US" sz="2400" spc="-1" strike="noStrike">
              <a:solidFill>
                <a:srgbClr val="000000"/>
              </a:solidFill>
              <a:latin typeface="Times New Roman"/>
            </a:endParaRPr>
          </a:p>
        </p:txBody>
      </p:sp>
      <p:sp>
        <p:nvSpPr>
          <p:cNvPr id="389" name=""/>
          <p:cNvSpPr txBox="1"/>
          <p:nvPr/>
        </p:nvSpPr>
        <p:spPr>
          <a:xfrm>
            <a:off x="6346080" y="4818240"/>
            <a:ext cx="2218320" cy="152640"/>
          </a:xfrm>
          <a:prstGeom prst="rect">
            <a:avLst/>
          </a:prstGeom>
          <a:noFill/>
          <a:ln w="0">
            <a:noFill/>
          </a:ln>
        </p:spPr>
        <p:txBody>
          <a:bodyPr wrap="none" lIns="0" rIns="0" tIns="0" bIns="0" anchor="t">
            <a:noAutofit/>
          </a:bodyPr>
          <a:p>
            <a:r>
              <a:rPr b="0" i="1" lang="en-US" sz="1080" spc="-1" strike="noStrike">
                <a:solidFill>
                  <a:srgbClr val="525b65"/>
                </a:solidFill>
                <a:latin typeface="Arial"/>
                <a:ea typeface="Arial"/>
              </a:rPr>
              <a:t>Layout view 2 · metal/routing display</a:t>
            </a:r>
            <a:endParaRPr b="0" lang="en-US" sz="1080" spc="-1" strike="noStrike">
              <a:solidFill>
                <a:srgbClr val="000000"/>
              </a:solidFill>
              <a:latin typeface="Times New Roman"/>
            </a:endParaRPr>
          </a:p>
        </p:txBody>
      </p:sp>
      <p:sp>
        <p:nvSpPr>
          <p:cNvPr id="390" name=""/>
          <p:cNvSpPr txBox="1"/>
          <p:nvPr/>
        </p:nvSpPr>
        <p:spPr>
          <a:xfrm>
            <a:off x="722160" y="5318640"/>
            <a:ext cx="2129760" cy="200160"/>
          </a:xfrm>
          <a:prstGeom prst="rect">
            <a:avLst/>
          </a:prstGeom>
          <a:noFill/>
          <a:ln w="0">
            <a:noFill/>
          </a:ln>
        </p:spPr>
        <p:txBody>
          <a:bodyPr wrap="none" lIns="0" rIns="0" tIns="0" bIns="0" anchor="t">
            <a:noAutofit/>
          </a:bodyPr>
          <a:p>
            <a:r>
              <a:rPr b="1" lang="en-US" sz="1400" spc="-1" strike="noStrike">
                <a:solidFill>
                  <a:srgbClr val="1d3859"/>
                </a:solidFill>
                <a:latin typeface="Arial"/>
                <a:ea typeface="Arial"/>
              </a:rPr>
              <a:t>Interconnect (completed)</a:t>
            </a:r>
            <a:endParaRPr b="0" lang="en-US" sz="1400" spc="-1" strike="noStrike">
              <a:solidFill>
                <a:srgbClr val="000000"/>
              </a:solidFill>
              <a:latin typeface="Times New Roman"/>
            </a:endParaRPr>
          </a:p>
        </p:txBody>
      </p:sp>
      <p:sp>
        <p:nvSpPr>
          <p:cNvPr id="391" name=""/>
          <p:cNvSpPr txBox="1"/>
          <p:nvPr/>
        </p:nvSpPr>
        <p:spPr>
          <a:xfrm>
            <a:off x="722160" y="5655600"/>
            <a:ext cx="331560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1.20 mm² die · 41% utilization · ~49k cells · 104 mW</a:t>
            </a:r>
            <a:endParaRPr b="0" lang="en-US" sz="1130" spc="-1" strike="noStrike">
              <a:solidFill>
                <a:srgbClr val="000000"/>
              </a:solidFill>
              <a:latin typeface="Times New Roman"/>
            </a:endParaRPr>
          </a:p>
        </p:txBody>
      </p:sp>
      <p:sp>
        <p:nvSpPr>
          <p:cNvPr id="392" name=""/>
          <p:cNvSpPr/>
          <p:nvPr/>
        </p:nvSpPr>
        <p:spPr>
          <a:xfrm>
            <a:off x="6117120" y="5266800"/>
            <a:ext cx="0" cy="1097280"/>
          </a:xfrm>
          <a:prstGeom prst="line">
            <a:avLst/>
          </a:prstGeom>
          <a:ln w="9720">
            <a:solidFill>
              <a:srgbClr val="ced4da"/>
            </a:solidFill>
            <a:round/>
          </a:ln>
        </p:spPr>
        <p:style>
          <a:lnRef idx="0"/>
          <a:fillRef idx="0"/>
          <a:effectRef idx="0"/>
          <a:fontRef idx="minor"/>
        </p:style>
        <p:txBody>
          <a:bodyPr lIns="4680" rIns="4680" tIns="4680" bIns="4680" anchor="t">
            <a:noAutofit/>
          </a:bodyPr>
          <a:p>
            <a:endParaRPr b="0" lang="en-US" sz="2400" spc="-1" strike="noStrike">
              <a:solidFill>
                <a:srgbClr val="000000"/>
              </a:solidFill>
              <a:latin typeface="Times New Roman"/>
            </a:endParaRPr>
          </a:p>
        </p:txBody>
      </p:sp>
      <p:sp>
        <p:nvSpPr>
          <p:cNvPr id="393" name=""/>
          <p:cNvSpPr txBox="1"/>
          <p:nvPr/>
        </p:nvSpPr>
        <p:spPr>
          <a:xfrm>
            <a:off x="722160" y="6041520"/>
            <a:ext cx="4013280" cy="159120"/>
          </a:xfrm>
          <a:prstGeom prst="rect">
            <a:avLst/>
          </a:prstGeom>
          <a:noFill/>
          <a:ln w="0">
            <a:noFill/>
          </a:ln>
        </p:spPr>
        <p:txBody>
          <a:bodyPr wrap="none" lIns="0" rIns="0" tIns="0" bIns="0" anchor="t">
            <a:noAutofit/>
          </a:bodyPr>
          <a:p>
            <a:r>
              <a:rPr b="0" lang="en-US" sz="1110" spc="-1" strike="noStrike">
                <a:solidFill>
                  <a:srgbClr val="20252c"/>
                </a:solidFill>
                <a:latin typeface="Arial"/>
                <a:ea typeface="Arial"/>
              </a:rPr>
              <a:t>DRC/LVS/antenna clean; hold met. Slow-corner setup −0.95 ns.</a:t>
            </a:r>
            <a:endParaRPr b="0" lang="en-US" sz="1110" spc="-1" strike="noStrike">
              <a:solidFill>
                <a:srgbClr val="000000"/>
              </a:solidFill>
              <a:latin typeface="Times New Roman"/>
            </a:endParaRPr>
          </a:p>
        </p:txBody>
      </p:sp>
      <p:sp>
        <p:nvSpPr>
          <p:cNvPr id="394" name=""/>
          <p:cNvSpPr txBox="1"/>
          <p:nvPr/>
        </p:nvSpPr>
        <p:spPr>
          <a:xfrm>
            <a:off x="6345720" y="5318640"/>
            <a:ext cx="1504800" cy="200160"/>
          </a:xfrm>
          <a:prstGeom prst="rect">
            <a:avLst/>
          </a:prstGeom>
          <a:noFill/>
          <a:ln w="0">
            <a:noFill/>
          </a:ln>
        </p:spPr>
        <p:txBody>
          <a:bodyPr wrap="none" lIns="0" rIns="0" tIns="0" bIns="0" anchor="t">
            <a:noAutofit/>
          </a:bodyPr>
          <a:p>
            <a:r>
              <a:rPr b="1" lang="en-US" sz="1400" spc="-1" strike="noStrike">
                <a:solidFill>
                  <a:srgbClr val="1d3859"/>
                </a:solidFill>
                <a:latin typeface="Arial"/>
                <a:ea typeface="Arial"/>
              </a:rPr>
              <a:t>Full bridge (open)</a:t>
            </a:r>
            <a:endParaRPr b="0" lang="en-US" sz="1400" spc="-1" strike="noStrike">
              <a:solidFill>
                <a:srgbClr val="000000"/>
              </a:solidFill>
              <a:latin typeface="Times New Roman"/>
            </a:endParaRPr>
          </a:p>
        </p:txBody>
      </p:sp>
      <p:sp>
        <p:nvSpPr>
          <p:cNvPr id="395" name=""/>
          <p:cNvSpPr txBox="1"/>
          <p:nvPr/>
        </p:nvSpPr>
        <p:spPr>
          <a:xfrm>
            <a:off x="6345720" y="5660280"/>
            <a:ext cx="3540960" cy="160560"/>
          </a:xfrm>
          <a:prstGeom prst="rect">
            <a:avLst/>
          </a:prstGeom>
          <a:noFill/>
          <a:ln w="0">
            <a:noFill/>
          </a:ln>
        </p:spPr>
        <p:txBody>
          <a:bodyPr wrap="none" lIns="0" rIns="0" tIns="0" bIns="0" anchor="t">
            <a:noAutofit/>
          </a:bodyPr>
          <a:p>
            <a:r>
              <a:rPr b="0" lang="en-US" sz="1130" spc="-1" strike="noStrike">
                <a:solidFill>
                  <a:srgbClr val="20252c"/>
                </a:solidFill>
                <a:latin typeface="Arial"/>
                <a:ea typeface="Arial"/>
              </a:rPr>
              <a:t>≈</a:t>
            </a:r>
            <a:r>
              <a:rPr b="0" lang="en-US" sz="1130" spc="-1" strike="noStrike">
                <a:solidFill>
                  <a:srgbClr val="20252c"/>
                </a:solidFill>
                <a:latin typeface="Arial"/>
                <a:ea typeface="Arial"/>
              </a:rPr>
              <a:t>3.9 mm² standard-cell area at narrow-profile synthesis.</a:t>
            </a:r>
            <a:endParaRPr b="0" lang="en-US" sz="1130" spc="-1" strike="noStrike">
              <a:solidFill>
                <a:srgbClr val="000000"/>
              </a:solidFill>
              <a:latin typeface="Times New Roman"/>
            </a:endParaRPr>
          </a:p>
        </p:txBody>
      </p:sp>
      <p:sp>
        <p:nvSpPr>
          <p:cNvPr id="396" name=""/>
          <p:cNvSpPr txBox="1"/>
          <p:nvPr/>
        </p:nvSpPr>
        <p:spPr>
          <a:xfrm>
            <a:off x="6346080" y="5963040"/>
            <a:ext cx="4933800" cy="155880"/>
          </a:xfrm>
          <a:prstGeom prst="rect">
            <a:avLst/>
          </a:prstGeom>
          <a:noFill/>
          <a:ln w="0">
            <a:noFill/>
          </a:ln>
        </p:spPr>
        <p:txBody>
          <a:bodyPr wrap="none" lIns="0" rIns="0" tIns="0" bIns="0" anchor="t">
            <a:noAutofit/>
          </a:bodyPr>
          <a:p>
            <a:r>
              <a:rPr b="0" lang="en-US" sz="1100" spc="-1" strike="noStrike">
                <a:solidFill>
                  <a:srgbClr val="20252c"/>
                </a:solidFill>
                <a:latin typeface="Arial"/>
                <a:ea typeface="Arial"/>
              </a:rPr>
              <a:t>Routing/sign-off not yet demonstrated. X.1 later improved interconnect setup to </a:t>
            </a:r>
            <a:endParaRPr b="0" lang="en-US" sz="1100" spc="-1" strike="noStrike">
              <a:solidFill>
                <a:srgbClr val="000000"/>
              </a:solidFill>
              <a:latin typeface="Times New Roman"/>
            </a:endParaRPr>
          </a:p>
        </p:txBody>
      </p:sp>
      <p:sp>
        <p:nvSpPr>
          <p:cNvPr id="397" name=""/>
          <p:cNvSpPr txBox="1"/>
          <p:nvPr/>
        </p:nvSpPr>
        <p:spPr>
          <a:xfrm>
            <a:off x="6346080" y="6131160"/>
            <a:ext cx="2410200" cy="155880"/>
          </a:xfrm>
          <a:prstGeom prst="rect">
            <a:avLst/>
          </a:prstGeom>
          <a:noFill/>
          <a:ln w="0">
            <a:noFill/>
          </a:ln>
        </p:spPr>
        <p:txBody>
          <a:bodyPr wrap="none" lIns="0" rIns="0" tIns="0" bIns="0" anchor="t">
            <a:noAutofit/>
          </a:bodyPr>
          <a:p>
            <a:r>
              <a:rPr b="0" lang="en-US" sz="1100" spc="-1" strike="noStrike">
                <a:solidFill>
                  <a:srgbClr val="20252c"/>
                </a:solidFill>
                <a:latin typeface="Arial"/>
                <a:ea typeface="Arial"/>
              </a:rPr>
              <a:t>−</a:t>
            </a:r>
            <a:r>
              <a:rPr b="0" lang="en-US" sz="1100" spc="-1" strike="noStrike">
                <a:solidFill>
                  <a:srgbClr val="20252c"/>
                </a:solidFill>
                <a:latin typeface="Arial"/>
                <a:ea typeface="Arial"/>
              </a:rPr>
              <a:t>0.52 ns without new GDS stream-out.</a:t>
            </a:r>
            <a:endParaRPr b="0" lang="en-US" sz="11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
          <p:cNvSpPr/>
          <p:nvPr/>
        </p:nvSpPr>
        <p:spPr>
          <a:xfrm>
            <a:off x="0" y="0"/>
            <a:ext cx="12191760" cy="6858000"/>
          </a:xfrm>
          <a:custGeom>
            <a:avLst/>
            <a:gdLst/>
            <a:ahLst/>
            <a:rect l="0" t="0" r="r" b="b"/>
            <a:pathLst>
              <a:path w="33866" h="19050">
                <a:moveTo>
                  <a:pt x="0" y="0"/>
                </a:moveTo>
                <a:lnTo>
                  <a:pt x="33866" y="0"/>
                </a:lnTo>
                <a:lnTo>
                  <a:pt x="33866"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399" name=""/>
          <p:cNvSpPr/>
          <p:nvPr/>
        </p:nvSpPr>
        <p:spPr>
          <a:xfrm>
            <a:off x="0" y="0"/>
            <a:ext cx="12192120" cy="6858360"/>
          </a:xfrm>
          <a:custGeom>
            <a:avLst/>
            <a:gdLst/>
            <a:ahLst/>
            <a:rect l="0" t="0" r="r" b="b"/>
            <a:pathLst>
              <a:path w="33867" h="19051">
                <a:moveTo>
                  <a:pt x="0" y="0"/>
                </a:moveTo>
                <a:lnTo>
                  <a:pt x="33867" y="0"/>
                </a:lnTo>
                <a:lnTo>
                  <a:pt x="33867" y="19051"/>
                </a:lnTo>
                <a:lnTo>
                  <a:pt x="0" y="19051"/>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00" name=""/>
          <p:cNvSpPr/>
          <p:nvPr/>
        </p:nvSpPr>
        <p:spPr>
          <a:xfrm>
            <a:off x="612000" y="466200"/>
            <a:ext cx="10954800" cy="0"/>
          </a:xfrm>
          <a:prstGeom prst="line">
            <a:avLst/>
          </a:prstGeom>
          <a:ln w="9720">
            <a:solidFill>
              <a:srgbClr val="ced4da"/>
            </a:solidFill>
            <a:round/>
          </a:ln>
        </p:spPr>
        <p:style>
          <a:lnRef idx="0"/>
          <a:fillRef idx="0"/>
          <a:effectRef idx="0"/>
          <a:fontRef idx="minor"/>
        </p:style>
        <p:txBody>
          <a:bodyPr lIns="4680" rIns="4680" tIns="-4680" bIns="-4680" anchor="t">
            <a:noAutofit/>
          </a:bodyPr>
          <a:p>
            <a:endParaRPr b="0" lang="en-US" sz="2400" spc="-1" strike="noStrike">
              <a:solidFill>
                <a:srgbClr val="000000"/>
              </a:solidFill>
              <a:latin typeface="Times New Roman"/>
            </a:endParaRPr>
          </a:p>
        </p:txBody>
      </p:sp>
      <p:sp>
        <p:nvSpPr>
          <p:cNvPr id="401" name=""/>
          <p:cNvSpPr txBox="1"/>
          <p:nvPr/>
        </p:nvSpPr>
        <p:spPr>
          <a:xfrm>
            <a:off x="612360" y="226440"/>
            <a:ext cx="181584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RoboKnights  /  SARCathon 2026</a:t>
            </a:r>
            <a:endParaRPr b="0" lang="en-US" sz="960" spc="-1" strike="noStrike">
              <a:solidFill>
                <a:srgbClr val="000000"/>
              </a:solidFill>
              <a:latin typeface="Times New Roman"/>
            </a:endParaRPr>
          </a:p>
        </p:txBody>
      </p:sp>
      <p:sp>
        <p:nvSpPr>
          <p:cNvPr id="402" name=""/>
          <p:cNvSpPr txBox="1"/>
          <p:nvPr/>
        </p:nvSpPr>
        <p:spPr>
          <a:xfrm>
            <a:off x="639720" y="737640"/>
            <a:ext cx="9120240" cy="379800"/>
          </a:xfrm>
          <a:prstGeom prst="rect">
            <a:avLst/>
          </a:prstGeom>
          <a:noFill/>
          <a:ln w="0">
            <a:noFill/>
          </a:ln>
        </p:spPr>
        <p:txBody>
          <a:bodyPr wrap="none" lIns="0" rIns="0" tIns="0" bIns="0" anchor="t">
            <a:noAutofit/>
          </a:bodyPr>
          <a:p>
            <a:r>
              <a:rPr b="1" lang="en-US" sz="2680" spc="-1" strike="noStrike">
                <a:solidFill>
                  <a:srgbClr val="20252c"/>
                </a:solidFill>
                <a:latin typeface="Arial"/>
                <a:ea typeface="Arial"/>
              </a:rPr>
              <a:t>Why full-bridge GDSII was not completed by submission</a:t>
            </a:r>
            <a:endParaRPr b="0" lang="en-US" sz="2680" spc="-1" strike="noStrike">
              <a:solidFill>
                <a:srgbClr val="000000"/>
              </a:solidFill>
              <a:latin typeface="Times New Roman"/>
            </a:endParaRPr>
          </a:p>
        </p:txBody>
      </p:sp>
      <p:sp>
        <p:nvSpPr>
          <p:cNvPr id="403" name=""/>
          <p:cNvSpPr/>
          <p:nvPr/>
        </p:nvSpPr>
        <p:spPr>
          <a:xfrm>
            <a:off x="612000" y="6482880"/>
            <a:ext cx="10954800" cy="0"/>
          </a:xfrm>
          <a:prstGeom prst="line">
            <a:avLst/>
          </a:prstGeom>
          <a:ln w="7920">
            <a:solidFill>
              <a:srgbClr val="ced4da"/>
            </a:solidFill>
            <a:round/>
          </a:ln>
        </p:spPr>
        <p:style>
          <a:lnRef idx="0"/>
          <a:fillRef idx="0"/>
          <a:effectRef idx="0"/>
          <a:fontRef idx="minor"/>
        </p:style>
        <p:txBody>
          <a:bodyPr lIns="3960" rIns="3960" tIns="-3960" bIns="-3960" anchor="t">
            <a:noAutofit/>
          </a:bodyPr>
          <a:p>
            <a:endParaRPr b="0" lang="en-US" sz="2400" spc="-1" strike="noStrike">
              <a:solidFill>
                <a:srgbClr val="000000"/>
              </a:solidFill>
              <a:latin typeface="Times New Roman"/>
            </a:endParaRPr>
          </a:p>
        </p:txBody>
      </p:sp>
      <p:sp>
        <p:nvSpPr>
          <p:cNvPr id="404" name=""/>
          <p:cNvSpPr txBox="1"/>
          <p:nvPr/>
        </p:nvSpPr>
        <p:spPr>
          <a:xfrm>
            <a:off x="639720" y="1332720"/>
            <a:ext cx="7646760" cy="177120"/>
          </a:xfrm>
          <a:prstGeom prst="rect">
            <a:avLst/>
          </a:prstGeom>
          <a:noFill/>
          <a:ln w="0">
            <a:noFill/>
          </a:ln>
        </p:spPr>
        <p:txBody>
          <a:bodyPr wrap="none" lIns="0" rIns="0" tIns="0" bIns="0" anchor="t">
            <a:noAutofit/>
          </a:bodyPr>
          <a:p>
            <a:r>
              <a:rPr b="0" lang="en-US" sz="1250" spc="-1" strike="noStrike">
                <a:solidFill>
                  <a:srgbClr val="525b65"/>
                </a:solidFill>
                <a:latin typeface="Arial"/>
                <a:ea typeface="Arial"/>
              </a:rPr>
              <a:t>The limiting factors were physical-implementation complexity, available compute and the submission window.</a:t>
            </a:r>
            <a:endParaRPr b="0" lang="en-US" sz="1250" spc="-1" strike="noStrike">
              <a:solidFill>
                <a:srgbClr val="000000"/>
              </a:solidFill>
              <a:latin typeface="Times New Roman"/>
            </a:endParaRPr>
          </a:p>
        </p:txBody>
      </p:sp>
      <p:sp>
        <p:nvSpPr>
          <p:cNvPr id="405" name=""/>
          <p:cNvSpPr txBox="1"/>
          <p:nvPr/>
        </p:nvSpPr>
        <p:spPr>
          <a:xfrm>
            <a:off x="639720" y="6578280"/>
            <a:ext cx="299088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AXI4-Stream → PCIe 6.0 Bridge  |  Round 2 technical review</a:t>
            </a:r>
            <a:endParaRPr b="0" lang="en-US" sz="870" spc="-1" strike="noStrike">
              <a:solidFill>
                <a:srgbClr val="000000"/>
              </a:solidFill>
              <a:latin typeface="Times New Roman"/>
            </a:endParaRPr>
          </a:p>
        </p:txBody>
      </p:sp>
      <p:sp>
        <p:nvSpPr>
          <p:cNvPr id="406" name=""/>
          <p:cNvSpPr/>
          <p:nvPr/>
        </p:nvSpPr>
        <p:spPr>
          <a:xfrm>
            <a:off x="740520" y="2358720"/>
            <a:ext cx="3337920" cy="1440"/>
          </a:xfrm>
          <a:prstGeom prst="line">
            <a:avLst/>
          </a:prstGeom>
          <a:ln w="10440">
            <a:solidFill>
              <a:srgbClr val="ced4da"/>
            </a:solidFill>
            <a:round/>
          </a:ln>
        </p:spPr>
        <p:style>
          <a:lnRef idx="0"/>
          <a:fillRef idx="0"/>
          <a:effectRef idx="0"/>
          <a:fontRef idx="minor"/>
        </p:style>
        <p:txBody>
          <a:bodyPr lIns="5040" rIns="5040" tIns="-3600" bIns="-3600" anchor="t">
            <a:noAutofit/>
          </a:bodyPr>
          <a:p>
            <a:endParaRPr b="0" lang="en-US" sz="2400" spc="-1" strike="noStrike">
              <a:solidFill>
                <a:srgbClr val="000000"/>
              </a:solidFill>
              <a:latin typeface="Times New Roman"/>
            </a:endParaRPr>
          </a:p>
        </p:txBody>
      </p:sp>
      <p:sp>
        <p:nvSpPr>
          <p:cNvPr id="407" name=""/>
          <p:cNvSpPr txBox="1"/>
          <p:nvPr/>
        </p:nvSpPr>
        <p:spPr>
          <a:xfrm>
            <a:off x="740520" y="1866240"/>
            <a:ext cx="2961720" cy="227520"/>
          </a:xfrm>
          <a:prstGeom prst="rect">
            <a:avLst/>
          </a:prstGeom>
          <a:noFill/>
          <a:ln w="0">
            <a:noFill/>
          </a:ln>
        </p:spPr>
        <p:txBody>
          <a:bodyPr wrap="none" lIns="0" rIns="0" tIns="0" bIns="0" anchor="t">
            <a:noAutofit/>
          </a:bodyPr>
          <a:p>
            <a:r>
              <a:rPr b="1" lang="en-US" sz="1610" spc="-1" strike="noStrike">
                <a:solidFill>
                  <a:srgbClr val="1d3859"/>
                </a:solidFill>
                <a:latin typeface="Arial"/>
                <a:ea typeface="Arial"/>
              </a:rPr>
              <a:t>1. RTL and performance target</a:t>
            </a:r>
            <a:endParaRPr b="0" lang="en-US" sz="1610" spc="-1" strike="noStrike">
              <a:solidFill>
                <a:srgbClr val="000000"/>
              </a:solidFill>
              <a:latin typeface="Times New Roman"/>
            </a:endParaRPr>
          </a:p>
        </p:txBody>
      </p:sp>
      <p:sp>
        <p:nvSpPr>
          <p:cNvPr id="408" name=""/>
          <p:cNvSpPr txBox="1"/>
          <p:nvPr/>
        </p:nvSpPr>
        <p:spPr>
          <a:xfrm>
            <a:off x="740520" y="2594520"/>
            <a:ext cx="331704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Wide 512-bit processing, parallel CRC/FEC, </a:t>
            </a:r>
            <a:endParaRPr b="0" lang="en-US" sz="1320" spc="-1" strike="noStrike">
              <a:solidFill>
                <a:srgbClr val="000000"/>
              </a:solidFill>
              <a:latin typeface="Times New Roman"/>
            </a:endParaRPr>
          </a:p>
        </p:txBody>
      </p:sp>
      <p:sp>
        <p:nvSpPr>
          <p:cNvPr id="409" name=""/>
          <p:cNvSpPr txBox="1"/>
          <p:nvPr/>
        </p:nvSpPr>
        <p:spPr>
          <a:xfrm>
            <a:off x="740520" y="2795760"/>
            <a:ext cx="307620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replay buffering and pipelining supported </a:t>
            </a:r>
            <a:endParaRPr b="0" lang="en-US" sz="1320" spc="-1" strike="noStrike">
              <a:solidFill>
                <a:srgbClr val="000000"/>
              </a:solidFill>
              <a:latin typeface="Times New Roman"/>
            </a:endParaRPr>
          </a:p>
        </p:txBody>
      </p:sp>
      <p:sp>
        <p:nvSpPr>
          <p:cNvPr id="410" name=""/>
          <p:cNvSpPr txBox="1"/>
          <p:nvPr/>
        </p:nvSpPr>
        <p:spPr>
          <a:xfrm>
            <a:off x="740520" y="2997000"/>
            <a:ext cx="310356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high simulation throughput with error-free </a:t>
            </a:r>
            <a:endParaRPr b="0" lang="en-US" sz="1320" spc="-1" strike="noStrike">
              <a:solidFill>
                <a:srgbClr val="000000"/>
              </a:solidFill>
              <a:latin typeface="Times New Roman"/>
            </a:endParaRPr>
          </a:p>
        </p:txBody>
      </p:sp>
      <p:sp>
        <p:nvSpPr>
          <p:cNvPr id="411" name=""/>
          <p:cNvSpPr txBox="1"/>
          <p:nvPr/>
        </p:nvSpPr>
        <p:spPr>
          <a:xfrm>
            <a:off x="740520" y="3198240"/>
            <a:ext cx="338256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delivery in the tested cases. Such a datapath </a:t>
            </a:r>
            <a:endParaRPr b="0" lang="en-US" sz="1320" spc="-1" strike="noStrike">
              <a:solidFill>
                <a:srgbClr val="000000"/>
              </a:solidFill>
              <a:latin typeface="Times New Roman"/>
            </a:endParaRPr>
          </a:p>
        </p:txBody>
      </p:sp>
      <p:sp>
        <p:nvSpPr>
          <p:cNvPr id="412" name=""/>
          <p:cNvSpPr txBox="1"/>
          <p:nvPr/>
        </p:nvSpPr>
        <p:spPr>
          <a:xfrm>
            <a:off x="740520" y="3399480"/>
            <a:ext cx="327132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also makes ASIC synthesis, placement and </a:t>
            </a:r>
            <a:endParaRPr b="0" lang="en-US" sz="1320" spc="-1" strike="noStrike">
              <a:solidFill>
                <a:srgbClr val="000000"/>
              </a:solidFill>
              <a:latin typeface="Times New Roman"/>
            </a:endParaRPr>
          </a:p>
        </p:txBody>
      </p:sp>
      <p:sp>
        <p:nvSpPr>
          <p:cNvPr id="413" name=""/>
          <p:cNvSpPr/>
          <p:nvPr/>
        </p:nvSpPr>
        <p:spPr>
          <a:xfrm>
            <a:off x="4251960" y="1865160"/>
            <a:ext cx="360" cy="3026520"/>
          </a:xfrm>
          <a:prstGeom prst="line">
            <a:avLst/>
          </a:prstGeom>
          <a:ln w="8640">
            <a:solidFill>
              <a:srgbClr val="ced4da"/>
            </a:solidFill>
            <a:round/>
          </a:ln>
        </p:spPr>
        <p:style>
          <a:lnRef idx="0"/>
          <a:fillRef idx="0"/>
          <a:effectRef idx="0"/>
          <a:fontRef idx="minor"/>
        </p:style>
        <p:txBody>
          <a:bodyPr lIns="4320" rIns="4320" tIns="4320" bIns="4320" anchor="t">
            <a:noAutofit/>
          </a:bodyPr>
          <a:p>
            <a:endParaRPr b="0" lang="en-US" sz="2400" spc="-1" strike="noStrike">
              <a:solidFill>
                <a:srgbClr val="000000"/>
              </a:solidFill>
              <a:latin typeface="Times New Roman"/>
            </a:endParaRPr>
          </a:p>
        </p:txBody>
      </p:sp>
      <p:sp>
        <p:nvSpPr>
          <p:cNvPr id="414" name=""/>
          <p:cNvSpPr txBox="1"/>
          <p:nvPr/>
        </p:nvSpPr>
        <p:spPr>
          <a:xfrm>
            <a:off x="740520" y="3600720"/>
            <a:ext cx="186300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routing more demanding.</a:t>
            </a:r>
            <a:endParaRPr b="0" lang="en-US" sz="1320" spc="-1" strike="noStrike">
              <a:solidFill>
                <a:srgbClr val="000000"/>
              </a:solidFill>
              <a:latin typeface="Times New Roman"/>
            </a:endParaRPr>
          </a:p>
        </p:txBody>
      </p:sp>
      <p:sp>
        <p:nvSpPr>
          <p:cNvPr id="415" name=""/>
          <p:cNvSpPr/>
          <p:nvPr/>
        </p:nvSpPr>
        <p:spPr>
          <a:xfrm>
            <a:off x="4480560" y="2358720"/>
            <a:ext cx="3301560" cy="1440"/>
          </a:xfrm>
          <a:prstGeom prst="line">
            <a:avLst/>
          </a:prstGeom>
          <a:ln w="10440">
            <a:solidFill>
              <a:srgbClr val="ced4da"/>
            </a:solidFill>
            <a:round/>
          </a:ln>
        </p:spPr>
        <p:style>
          <a:lnRef idx="0"/>
          <a:fillRef idx="0"/>
          <a:effectRef idx="0"/>
          <a:fontRef idx="minor"/>
        </p:style>
        <p:txBody>
          <a:bodyPr lIns="5040" rIns="5040" tIns="-3600" bIns="-3600" anchor="t">
            <a:noAutofit/>
          </a:bodyPr>
          <a:p>
            <a:endParaRPr b="0" lang="en-US" sz="2400" spc="-1" strike="noStrike">
              <a:solidFill>
                <a:srgbClr val="000000"/>
              </a:solidFill>
              <a:latin typeface="Times New Roman"/>
            </a:endParaRPr>
          </a:p>
        </p:txBody>
      </p:sp>
      <p:sp>
        <p:nvSpPr>
          <p:cNvPr id="416" name=""/>
          <p:cNvSpPr txBox="1"/>
          <p:nvPr/>
        </p:nvSpPr>
        <p:spPr>
          <a:xfrm>
            <a:off x="4480560" y="1866240"/>
            <a:ext cx="2507760" cy="227520"/>
          </a:xfrm>
          <a:prstGeom prst="rect">
            <a:avLst/>
          </a:prstGeom>
          <a:noFill/>
          <a:ln w="0">
            <a:noFill/>
          </a:ln>
        </p:spPr>
        <p:txBody>
          <a:bodyPr wrap="none" lIns="0" rIns="0" tIns="0" bIns="0" anchor="t">
            <a:noAutofit/>
          </a:bodyPr>
          <a:p>
            <a:r>
              <a:rPr b="1" lang="en-US" sz="1610" spc="-1" strike="noStrike">
                <a:solidFill>
                  <a:srgbClr val="1d3859"/>
                </a:solidFill>
                <a:latin typeface="Arial"/>
                <a:ea typeface="Arial"/>
              </a:rPr>
              <a:t>2. ASIC flow and compute</a:t>
            </a:r>
            <a:endParaRPr b="0" lang="en-US" sz="1610" spc="-1" strike="noStrike">
              <a:solidFill>
                <a:srgbClr val="000000"/>
              </a:solidFill>
              <a:latin typeface="Times New Roman"/>
            </a:endParaRPr>
          </a:p>
        </p:txBody>
      </p:sp>
      <p:sp>
        <p:nvSpPr>
          <p:cNvPr id="417" name=""/>
          <p:cNvSpPr txBox="1"/>
          <p:nvPr/>
        </p:nvSpPr>
        <p:spPr>
          <a:xfrm>
            <a:off x="4480560" y="2594520"/>
            <a:ext cx="252612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The SKY130 flow exposed Yosys </a:t>
            </a:r>
            <a:endParaRPr b="0" lang="en-US" sz="1320" spc="-1" strike="noStrike">
              <a:solidFill>
                <a:srgbClr val="000000"/>
              </a:solidFill>
              <a:latin typeface="Times New Roman"/>
            </a:endParaRPr>
          </a:p>
        </p:txBody>
      </p:sp>
      <p:sp>
        <p:nvSpPr>
          <p:cNvPr id="418" name=""/>
          <p:cNvSpPr txBox="1"/>
          <p:nvPr/>
        </p:nvSpPr>
        <p:spPr>
          <a:xfrm>
            <a:off x="4480560" y="2795760"/>
            <a:ext cx="320580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latch/logic-loop issues in the RX correction </a:t>
            </a:r>
            <a:endParaRPr b="0" lang="en-US" sz="1320" spc="-1" strike="noStrike">
              <a:solidFill>
                <a:srgbClr val="000000"/>
              </a:solidFill>
              <a:latin typeface="Times New Roman"/>
            </a:endParaRPr>
          </a:p>
        </p:txBody>
      </p:sp>
      <p:sp>
        <p:nvSpPr>
          <p:cNvPr id="419" name=""/>
          <p:cNvSpPr txBox="1"/>
          <p:nvPr/>
        </p:nvSpPr>
        <p:spPr>
          <a:xfrm>
            <a:off x="4480560" y="2997000"/>
            <a:ext cx="305640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path and long full-design runs. We made </a:t>
            </a:r>
            <a:endParaRPr b="0" lang="en-US" sz="1320" spc="-1" strike="noStrike">
              <a:solidFill>
                <a:srgbClr val="000000"/>
              </a:solidFill>
              <a:latin typeface="Times New Roman"/>
            </a:endParaRPr>
          </a:p>
        </p:txBody>
      </p:sp>
      <p:sp>
        <p:nvSpPr>
          <p:cNvPr id="420" name=""/>
          <p:cNvSpPr txBox="1"/>
          <p:nvPr/>
        </p:nvSpPr>
        <p:spPr>
          <a:xfrm>
            <a:off x="4480560" y="3198240"/>
            <a:ext cx="277596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X.1–X.4 ASIC-compatibility fixes and </a:t>
            </a:r>
            <a:endParaRPr b="0" lang="en-US" sz="1320" spc="-1" strike="noStrike">
              <a:solidFill>
                <a:srgbClr val="000000"/>
              </a:solidFill>
              <a:latin typeface="Times New Roman"/>
            </a:endParaRPr>
          </a:p>
        </p:txBody>
      </p:sp>
      <p:sp>
        <p:nvSpPr>
          <p:cNvPr id="421" name=""/>
          <p:cNvSpPr txBox="1"/>
          <p:nvPr/>
        </p:nvSpPr>
        <p:spPr>
          <a:xfrm>
            <a:off x="4480560" y="3399480"/>
            <a:ext cx="269352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introduced a narrow, parameterized </a:t>
            </a:r>
            <a:endParaRPr b="0" lang="en-US" sz="1320" spc="-1" strike="noStrike">
              <a:solidFill>
                <a:srgbClr val="000000"/>
              </a:solidFill>
              <a:latin typeface="Times New Roman"/>
            </a:endParaRPr>
          </a:p>
        </p:txBody>
      </p:sp>
      <p:sp>
        <p:nvSpPr>
          <p:cNvPr id="422" name=""/>
          <p:cNvSpPr/>
          <p:nvPr/>
        </p:nvSpPr>
        <p:spPr>
          <a:xfrm>
            <a:off x="7955280" y="1865160"/>
            <a:ext cx="360" cy="3026520"/>
          </a:xfrm>
          <a:prstGeom prst="line">
            <a:avLst/>
          </a:prstGeom>
          <a:ln w="8640">
            <a:solidFill>
              <a:srgbClr val="ced4da"/>
            </a:solidFill>
            <a:round/>
          </a:ln>
        </p:spPr>
        <p:style>
          <a:lnRef idx="0"/>
          <a:fillRef idx="0"/>
          <a:effectRef idx="0"/>
          <a:fontRef idx="minor"/>
        </p:style>
        <p:txBody>
          <a:bodyPr lIns="4320" rIns="4320" tIns="4320" bIns="4320" anchor="t">
            <a:noAutofit/>
          </a:bodyPr>
          <a:p>
            <a:endParaRPr b="0" lang="en-US" sz="2400" spc="-1" strike="noStrike">
              <a:solidFill>
                <a:srgbClr val="000000"/>
              </a:solidFill>
              <a:latin typeface="Times New Roman"/>
            </a:endParaRPr>
          </a:p>
        </p:txBody>
      </p:sp>
      <p:sp>
        <p:nvSpPr>
          <p:cNvPr id="423" name=""/>
          <p:cNvSpPr txBox="1"/>
          <p:nvPr/>
        </p:nvSpPr>
        <p:spPr>
          <a:xfrm>
            <a:off x="4480560" y="3600720"/>
            <a:ext cx="168624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implementation profile.</a:t>
            </a:r>
            <a:endParaRPr b="0" lang="en-US" sz="1320" spc="-1" strike="noStrike">
              <a:solidFill>
                <a:srgbClr val="000000"/>
              </a:solidFill>
              <a:latin typeface="Times New Roman"/>
            </a:endParaRPr>
          </a:p>
        </p:txBody>
      </p:sp>
      <p:sp>
        <p:nvSpPr>
          <p:cNvPr id="424" name=""/>
          <p:cNvSpPr/>
          <p:nvPr/>
        </p:nvSpPr>
        <p:spPr>
          <a:xfrm>
            <a:off x="8192880" y="2358720"/>
            <a:ext cx="3246840" cy="1440"/>
          </a:xfrm>
          <a:prstGeom prst="line">
            <a:avLst/>
          </a:prstGeom>
          <a:ln w="10440">
            <a:solidFill>
              <a:srgbClr val="ced4da"/>
            </a:solidFill>
            <a:round/>
          </a:ln>
        </p:spPr>
        <p:style>
          <a:lnRef idx="0"/>
          <a:fillRef idx="0"/>
          <a:effectRef idx="0"/>
          <a:fontRef idx="minor"/>
        </p:style>
        <p:txBody>
          <a:bodyPr lIns="5040" rIns="5040" tIns="-3600" bIns="-3600" anchor="t">
            <a:noAutofit/>
          </a:bodyPr>
          <a:p>
            <a:endParaRPr b="0" lang="en-US" sz="2400" spc="-1" strike="noStrike">
              <a:solidFill>
                <a:srgbClr val="000000"/>
              </a:solidFill>
              <a:latin typeface="Times New Roman"/>
            </a:endParaRPr>
          </a:p>
        </p:txBody>
      </p:sp>
      <p:sp>
        <p:nvSpPr>
          <p:cNvPr id="425" name=""/>
          <p:cNvSpPr txBox="1"/>
          <p:nvPr/>
        </p:nvSpPr>
        <p:spPr>
          <a:xfrm>
            <a:off x="8192880" y="1866240"/>
            <a:ext cx="2484720" cy="227520"/>
          </a:xfrm>
          <a:prstGeom prst="rect">
            <a:avLst/>
          </a:prstGeom>
          <a:noFill/>
          <a:ln w="0">
            <a:noFill/>
          </a:ln>
        </p:spPr>
        <p:txBody>
          <a:bodyPr wrap="none" lIns="0" rIns="0" tIns="0" bIns="0" anchor="t">
            <a:noAutofit/>
          </a:bodyPr>
          <a:p>
            <a:r>
              <a:rPr b="1" lang="en-US" sz="1610" spc="-1" strike="noStrike">
                <a:solidFill>
                  <a:srgbClr val="1d3859"/>
                </a:solidFill>
                <a:latin typeface="Arial"/>
                <a:ea typeface="Arial"/>
              </a:rPr>
              <a:t>3. Timing of the final runs</a:t>
            </a:r>
            <a:endParaRPr b="0" lang="en-US" sz="1610" spc="-1" strike="noStrike">
              <a:solidFill>
                <a:srgbClr val="000000"/>
              </a:solidFill>
              <a:latin typeface="Times New Roman"/>
            </a:endParaRPr>
          </a:p>
        </p:txBody>
      </p:sp>
      <p:sp>
        <p:nvSpPr>
          <p:cNvPr id="426" name=""/>
          <p:cNvSpPr txBox="1"/>
          <p:nvPr/>
        </p:nvSpPr>
        <p:spPr>
          <a:xfrm>
            <a:off x="8192880" y="2594520"/>
            <a:ext cx="276696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Our initial computing resources were </a:t>
            </a:r>
            <a:endParaRPr b="0" lang="en-US" sz="1320" spc="-1" strike="noStrike">
              <a:solidFill>
                <a:srgbClr val="000000"/>
              </a:solidFill>
              <a:latin typeface="Times New Roman"/>
            </a:endParaRPr>
          </a:p>
        </p:txBody>
      </p:sp>
      <p:sp>
        <p:nvSpPr>
          <p:cNvPr id="427" name=""/>
          <p:cNvSpPr txBox="1"/>
          <p:nvPr/>
        </p:nvSpPr>
        <p:spPr>
          <a:xfrm>
            <a:off x="8192880" y="2795760"/>
            <a:ext cx="295416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insufficient to complete the full physical-</a:t>
            </a:r>
            <a:endParaRPr b="0" lang="en-US" sz="1320" spc="-1" strike="noStrike">
              <a:solidFill>
                <a:srgbClr val="000000"/>
              </a:solidFill>
              <a:latin typeface="Times New Roman"/>
            </a:endParaRPr>
          </a:p>
        </p:txBody>
      </p:sp>
      <p:sp>
        <p:nvSpPr>
          <p:cNvPr id="428" name=""/>
          <p:cNvSpPr txBox="1"/>
          <p:nvPr/>
        </p:nvSpPr>
        <p:spPr>
          <a:xfrm>
            <a:off x="8192880" y="2997000"/>
            <a:ext cx="278676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design runs within the available time. </a:t>
            </a:r>
            <a:endParaRPr b="0" lang="en-US" sz="1320" spc="-1" strike="noStrike">
              <a:solidFill>
                <a:srgbClr val="000000"/>
              </a:solidFill>
              <a:latin typeface="Times New Roman"/>
            </a:endParaRPr>
          </a:p>
        </p:txBody>
      </p:sp>
      <p:sp>
        <p:nvSpPr>
          <p:cNvPr id="429" name=""/>
          <p:cNvSpPr txBox="1"/>
          <p:nvPr/>
        </p:nvSpPr>
        <p:spPr>
          <a:xfrm>
            <a:off x="8192880" y="3198240"/>
            <a:ext cx="287964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Higher-capacity campus compute was </a:t>
            </a:r>
            <a:endParaRPr b="0" lang="en-US" sz="1320" spc="-1" strike="noStrike">
              <a:solidFill>
                <a:srgbClr val="000000"/>
              </a:solidFill>
              <a:latin typeface="Times New Roman"/>
            </a:endParaRPr>
          </a:p>
        </p:txBody>
      </p:sp>
      <p:sp>
        <p:nvSpPr>
          <p:cNvPr id="430" name=""/>
          <p:cNvSpPr txBox="1"/>
          <p:nvPr/>
        </p:nvSpPr>
        <p:spPr>
          <a:xfrm>
            <a:off x="8192880" y="3399480"/>
            <a:ext cx="316908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identified and secured, but debugging and </a:t>
            </a:r>
            <a:endParaRPr b="0" lang="en-US" sz="1320" spc="-1" strike="noStrike">
              <a:solidFill>
                <a:srgbClr val="000000"/>
              </a:solidFill>
              <a:latin typeface="Times New Roman"/>
            </a:endParaRPr>
          </a:p>
        </p:txBody>
      </p:sp>
      <p:sp>
        <p:nvSpPr>
          <p:cNvPr id="431" name=""/>
          <p:cNvSpPr txBox="1"/>
          <p:nvPr/>
        </p:nvSpPr>
        <p:spPr>
          <a:xfrm>
            <a:off x="8192880" y="3600720"/>
            <a:ext cx="273924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reruns extended into the submission </a:t>
            </a:r>
            <a:endParaRPr b="0" lang="en-US" sz="1320" spc="-1" strike="noStrike">
              <a:solidFill>
                <a:srgbClr val="000000"/>
              </a:solidFill>
              <a:latin typeface="Times New Roman"/>
            </a:endParaRPr>
          </a:p>
        </p:txBody>
      </p:sp>
      <p:sp>
        <p:nvSpPr>
          <p:cNvPr id="432" name=""/>
          <p:cNvSpPr/>
          <p:nvPr/>
        </p:nvSpPr>
        <p:spPr>
          <a:xfrm>
            <a:off x="740520" y="4974120"/>
            <a:ext cx="10652760" cy="0"/>
          </a:xfrm>
          <a:prstGeom prst="line">
            <a:avLst/>
          </a:prstGeom>
          <a:ln w="11160">
            <a:solidFill>
              <a:srgbClr val="ced4da"/>
            </a:solidFill>
            <a:round/>
          </a:ln>
        </p:spPr>
        <p:style>
          <a:lnRef idx="0"/>
          <a:fillRef idx="0"/>
          <a:effectRef idx="0"/>
          <a:fontRef idx="minor"/>
        </p:style>
        <p:txBody>
          <a:bodyPr lIns="5400" rIns="5400" tIns="-5400" bIns="-5400" anchor="t">
            <a:noAutofit/>
          </a:bodyPr>
          <a:p>
            <a:endParaRPr b="0" lang="en-US" sz="2400" spc="-1" strike="noStrike">
              <a:solidFill>
                <a:srgbClr val="000000"/>
              </a:solidFill>
              <a:latin typeface="Times New Roman"/>
            </a:endParaRPr>
          </a:p>
        </p:txBody>
      </p:sp>
      <p:sp>
        <p:nvSpPr>
          <p:cNvPr id="433" name=""/>
          <p:cNvSpPr txBox="1"/>
          <p:nvPr/>
        </p:nvSpPr>
        <p:spPr>
          <a:xfrm>
            <a:off x="8192880" y="3801960"/>
            <a:ext cx="680400" cy="187920"/>
          </a:xfrm>
          <a:prstGeom prst="rect">
            <a:avLst/>
          </a:prstGeom>
          <a:noFill/>
          <a:ln w="0">
            <a:noFill/>
          </a:ln>
        </p:spPr>
        <p:txBody>
          <a:bodyPr wrap="none" lIns="0" rIns="0" tIns="0" bIns="0" anchor="t">
            <a:noAutofit/>
          </a:bodyPr>
          <a:p>
            <a:r>
              <a:rPr b="0" lang="en-US" sz="1320" spc="-1" strike="noStrike">
                <a:solidFill>
                  <a:srgbClr val="20252c"/>
                </a:solidFill>
                <a:latin typeface="Arial"/>
                <a:ea typeface="Arial"/>
              </a:rPr>
              <a:t>deadline.</a:t>
            </a:r>
            <a:endParaRPr b="0" lang="en-US" sz="1320" spc="-1" strike="noStrike">
              <a:solidFill>
                <a:srgbClr val="000000"/>
              </a:solidFill>
              <a:latin typeface="Times New Roman"/>
            </a:endParaRPr>
          </a:p>
        </p:txBody>
      </p:sp>
      <p:sp>
        <p:nvSpPr>
          <p:cNvPr id="434" name=""/>
          <p:cNvSpPr txBox="1"/>
          <p:nvPr/>
        </p:nvSpPr>
        <p:spPr>
          <a:xfrm>
            <a:off x="758880" y="5234040"/>
            <a:ext cx="1575000" cy="204480"/>
          </a:xfrm>
          <a:prstGeom prst="rect">
            <a:avLst/>
          </a:prstGeom>
          <a:noFill/>
          <a:ln w="0">
            <a:noFill/>
          </a:ln>
        </p:spPr>
        <p:txBody>
          <a:bodyPr wrap="none" lIns="0" rIns="0" tIns="0" bIns="0" anchor="t">
            <a:noAutofit/>
          </a:bodyPr>
          <a:p>
            <a:r>
              <a:rPr b="1" lang="en-US" sz="1440" spc="-1" strike="noStrike">
                <a:solidFill>
                  <a:srgbClr val="1d3859"/>
                </a:solidFill>
                <a:latin typeface="Arial"/>
                <a:ea typeface="Arial"/>
              </a:rPr>
              <a:t>Evidence at cutoff</a:t>
            </a:r>
            <a:endParaRPr b="0" lang="en-US" sz="1440" spc="-1" strike="noStrike">
              <a:solidFill>
                <a:srgbClr val="000000"/>
              </a:solidFill>
              <a:latin typeface="Times New Roman"/>
            </a:endParaRPr>
          </a:p>
        </p:txBody>
      </p:sp>
      <p:sp>
        <p:nvSpPr>
          <p:cNvPr id="435" name=""/>
          <p:cNvSpPr txBox="1"/>
          <p:nvPr/>
        </p:nvSpPr>
        <p:spPr>
          <a:xfrm>
            <a:off x="3099960" y="5172840"/>
            <a:ext cx="7582680" cy="183240"/>
          </a:xfrm>
          <a:prstGeom prst="rect">
            <a:avLst/>
          </a:prstGeom>
          <a:noFill/>
          <a:ln w="0">
            <a:noFill/>
          </a:ln>
        </p:spPr>
        <p:txBody>
          <a:bodyPr wrap="none" lIns="0" rIns="0" tIns="0" bIns="0" anchor="t">
            <a:noAutofit/>
          </a:bodyPr>
          <a:p>
            <a:r>
              <a:rPr b="0" lang="en-US" sz="1280" spc="-1" strike="noStrike">
                <a:solidFill>
                  <a:srgbClr val="20252c"/>
                </a:solidFill>
                <a:latin typeface="Arial"/>
                <a:ea typeface="Arial"/>
              </a:rPr>
              <a:t>Interconnect GDSII generated and DRC/LVS/antenna checks clean; full bridge synthesized (~3.9 mm² of </a:t>
            </a:r>
            <a:endParaRPr b="0" lang="en-US" sz="1280" spc="-1" strike="noStrike">
              <a:solidFill>
                <a:srgbClr val="000000"/>
              </a:solidFill>
              <a:latin typeface="Times New Roman"/>
            </a:endParaRPr>
          </a:p>
        </p:txBody>
      </p:sp>
      <p:sp>
        <p:nvSpPr>
          <p:cNvPr id="436" name=""/>
          <p:cNvSpPr/>
          <p:nvPr/>
        </p:nvSpPr>
        <p:spPr>
          <a:xfrm>
            <a:off x="740520" y="5970600"/>
            <a:ext cx="10653120" cy="1440"/>
          </a:xfrm>
          <a:prstGeom prst="line">
            <a:avLst/>
          </a:prstGeom>
          <a:ln w="7920">
            <a:solidFill>
              <a:srgbClr val="ced4da"/>
            </a:solidFill>
            <a:round/>
          </a:ln>
        </p:spPr>
        <p:style>
          <a:lnRef idx="0"/>
          <a:fillRef idx="0"/>
          <a:effectRef idx="0"/>
          <a:fontRef idx="minor"/>
        </p:style>
        <p:txBody>
          <a:bodyPr lIns="3960" rIns="3960" tIns="-2520" bIns="-2520" anchor="t">
            <a:noAutofit/>
          </a:bodyPr>
          <a:p>
            <a:endParaRPr b="0" lang="en-US" sz="2400" spc="-1" strike="noStrike">
              <a:solidFill>
                <a:srgbClr val="000000"/>
              </a:solidFill>
              <a:latin typeface="Times New Roman"/>
            </a:endParaRPr>
          </a:p>
        </p:txBody>
      </p:sp>
      <p:sp>
        <p:nvSpPr>
          <p:cNvPr id="437" name=""/>
          <p:cNvSpPr txBox="1"/>
          <p:nvPr/>
        </p:nvSpPr>
        <p:spPr>
          <a:xfrm>
            <a:off x="3099960" y="5368680"/>
            <a:ext cx="4758480" cy="183240"/>
          </a:xfrm>
          <a:prstGeom prst="rect">
            <a:avLst/>
          </a:prstGeom>
          <a:noFill/>
          <a:ln w="0">
            <a:noFill/>
          </a:ln>
        </p:spPr>
        <p:txBody>
          <a:bodyPr wrap="none" lIns="0" rIns="0" tIns="0" bIns="0" anchor="t">
            <a:noAutofit/>
          </a:bodyPr>
          <a:p>
            <a:r>
              <a:rPr b="0" lang="en-US" sz="1280" spc="-1" strike="noStrike">
                <a:solidFill>
                  <a:srgbClr val="20252c"/>
                </a:solidFill>
                <a:latin typeface="Arial"/>
                <a:ea typeface="Arial"/>
              </a:rPr>
              <a:t>standard cells), but full-bridge routing and sign-off remained open.</a:t>
            </a:r>
            <a:endParaRPr b="0" lang="en-US" sz="1280" spc="-1" strike="noStrike">
              <a:solidFill>
                <a:srgbClr val="000000"/>
              </a:solidFill>
              <a:latin typeface="Times New Roman"/>
            </a:endParaRPr>
          </a:p>
        </p:txBody>
      </p:sp>
      <p:sp>
        <p:nvSpPr>
          <p:cNvPr id="438" name=""/>
          <p:cNvSpPr txBox="1"/>
          <p:nvPr/>
        </p:nvSpPr>
        <p:spPr>
          <a:xfrm>
            <a:off x="767880" y="6055560"/>
            <a:ext cx="10118520" cy="148320"/>
          </a:xfrm>
          <a:prstGeom prst="rect">
            <a:avLst/>
          </a:prstGeom>
          <a:noFill/>
          <a:ln w="0">
            <a:noFill/>
          </a:ln>
        </p:spPr>
        <p:txBody>
          <a:bodyPr wrap="none" lIns="0" rIns="0" tIns="0" bIns="0" anchor="t">
            <a:noAutofit/>
          </a:bodyPr>
          <a:p>
            <a:r>
              <a:rPr b="0" lang="en-US" sz="1050" spc="-1" strike="noStrike">
                <a:solidFill>
                  <a:srgbClr val="525b65"/>
                </a:solidFill>
                <a:latin typeface="Arial"/>
                <a:ea typeface="Arial"/>
              </a:rPr>
              <a:t>Latest team-reported RTL simulation: 6.71 GB/s with zero observed data mismatches; earlier documented result: 6.17 GB/s. Final FPGA timing: 255 MHz and positive WNS </a:t>
            </a:r>
            <a:endParaRPr b="0" lang="en-US" sz="1050" spc="-1" strike="noStrike">
              <a:solidFill>
                <a:srgbClr val="000000"/>
              </a:solidFill>
              <a:latin typeface="Times New Roman"/>
            </a:endParaRPr>
          </a:p>
        </p:txBody>
      </p:sp>
      <p:sp>
        <p:nvSpPr>
          <p:cNvPr id="439" name=""/>
          <p:cNvSpPr txBox="1"/>
          <p:nvPr/>
        </p:nvSpPr>
        <p:spPr>
          <a:xfrm>
            <a:off x="767880" y="6198840"/>
            <a:ext cx="711000" cy="148320"/>
          </a:xfrm>
          <a:prstGeom prst="rect">
            <a:avLst/>
          </a:prstGeom>
          <a:noFill/>
          <a:ln w="0">
            <a:noFill/>
          </a:ln>
        </p:spPr>
        <p:txBody>
          <a:bodyPr wrap="none" lIns="0" rIns="0" tIns="0" bIns="0" anchor="t">
            <a:noAutofit/>
          </a:bodyPr>
          <a:p>
            <a:r>
              <a:rPr b="0" lang="en-US" sz="1050" spc="-1" strike="noStrike">
                <a:solidFill>
                  <a:srgbClr val="525b65"/>
                </a:solidFill>
                <a:latin typeface="Arial"/>
                <a:ea typeface="Arial"/>
              </a:rPr>
              <a:t>(+0.072 ns).</a:t>
            </a:r>
            <a:endParaRPr b="0" lang="en-US" sz="1050" spc="-1" strike="noStrike">
              <a:solidFill>
                <a:srgbClr val="000000"/>
              </a:solidFill>
              <a:latin typeface="Times New Roman"/>
            </a:endParaRPr>
          </a:p>
        </p:txBody>
      </p:sp>
      <p:sp>
        <p:nvSpPr>
          <p:cNvPr id="440" name=""/>
          <p:cNvSpPr txBox="1"/>
          <p:nvPr/>
        </p:nvSpPr>
        <p:spPr>
          <a:xfrm>
            <a:off x="11413440" y="230760"/>
            <a:ext cx="13500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09</a:t>
            </a:r>
            <a:endParaRPr b="0" lang="en-US" sz="960" spc="-1" strike="noStrike">
              <a:solidFill>
                <a:srgbClr val="000000"/>
              </a:solidFill>
              <a:latin typeface="Times New Roman"/>
            </a:endParaRPr>
          </a:p>
        </p:txBody>
      </p:sp>
      <p:sp>
        <p:nvSpPr>
          <p:cNvPr id="441" name=""/>
          <p:cNvSpPr txBox="1"/>
          <p:nvPr/>
        </p:nvSpPr>
        <p:spPr>
          <a:xfrm>
            <a:off x="11262600" y="6578280"/>
            <a:ext cx="27792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9 / 10</a:t>
            </a:r>
            <a:endParaRPr b="0" lang="en-US" sz="87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
          <p:cNvSpPr/>
          <p:nvPr/>
        </p:nvSpPr>
        <p:spPr>
          <a:xfrm>
            <a:off x="0" y="0"/>
            <a:ext cx="12191760" cy="6858000"/>
          </a:xfrm>
          <a:custGeom>
            <a:avLst/>
            <a:gdLst/>
            <a:ahLst/>
            <a:rect l="0" t="0" r="r" b="b"/>
            <a:pathLst>
              <a:path w="33866" h="19050">
                <a:moveTo>
                  <a:pt x="0" y="0"/>
                </a:moveTo>
                <a:lnTo>
                  <a:pt x="33866" y="0"/>
                </a:lnTo>
                <a:lnTo>
                  <a:pt x="33866" y="19050"/>
                </a:lnTo>
                <a:lnTo>
                  <a:pt x="0" y="19050"/>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43" name=""/>
          <p:cNvSpPr/>
          <p:nvPr/>
        </p:nvSpPr>
        <p:spPr>
          <a:xfrm>
            <a:off x="0" y="0"/>
            <a:ext cx="12192120" cy="6858360"/>
          </a:xfrm>
          <a:custGeom>
            <a:avLst/>
            <a:gdLst/>
            <a:ahLst/>
            <a:rect l="0" t="0" r="r" b="b"/>
            <a:pathLst>
              <a:path w="33867" h="19051">
                <a:moveTo>
                  <a:pt x="0" y="0"/>
                </a:moveTo>
                <a:lnTo>
                  <a:pt x="33867" y="0"/>
                </a:lnTo>
                <a:lnTo>
                  <a:pt x="33867" y="19051"/>
                </a:lnTo>
                <a:lnTo>
                  <a:pt x="0" y="19051"/>
                </a:lnTo>
                <a:lnTo>
                  <a:pt x="0" y="0"/>
                </a:lnTo>
                <a:close/>
              </a:path>
            </a:pathLst>
          </a:custGeom>
          <a:solidFill>
            <a:srgbClr val="ffffff"/>
          </a:solidFill>
          <a:ln w="0">
            <a:noFill/>
          </a:ln>
        </p:spPr>
        <p:txBody>
          <a:bodyPr lIns="0" rIns="0" tIns="0" bIns="0" anchor="t">
            <a:noAutofit/>
          </a:bodyPr>
          <a:p>
            <a:endParaRPr b="0" lang="en-US" sz="2400" spc="-1" strike="noStrike">
              <a:solidFill>
                <a:srgbClr val="000000"/>
              </a:solidFill>
              <a:latin typeface="Times New Roman"/>
            </a:endParaRPr>
          </a:p>
        </p:txBody>
      </p:sp>
      <p:sp>
        <p:nvSpPr>
          <p:cNvPr id="444" name=""/>
          <p:cNvSpPr/>
          <p:nvPr/>
        </p:nvSpPr>
        <p:spPr>
          <a:xfrm>
            <a:off x="612000" y="466200"/>
            <a:ext cx="10954800" cy="0"/>
          </a:xfrm>
          <a:prstGeom prst="line">
            <a:avLst/>
          </a:prstGeom>
          <a:ln w="9720">
            <a:solidFill>
              <a:srgbClr val="ced4da"/>
            </a:solidFill>
            <a:round/>
          </a:ln>
        </p:spPr>
        <p:style>
          <a:lnRef idx="0"/>
          <a:fillRef idx="0"/>
          <a:effectRef idx="0"/>
          <a:fontRef idx="minor"/>
        </p:style>
        <p:txBody>
          <a:bodyPr lIns="4680" rIns="4680" tIns="-4680" bIns="-4680" anchor="t">
            <a:noAutofit/>
          </a:bodyPr>
          <a:p>
            <a:endParaRPr b="0" lang="en-US" sz="2400" spc="-1" strike="noStrike">
              <a:solidFill>
                <a:srgbClr val="000000"/>
              </a:solidFill>
              <a:latin typeface="Times New Roman"/>
            </a:endParaRPr>
          </a:p>
        </p:txBody>
      </p:sp>
      <p:sp>
        <p:nvSpPr>
          <p:cNvPr id="445" name=""/>
          <p:cNvSpPr txBox="1"/>
          <p:nvPr/>
        </p:nvSpPr>
        <p:spPr>
          <a:xfrm>
            <a:off x="612360" y="226440"/>
            <a:ext cx="181584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RoboKnights  /  SARCathon 2026</a:t>
            </a:r>
            <a:endParaRPr b="0" lang="en-US" sz="960" spc="-1" strike="noStrike">
              <a:solidFill>
                <a:srgbClr val="000000"/>
              </a:solidFill>
              <a:latin typeface="Times New Roman"/>
            </a:endParaRPr>
          </a:p>
        </p:txBody>
      </p:sp>
      <p:sp>
        <p:nvSpPr>
          <p:cNvPr id="446" name=""/>
          <p:cNvSpPr txBox="1"/>
          <p:nvPr/>
        </p:nvSpPr>
        <p:spPr>
          <a:xfrm>
            <a:off x="639720" y="737640"/>
            <a:ext cx="8064360" cy="379800"/>
          </a:xfrm>
          <a:prstGeom prst="rect">
            <a:avLst/>
          </a:prstGeom>
          <a:noFill/>
          <a:ln w="0">
            <a:noFill/>
          </a:ln>
        </p:spPr>
        <p:txBody>
          <a:bodyPr wrap="none" lIns="0" rIns="0" tIns="0" bIns="0" anchor="t">
            <a:noAutofit/>
          </a:bodyPr>
          <a:p>
            <a:r>
              <a:rPr b="1" lang="en-US" sz="2680" spc="-1" strike="noStrike">
                <a:solidFill>
                  <a:srgbClr val="20252c"/>
                </a:solidFill>
                <a:latin typeface="Arial"/>
                <a:ea typeface="Arial"/>
              </a:rPr>
              <a:t>Engineering decisions beyond a basic RTL bridge</a:t>
            </a:r>
            <a:endParaRPr b="0" lang="en-US" sz="2680" spc="-1" strike="noStrike">
              <a:solidFill>
                <a:srgbClr val="000000"/>
              </a:solidFill>
              <a:latin typeface="Times New Roman"/>
            </a:endParaRPr>
          </a:p>
        </p:txBody>
      </p:sp>
      <p:sp>
        <p:nvSpPr>
          <p:cNvPr id="447" name=""/>
          <p:cNvSpPr/>
          <p:nvPr/>
        </p:nvSpPr>
        <p:spPr>
          <a:xfrm>
            <a:off x="612000" y="6482880"/>
            <a:ext cx="10954800" cy="0"/>
          </a:xfrm>
          <a:prstGeom prst="line">
            <a:avLst/>
          </a:prstGeom>
          <a:ln w="7920">
            <a:solidFill>
              <a:srgbClr val="ced4da"/>
            </a:solidFill>
            <a:round/>
          </a:ln>
        </p:spPr>
        <p:style>
          <a:lnRef idx="0"/>
          <a:fillRef idx="0"/>
          <a:effectRef idx="0"/>
          <a:fontRef idx="minor"/>
        </p:style>
        <p:txBody>
          <a:bodyPr lIns="3960" rIns="3960" tIns="-3960" bIns="-3960" anchor="t">
            <a:noAutofit/>
          </a:bodyPr>
          <a:p>
            <a:endParaRPr b="0" lang="en-US" sz="2400" spc="-1" strike="noStrike">
              <a:solidFill>
                <a:srgbClr val="000000"/>
              </a:solidFill>
              <a:latin typeface="Times New Roman"/>
            </a:endParaRPr>
          </a:p>
        </p:txBody>
      </p:sp>
      <p:sp>
        <p:nvSpPr>
          <p:cNvPr id="448" name=""/>
          <p:cNvSpPr txBox="1"/>
          <p:nvPr/>
        </p:nvSpPr>
        <p:spPr>
          <a:xfrm>
            <a:off x="639720" y="1332720"/>
            <a:ext cx="5813280" cy="177120"/>
          </a:xfrm>
          <a:prstGeom prst="rect">
            <a:avLst/>
          </a:prstGeom>
          <a:noFill/>
          <a:ln w="0">
            <a:noFill/>
          </a:ln>
        </p:spPr>
        <p:txBody>
          <a:bodyPr wrap="none" lIns="0" rIns="0" tIns="0" bIns="0" anchor="t">
            <a:noAutofit/>
          </a:bodyPr>
          <a:p>
            <a:r>
              <a:rPr b="0" lang="en-US" sz="1250" spc="-1" strike="noStrike">
                <a:solidFill>
                  <a:srgbClr val="525b65"/>
                </a:solidFill>
                <a:latin typeface="Arial"/>
                <a:ea typeface="Arial"/>
              </a:rPr>
              <a:t>What we actually implemented and tested—not claims of industry-first functionality.</a:t>
            </a:r>
            <a:endParaRPr b="0" lang="en-US" sz="1250" spc="-1" strike="noStrike">
              <a:solidFill>
                <a:srgbClr val="000000"/>
              </a:solidFill>
              <a:latin typeface="Times New Roman"/>
            </a:endParaRPr>
          </a:p>
        </p:txBody>
      </p:sp>
      <p:sp>
        <p:nvSpPr>
          <p:cNvPr id="449" name=""/>
          <p:cNvSpPr txBox="1"/>
          <p:nvPr/>
        </p:nvSpPr>
        <p:spPr>
          <a:xfrm>
            <a:off x="639720" y="6578280"/>
            <a:ext cx="299088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AXI4-Stream → PCIe 6.0 Bridge  |  Round 2 technical review</a:t>
            </a:r>
            <a:endParaRPr b="0" lang="en-US" sz="870" spc="-1" strike="noStrike">
              <a:solidFill>
                <a:srgbClr val="000000"/>
              </a:solidFill>
              <a:latin typeface="Times New Roman"/>
            </a:endParaRPr>
          </a:p>
        </p:txBody>
      </p:sp>
      <p:sp>
        <p:nvSpPr>
          <p:cNvPr id="450" name=""/>
          <p:cNvSpPr txBox="1"/>
          <p:nvPr/>
        </p:nvSpPr>
        <p:spPr>
          <a:xfrm>
            <a:off x="749520" y="1886760"/>
            <a:ext cx="228240" cy="256320"/>
          </a:xfrm>
          <a:prstGeom prst="rect">
            <a:avLst/>
          </a:prstGeom>
          <a:noFill/>
          <a:ln w="0">
            <a:noFill/>
          </a:ln>
        </p:spPr>
        <p:txBody>
          <a:bodyPr wrap="none" lIns="0" rIns="0" tIns="0" bIns="0" anchor="t">
            <a:noAutofit/>
          </a:bodyPr>
          <a:p>
            <a:r>
              <a:rPr b="1" lang="en-US" sz="1800" spc="-1" strike="noStrike">
                <a:solidFill>
                  <a:srgbClr val="284f78"/>
                </a:solidFill>
                <a:latin typeface="Arial"/>
                <a:ea typeface="Arial"/>
              </a:rPr>
              <a:t>1.</a:t>
            </a:r>
            <a:endParaRPr b="0" lang="en-US" sz="1800" spc="-1" strike="noStrike">
              <a:solidFill>
                <a:srgbClr val="000000"/>
              </a:solidFill>
              <a:latin typeface="Times New Roman"/>
            </a:endParaRPr>
          </a:p>
        </p:txBody>
      </p:sp>
      <p:sp>
        <p:nvSpPr>
          <p:cNvPr id="451" name=""/>
          <p:cNvSpPr txBox="1"/>
          <p:nvPr/>
        </p:nvSpPr>
        <p:spPr>
          <a:xfrm>
            <a:off x="1143000" y="1911600"/>
            <a:ext cx="2457360" cy="200160"/>
          </a:xfrm>
          <a:prstGeom prst="rect">
            <a:avLst/>
          </a:prstGeom>
          <a:noFill/>
          <a:ln w="0">
            <a:noFill/>
          </a:ln>
        </p:spPr>
        <p:txBody>
          <a:bodyPr wrap="none" lIns="0" rIns="0" tIns="0" bIns="0" anchor="t">
            <a:noAutofit/>
          </a:bodyPr>
          <a:p>
            <a:r>
              <a:rPr b="1" lang="en-US" sz="1410" spc="-1" strike="noStrike">
                <a:solidFill>
                  <a:srgbClr val="1d3859"/>
                </a:solidFill>
                <a:latin typeface="Arial"/>
                <a:ea typeface="Arial"/>
              </a:rPr>
              <a:t>Two workloads on one fabric</a:t>
            </a:r>
            <a:endParaRPr b="0" lang="en-US" sz="1410" spc="-1" strike="noStrike">
              <a:solidFill>
                <a:srgbClr val="000000"/>
              </a:solidFill>
              <a:latin typeface="Times New Roman"/>
            </a:endParaRPr>
          </a:p>
        </p:txBody>
      </p:sp>
      <p:sp>
        <p:nvSpPr>
          <p:cNvPr id="452" name=""/>
          <p:cNvSpPr txBox="1"/>
          <p:nvPr/>
        </p:nvSpPr>
        <p:spPr>
          <a:xfrm>
            <a:off x="1142640" y="2226960"/>
            <a:ext cx="4057560" cy="171000"/>
          </a:xfrm>
          <a:prstGeom prst="rect">
            <a:avLst/>
          </a:prstGeom>
          <a:noFill/>
          <a:ln w="0">
            <a:noFill/>
          </a:ln>
        </p:spPr>
        <p:txBody>
          <a:bodyPr wrap="none" lIns="0" rIns="0" tIns="0" bIns="0" anchor="t">
            <a:noAutofit/>
          </a:bodyPr>
          <a:p>
            <a:r>
              <a:rPr b="0" lang="en-US" sz="1200" spc="-1" strike="noStrike">
                <a:solidFill>
                  <a:srgbClr val="20252c"/>
                </a:solidFill>
                <a:latin typeface="Arial"/>
                <a:ea typeface="Arial"/>
              </a:rPr>
              <a:t>Programmable weighted arbitration shares the link between </a:t>
            </a:r>
            <a:endParaRPr b="0" lang="en-US" sz="1200" spc="-1" strike="noStrike">
              <a:solidFill>
                <a:srgbClr val="000000"/>
              </a:solidFill>
              <a:latin typeface="Times New Roman"/>
            </a:endParaRPr>
          </a:p>
        </p:txBody>
      </p:sp>
      <p:sp>
        <p:nvSpPr>
          <p:cNvPr id="453" name=""/>
          <p:cNvSpPr txBox="1"/>
          <p:nvPr/>
        </p:nvSpPr>
        <p:spPr>
          <a:xfrm>
            <a:off x="1142640" y="2409840"/>
            <a:ext cx="4667040" cy="171000"/>
          </a:xfrm>
          <a:prstGeom prst="rect">
            <a:avLst/>
          </a:prstGeom>
          <a:noFill/>
          <a:ln w="0">
            <a:noFill/>
          </a:ln>
        </p:spPr>
        <p:txBody>
          <a:bodyPr wrap="none" lIns="0" rIns="0" tIns="0" bIns="0" anchor="t">
            <a:noAutofit/>
          </a:bodyPr>
          <a:p>
            <a:r>
              <a:rPr b="0" lang="en-US" sz="1200" spc="-1" strike="noStrike">
                <a:solidFill>
                  <a:srgbClr val="20252c"/>
                </a:solidFill>
                <a:latin typeface="Arial"/>
                <a:ea typeface="Arial"/>
              </a:rPr>
              <a:t>SmartNIC traffic and ML tensor streaming, with independent channel </a:t>
            </a:r>
            <a:endParaRPr b="0" lang="en-US" sz="1200" spc="-1" strike="noStrike">
              <a:solidFill>
                <a:srgbClr val="000000"/>
              </a:solidFill>
              <a:latin typeface="Times New Roman"/>
            </a:endParaRPr>
          </a:p>
        </p:txBody>
      </p:sp>
      <p:sp>
        <p:nvSpPr>
          <p:cNvPr id="454" name=""/>
          <p:cNvSpPr/>
          <p:nvPr/>
        </p:nvSpPr>
        <p:spPr>
          <a:xfrm>
            <a:off x="749160" y="2953080"/>
            <a:ext cx="5203800" cy="1440"/>
          </a:xfrm>
          <a:prstGeom prst="line">
            <a:avLst/>
          </a:prstGeom>
          <a:ln w="7200">
            <a:solidFill>
              <a:srgbClr val="ced4da"/>
            </a:solidFill>
            <a:round/>
          </a:ln>
        </p:spPr>
        <p:style>
          <a:lnRef idx="0"/>
          <a:fillRef idx="0"/>
          <a:effectRef idx="0"/>
          <a:fontRef idx="minor"/>
        </p:style>
        <p:txBody>
          <a:bodyPr lIns="3600" rIns="3600" tIns="-2160" bIns="-2160" anchor="t">
            <a:noAutofit/>
          </a:bodyPr>
          <a:p>
            <a:endParaRPr b="0" lang="en-US" sz="2400" spc="-1" strike="noStrike">
              <a:solidFill>
                <a:srgbClr val="000000"/>
              </a:solidFill>
              <a:latin typeface="Times New Roman"/>
            </a:endParaRPr>
          </a:p>
        </p:txBody>
      </p:sp>
      <p:sp>
        <p:nvSpPr>
          <p:cNvPr id="455" name=""/>
          <p:cNvSpPr txBox="1"/>
          <p:nvPr/>
        </p:nvSpPr>
        <p:spPr>
          <a:xfrm>
            <a:off x="1142640" y="2592720"/>
            <a:ext cx="634680" cy="171000"/>
          </a:xfrm>
          <a:prstGeom prst="rect">
            <a:avLst/>
          </a:prstGeom>
          <a:noFill/>
          <a:ln w="0">
            <a:noFill/>
          </a:ln>
        </p:spPr>
        <p:txBody>
          <a:bodyPr wrap="none" lIns="0" rIns="0" tIns="0" bIns="0" anchor="t">
            <a:noAutofit/>
          </a:bodyPr>
          <a:p>
            <a:r>
              <a:rPr b="0" lang="en-US" sz="1200" spc="-1" strike="noStrike">
                <a:solidFill>
                  <a:srgbClr val="20252c"/>
                </a:solidFill>
                <a:latin typeface="Arial"/>
                <a:ea typeface="Arial"/>
              </a:rPr>
              <a:t>sessions.</a:t>
            </a:r>
            <a:endParaRPr b="0" lang="en-US" sz="1200" spc="-1" strike="noStrike">
              <a:solidFill>
                <a:srgbClr val="000000"/>
              </a:solidFill>
              <a:latin typeface="Times New Roman"/>
            </a:endParaRPr>
          </a:p>
        </p:txBody>
      </p:sp>
      <p:sp>
        <p:nvSpPr>
          <p:cNvPr id="456" name=""/>
          <p:cNvSpPr txBox="1"/>
          <p:nvPr/>
        </p:nvSpPr>
        <p:spPr>
          <a:xfrm>
            <a:off x="6235920" y="1886760"/>
            <a:ext cx="228240" cy="256320"/>
          </a:xfrm>
          <a:prstGeom prst="rect">
            <a:avLst/>
          </a:prstGeom>
          <a:noFill/>
          <a:ln w="0">
            <a:noFill/>
          </a:ln>
        </p:spPr>
        <p:txBody>
          <a:bodyPr wrap="none" lIns="0" rIns="0" tIns="0" bIns="0" anchor="t">
            <a:noAutofit/>
          </a:bodyPr>
          <a:p>
            <a:r>
              <a:rPr b="1" lang="en-US" sz="1800" spc="-1" strike="noStrike">
                <a:solidFill>
                  <a:srgbClr val="284f78"/>
                </a:solidFill>
                <a:latin typeface="Arial"/>
                <a:ea typeface="Arial"/>
              </a:rPr>
              <a:t>2.</a:t>
            </a:r>
            <a:endParaRPr b="0" lang="en-US" sz="1800" spc="-1" strike="noStrike">
              <a:solidFill>
                <a:srgbClr val="000000"/>
              </a:solidFill>
              <a:latin typeface="Times New Roman"/>
            </a:endParaRPr>
          </a:p>
        </p:txBody>
      </p:sp>
      <p:sp>
        <p:nvSpPr>
          <p:cNvPr id="457" name=""/>
          <p:cNvSpPr txBox="1"/>
          <p:nvPr/>
        </p:nvSpPr>
        <p:spPr>
          <a:xfrm>
            <a:off x="6629400" y="1911600"/>
            <a:ext cx="2754720" cy="200160"/>
          </a:xfrm>
          <a:prstGeom prst="rect">
            <a:avLst/>
          </a:prstGeom>
          <a:noFill/>
          <a:ln w="0">
            <a:noFill/>
          </a:ln>
        </p:spPr>
        <p:txBody>
          <a:bodyPr wrap="none" lIns="0" rIns="0" tIns="0" bIns="0" anchor="t">
            <a:noAutofit/>
          </a:bodyPr>
          <a:p>
            <a:r>
              <a:rPr b="1" lang="en-US" sz="1410" spc="-1" strike="noStrike">
                <a:solidFill>
                  <a:srgbClr val="1d3859"/>
                </a:solidFill>
                <a:latin typeface="Arial"/>
                <a:ea typeface="Arial"/>
              </a:rPr>
              <a:t>Actual application-level profiling</a:t>
            </a:r>
            <a:endParaRPr b="0" lang="en-US" sz="1410" spc="-1" strike="noStrike">
              <a:solidFill>
                <a:srgbClr val="000000"/>
              </a:solidFill>
              <a:latin typeface="Times New Roman"/>
            </a:endParaRPr>
          </a:p>
        </p:txBody>
      </p:sp>
      <p:sp>
        <p:nvSpPr>
          <p:cNvPr id="458" name=""/>
          <p:cNvSpPr txBox="1"/>
          <p:nvPr/>
        </p:nvSpPr>
        <p:spPr>
          <a:xfrm>
            <a:off x="6629040" y="2226960"/>
            <a:ext cx="4633560" cy="171000"/>
          </a:xfrm>
          <a:prstGeom prst="rect">
            <a:avLst/>
          </a:prstGeom>
          <a:noFill/>
          <a:ln w="0">
            <a:noFill/>
          </a:ln>
        </p:spPr>
        <p:txBody>
          <a:bodyPr wrap="none" lIns="0" rIns="0" tIns="0" bIns="0" anchor="t">
            <a:noAutofit/>
          </a:bodyPr>
          <a:p>
            <a:r>
              <a:rPr b="0" lang="en-US" sz="1200" spc="-1" strike="noStrike">
                <a:solidFill>
                  <a:srgbClr val="20252c"/>
                </a:solidFill>
                <a:latin typeface="Arial"/>
                <a:ea typeface="Arial"/>
              </a:rPr>
              <a:t>An in-house analyzer tested IMIX traffic, ML tensors, mixed weights, </a:t>
            </a:r>
            <a:endParaRPr b="0" lang="en-US" sz="1200" spc="-1" strike="noStrike">
              <a:solidFill>
                <a:srgbClr val="000000"/>
              </a:solidFill>
              <a:latin typeface="Times New Roman"/>
            </a:endParaRPr>
          </a:p>
        </p:txBody>
      </p:sp>
      <p:sp>
        <p:nvSpPr>
          <p:cNvPr id="459" name=""/>
          <p:cNvSpPr/>
          <p:nvPr/>
        </p:nvSpPr>
        <p:spPr>
          <a:xfrm>
            <a:off x="6235560" y="2953080"/>
            <a:ext cx="5203800" cy="1440"/>
          </a:xfrm>
          <a:prstGeom prst="line">
            <a:avLst/>
          </a:prstGeom>
          <a:ln w="7200">
            <a:solidFill>
              <a:srgbClr val="ced4da"/>
            </a:solidFill>
            <a:round/>
          </a:ln>
        </p:spPr>
        <p:style>
          <a:lnRef idx="0"/>
          <a:fillRef idx="0"/>
          <a:effectRef idx="0"/>
          <a:fontRef idx="minor"/>
        </p:style>
        <p:txBody>
          <a:bodyPr lIns="3600" rIns="3600" tIns="-2160" bIns="-2160" anchor="t">
            <a:noAutofit/>
          </a:bodyPr>
          <a:p>
            <a:endParaRPr b="0" lang="en-US" sz="2400" spc="-1" strike="noStrike">
              <a:solidFill>
                <a:srgbClr val="000000"/>
              </a:solidFill>
              <a:latin typeface="Times New Roman"/>
            </a:endParaRPr>
          </a:p>
        </p:txBody>
      </p:sp>
      <p:sp>
        <p:nvSpPr>
          <p:cNvPr id="460" name=""/>
          <p:cNvSpPr txBox="1"/>
          <p:nvPr/>
        </p:nvSpPr>
        <p:spPr>
          <a:xfrm>
            <a:off x="6629040" y="2409840"/>
            <a:ext cx="3786480" cy="171000"/>
          </a:xfrm>
          <a:prstGeom prst="rect">
            <a:avLst/>
          </a:prstGeom>
          <a:noFill/>
          <a:ln w="0">
            <a:noFill/>
          </a:ln>
        </p:spPr>
        <p:txBody>
          <a:bodyPr wrap="none" lIns="0" rIns="0" tIns="0" bIns="0" anchor="t">
            <a:noAutofit/>
          </a:bodyPr>
          <a:p>
            <a:r>
              <a:rPr b="0" lang="en-US" sz="1200" spc="-1" strike="noStrike">
                <a:solidFill>
                  <a:srgbClr val="20252c"/>
                </a:solidFill>
                <a:latin typeface="Arial"/>
                <a:ea typeface="Arial"/>
              </a:rPr>
              <a:t>4 KB crossings, packet rate and latency—not just Fmax.</a:t>
            </a:r>
            <a:endParaRPr b="0" lang="en-US" sz="1200" spc="-1" strike="noStrike">
              <a:solidFill>
                <a:srgbClr val="000000"/>
              </a:solidFill>
              <a:latin typeface="Times New Roman"/>
            </a:endParaRPr>
          </a:p>
        </p:txBody>
      </p:sp>
      <p:sp>
        <p:nvSpPr>
          <p:cNvPr id="461" name=""/>
          <p:cNvSpPr txBox="1"/>
          <p:nvPr/>
        </p:nvSpPr>
        <p:spPr>
          <a:xfrm>
            <a:off x="749520" y="3130200"/>
            <a:ext cx="228240" cy="256320"/>
          </a:xfrm>
          <a:prstGeom prst="rect">
            <a:avLst/>
          </a:prstGeom>
          <a:noFill/>
          <a:ln w="0">
            <a:noFill/>
          </a:ln>
        </p:spPr>
        <p:txBody>
          <a:bodyPr wrap="none" lIns="0" rIns="0" tIns="0" bIns="0" anchor="t">
            <a:noAutofit/>
          </a:bodyPr>
          <a:p>
            <a:r>
              <a:rPr b="1" lang="en-US" sz="1800" spc="-1" strike="noStrike">
                <a:solidFill>
                  <a:srgbClr val="284f78"/>
                </a:solidFill>
                <a:latin typeface="Arial"/>
                <a:ea typeface="Arial"/>
              </a:rPr>
              <a:t>3.</a:t>
            </a:r>
            <a:endParaRPr b="0" lang="en-US" sz="1800" spc="-1" strike="noStrike">
              <a:solidFill>
                <a:srgbClr val="000000"/>
              </a:solidFill>
              <a:latin typeface="Times New Roman"/>
            </a:endParaRPr>
          </a:p>
        </p:txBody>
      </p:sp>
      <p:sp>
        <p:nvSpPr>
          <p:cNvPr id="462" name=""/>
          <p:cNvSpPr txBox="1"/>
          <p:nvPr/>
        </p:nvSpPr>
        <p:spPr>
          <a:xfrm>
            <a:off x="1143000" y="3155040"/>
            <a:ext cx="2090160" cy="200160"/>
          </a:xfrm>
          <a:prstGeom prst="rect">
            <a:avLst/>
          </a:prstGeom>
          <a:noFill/>
          <a:ln w="0">
            <a:noFill/>
          </a:ln>
        </p:spPr>
        <p:txBody>
          <a:bodyPr wrap="none" lIns="0" rIns="0" tIns="0" bIns="0" anchor="t">
            <a:noAutofit/>
          </a:bodyPr>
          <a:p>
            <a:r>
              <a:rPr b="1" lang="en-US" sz="1410" spc="-1" strike="noStrike">
                <a:solidFill>
                  <a:srgbClr val="1d3859"/>
                </a:solidFill>
                <a:latin typeface="Arial"/>
                <a:ea typeface="Arial"/>
              </a:rPr>
              <a:t>Design for recoverability</a:t>
            </a:r>
            <a:endParaRPr b="0" lang="en-US" sz="1410" spc="-1" strike="noStrike">
              <a:solidFill>
                <a:srgbClr val="000000"/>
              </a:solidFill>
              <a:latin typeface="Times New Roman"/>
            </a:endParaRPr>
          </a:p>
        </p:txBody>
      </p:sp>
      <p:sp>
        <p:nvSpPr>
          <p:cNvPr id="463" name=""/>
          <p:cNvSpPr txBox="1"/>
          <p:nvPr/>
        </p:nvSpPr>
        <p:spPr>
          <a:xfrm>
            <a:off x="1142640" y="3470400"/>
            <a:ext cx="4267800" cy="171000"/>
          </a:xfrm>
          <a:prstGeom prst="rect">
            <a:avLst/>
          </a:prstGeom>
          <a:noFill/>
          <a:ln w="0">
            <a:noFill/>
          </a:ln>
        </p:spPr>
        <p:txBody>
          <a:bodyPr wrap="none" lIns="0" rIns="0" tIns="0" bIns="0" anchor="t">
            <a:noAutofit/>
          </a:bodyPr>
          <a:p>
            <a:r>
              <a:rPr b="0" lang="en-US" sz="1200" spc="-1" strike="noStrike">
                <a:solidFill>
                  <a:srgbClr val="20252c"/>
                </a:solidFill>
                <a:latin typeface="Arial"/>
                <a:ea typeface="Arial"/>
              </a:rPr>
              <a:t>ACK/NAK replay, CRC/FEC correction, link-drop/retrain cases, </a:t>
            </a:r>
            <a:endParaRPr b="0" lang="en-US" sz="1200" spc="-1" strike="noStrike">
              <a:solidFill>
                <a:srgbClr val="000000"/>
              </a:solidFill>
              <a:latin typeface="Times New Roman"/>
            </a:endParaRPr>
          </a:p>
        </p:txBody>
      </p:sp>
      <p:sp>
        <p:nvSpPr>
          <p:cNvPr id="464" name=""/>
          <p:cNvSpPr/>
          <p:nvPr/>
        </p:nvSpPr>
        <p:spPr>
          <a:xfrm>
            <a:off x="749160" y="4196880"/>
            <a:ext cx="5203440" cy="0"/>
          </a:xfrm>
          <a:prstGeom prst="line">
            <a:avLst/>
          </a:prstGeom>
          <a:ln w="7200">
            <a:solidFill>
              <a:srgbClr val="ced4da"/>
            </a:solidFill>
            <a:round/>
          </a:ln>
        </p:spPr>
        <p:style>
          <a:lnRef idx="0"/>
          <a:fillRef idx="0"/>
          <a:effectRef idx="0"/>
          <a:fontRef idx="minor"/>
        </p:style>
        <p:txBody>
          <a:bodyPr lIns="3600" rIns="3600" tIns="-3600" bIns="-3600" anchor="t">
            <a:noAutofit/>
          </a:bodyPr>
          <a:p>
            <a:endParaRPr b="0" lang="en-US" sz="2400" spc="-1" strike="noStrike">
              <a:solidFill>
                <a:srgbClr val="000000"/>
              </a:solidFill>
              <a:latin typeface="Times New Roman"/>
            </a:endParaRPr>
          </a:p>
        </p:txBody>
      </p:sp>
      <p:sp>
        <p:nvSpPr>
          <p:cNvPr id="465" name=""/>
          <p:cNvSpPr txBox="1"/>
          <p:nvPr/>
        </p:nvSpPr>
        <p:spPr>
          <a:xfrm>
            <a:off x="1142640" y="3653280"/>
            <a:ext cx="3438720" cy="171000"/>
          </a:xfrm>
          <a:prstGeom prst="rect">
            <a:avLst/>
          </a:prstGeom>
          <a:noFill/>
          <a:ln w="0">
            <a:noFill/>
          </a:ln>
        </p:spPr>
        <p:txBody>
          <a:bodyPr wrap="none" lIns="0" rIns="0" tIns="0" bIns="0" anchor="t">
            <a:noAutofit/>
          </a:bodyPr>
          <a:p>
            <a:r>
              <a:rPr b="0" lang="en-US" sz="1200" spc="-1" strike="noStrike">
                <a:solidFill>
                  <a:srgbClr val="20252c"/>
                </a:solidFill>
                <a:latin typeface="Arial"/>
                <a:ea typeface="Arial"/>
              </a:rPr>
              <a:t>resets, overflow and error injection were exercised.</a:t>
            </a:r>
            <a:endParaRPr b="0" lang="en-US" sz="1200" spc="-1" strike="noStrike">
              <a:solidFill>
                <a:srgbClr val="000000"/>
              </a:solidFill>
              <a:latin typeface="Times New Roman"/>
            </a:endParaRPr>
          </a:p>
        </p:txBody>
      </p:sp>
      <p:sp>
        <p:nvSpPr>
          <p:cNvPr id="466" name=""/>
          <p:cNvSpPr txBox="1"/>
          <p:nvPr/>
        </p:nvSpPr>
        <p:spPr>
          <a:xfrm>
            <a:off x="6235920" y="3130200"/>
            <a:ext cx="228240" cy="256320"/>
          </a:xfrm>
          <a:prstGeom prst="rect">
            <a:avLst/>
          </a:prstGeom>
          <a:noFill/>
          <a:ln w="0">
            <a:noFill/>
          </a:ln>
        </p:spPr>
        <p:txBody>
          <a:bodyPr wrap="none" lIns="0" rIns="0" tIns="0" bIns="0" anchor="t">
            <a:noAutofit/>
          </a:bodyPr>
          <a:p>
            <a:r>
              <a:rPr b="1" lang="en-US" sz="1800" spc="-1" strike="noStrike">
                <a:solidFill>
                  <a:srgbClr val="284f78"/>
                </a:solidFill>
                <a:latin typeface="Arial"/>
                <a:ea typeface="Arial"/>
              </a:rPr>
              <a:t>4.</a:t>
            </a:r>
            <a:endParaRPr b="0" lang="en-US" sz="1800" spc="-1" strike="noStrike">
              <a:solidFill>
                <a:srgbClr val="000000"/>
              </a:solidFill>
              <a:latin typeface="Times New Roman"/>
            </a:endParaRPr>
          </a:p>
        </p:txBody>
      </p:sp>
      <p:sp>
        <p:nvSpPr>
          <p:cNvPr id="467" name=""/>
          <p:cNvSpPr txBox="1"/>
          <p:nvPr/>
        </p:nvSpPr>
        <p:spPr>
          <a:xfrm>
            <a:off x="6629400" y="3155040"/>
            <a:ext cx="1892160" cy="200160"/>
          </a:xfrm>
          <a:prstGeom prst="rect">
            <a:avLst/>
          </a:prstGeom>
          <a:noFill/>
          <a:ln w="0">
            <a:noFill/>
          </a:ln>
        </p:spPr>
        <p:txBody>
          <a:bodyPr wrap="none" lIns="0" rIns="0" tIns="0" bIns="0" anchor="t">
            <a:noAutofit/>
          </a:bodyPr>
          <a:p>
            <a:r>
              <a:rPr b="1" lang="en-US" sz="1410" spc="-1" strike="noStrike">
                <a:solidFill>
                  <a:srgbClr val="1d3859"/>
                </a:solidFill>
                <a:latin typeface="Arial"/>
                <a:ea typeface="Arial"/>
              </a:rPr>
              <a:t>Regression protection</a:t>
            </a:r>
            <a:endParaRPr b="0" lang="en-US" sz="1410" spc="-1" strike="noStrike">
              <a:solidFill>
                <a:srgbClr val="000000"/>
              </a:solidFill>
              <a:latin typeface="Times New Roman"/>
            </a:endParaRPr>
          </a:p>
        </p:txBody>
      </p:sp>
      <p:sp>
        <p:nvSpPr>
          <p:cNvPr id="468" name=""/>
          <p:cNvSpPr txBox="1"/>
          <p:nvPr/>
        </p:nvSpPr>
        <p:spPr>
          <a:xfrm>
            <a:off x="6629040" y="3470400"/>
            <a:ext cx="4430880" cy="171000"/>
          </a:xfrm>
          <a:prstGeom prst="rect">
            <a:avLst/>
          </a:prstGeom>
          <a:noFill/>
          <a:ln w="0">
            <a:noFill/>
          </a:ln>
        </p:spPr>
        <p:txBody>
          <a:bodyPr wrap="none" lIns="0" rIns="0" tIns="0" bIns="0" anchor="t">
            <a:noAutofit/>
          </a:bodyPr>
          <a:p>
            <a:r>
              <a:rPr b="0" lang="en-US" sz="1200" spc="-1" strike="noStrike">
                <a:solidFill>
                  <a:srgbClr val="20252c"/>
                </a:solidFill>
                <a:latin typeface="Arial"/>
                <a:ea typeface="Arial"/>
              </a:rPr>
              <a:t>46 guard checks and a 40-seed randomized suite helped prevent </a:t>
            </a:r>
            <a:endParaRPr b="0" lang="en-US" sz="1200" spc="-1" strike="noStrike">
              <a:solidFill>
                <a:srgbClr val="000000"/>
              </a:solidFill>
              <a:latin typeface="Times New Roman"/>
            </a:endParaRPr>
          </a:p>
        </p:txBody>
      </p:sp>
      <p:sp>
        <p:nvSpPr>
          <p:cNvPr id="469" name=""/>
          <p:cNvSpPr/>
          <p:nvPr/>
        </p:nvSpPr>
        <p:spPr>
          <a:xfrm>
            <a:off x="6235560" y="4196880"/>
            <a:ext cx="5203440" cy="0"/>
          </a:xfrm>
          <a:prstGeom prst="line">
            <a:avLst/>
          </a:prstGeom>
          <a:ln w="7200">
            <a:solidFill>
              <a:srgbClr val="ced4da"/>
            </a:solidFill>
            <a:round/>
          </a:ln>
        </p:spPr>
        <p:style>
          <a:lnRef idx="0"/>
          <a:fillRef idx="0"/>
          <a:effectRef idx="0"/>
          <a:fontRef idx="minor"/>
        </p:style>
        <p:txBody>
          <a:bodyPr lIns="3600" rIns="3600" tIns="-3600" bIns="-3600" anchor="t">
            <a:noAutofit/>
          </a:bodyPr>
          <a:p>
            <a:endParaRPr b="0" lang="en-US" sz="2400" spc="-1" strike="noStrike">
              <a:solidFill>
                <a:srgbClr val="000000"/>
              </a:solidFill>
              <a:latin typeface="Times New Roman"/>
            </a:endParaRPr>
          </a:p>
        </p:txBody>
      </p:sp>
      <p:sp>
        <p:nvSpPr>
          <p:cNvPr id="470" name=""/>
          <p:cNvSpPr txBox="1"/>
          <p:nvPr/>
        </p:nvSpPr>
        <p:spPr>
          <a:xfrm>
            <a:off x="6629040" y="3653280"/>
            <a:ext cx="4286160" cy="171000"/>
          </a:xfrm>
          <a:prstGeom prst="rect">
            <a:avLst/>
          </a:prstGeom>
          <a:noFill/>
          <a:ln w="0">
            <a:noFill/>
          </a:ln>
        </p:spPr>
        <p:txBody>
          <a:bodyPr wrap="none" lIns="0" rIns="0" tIns="0" bIns="0" anchor="t">
            <a:noAutofit/>
          </a:bodyPr>
          <a:p>
            <a:r>
              <a:rPr b="0" lang="en-US" sz="1200" spc="-1" strike="noStrike">
                <a:solidFill>
                  <a:srgbClr val="20252c"/>
                </a:solidFill>
                <a:latin typeface="Arial"/>
                <a:ea typeface="Arial"/>
              </a:rPr>
              <a:t>repaired cross-layer bugs from reappearing during optimization.</a:t>
            </a:r>
            <a:endParaRPr b="0" lang="en-US" sz="1200" spc="-1" strike="noStrike">
              <a:solidFill>
                <a:srgbClr val="000000"/>
              </a:solidFill>
              <a:latin typeface="Times New Roman"/>
            </a:endParaRPr>
          </a:p>
        </p:txBody>
      </p:sp>
      <p:sp>
        <p:nvSpPr>
          <p:cNvPr id="471" name=""/>
          <p:cNvSpPr txBox="1"/>
          <p:nvPr/>
        </p:nvSpPr>
        <p:spPr>
          <a:xfrm>
            <a:off x="749520" y="4374000"/>
            <a:ext cx="228240" cy="256320"/>
          </a:xfrm>
          <a:prstGeom prst="rect">
            <a:avLst/>
          </a:prstGeom>
          <a:noFill/>
          <a:ln w="0">
            <a:noFill/>
          </a:ln>
        </p:spPr>
        <p:txBody>
          <a:bodyPr wrap="none" lIns="0" rIns="0" tIns="0" bIns="0" anchor="t">
            <a:noAutofit/>
          </a:bodyPr>
          <a:p>
            <a:r>
              <a:rPr b="1" lang="en-US" sz="1800" spc="-1" strike="noStrike">
                <a:solidFill>
                  <a:srgbClr val="284f78"/>
                </a:solidFill>
                <a:latin typeface="Arial"/>
                <a:ea typeface="Arial"/>
              </a:rPr>
              <a:t>5.</a:t>
            </a:r>
            <a:endParaRPr b="0" lang="en-US" sz="1800" spc="-1" strike="noStrike">
              <a:solidFill>
                <a:srgbClr val="000000"/>
              </a:solidFill>
              <a:latin typeface="Times New Roman"/>
            </a:endParaRPr>
          </a:p>
        </p:txBody>
      </p:sp>
      <p:sp>
        <p:nvSpPr>
          <p:cNvPr id="472" name=""/>
          <p:cNvSpPr txBox="1"/>
          <p:nvPr/>
        </p:nvSpPr>
        <p:spPr>
          <a:xfrm>
            <a:off x="1143000" y="4398840"/>
            <a:ext cx="2803320" cy="200160"/>
          </a:xfrm>
          <a:prstGeom prst="rect">
            <a:avLst/>
          </a:prstGeom>
          <a:noFill/>
          <a:ln w="0">
            <a:noFill/>
          </a:ln>
        </p:spPr>
        <p:txBody>
          <a:bodyPr wrap="none" lIns="0" rIns="0" tIns="0" bIns="0" anchor="t">
            <a:noAutofit/>
          </a:bodyPr>
          <a:p>
            <a:r>
              <a:rPr b="1" lang="en-US" sz="1410" spc="-1" strike="noStrike">
                <a:solidFill>
                  <a:srgbClr val="1d3859"/>
                </a:solidFill>
                <a:latin typeface="Arial"/>
                <a:ea typeface="Arial"/>
              </a:rPr>
              <a:t>Measured optimization trade-offs</a:t>
            </a:r>
            <a:endParaRPr b="0" lang="en-US" sz="1410" spc="-1" strike="noStrike">
              <a:solidFill>
                <a:srgbClr val="000000"/>
              </a:solidFill>
              <a:latin typeface="Times New Roman"/>
            </a:endParaRPr>
          </a:p>
        </p:txBody>
      </p:sp>
      <p:sp>
        <p:nvSpPr>
          <p:cNvPr id="473" name=""/>
          <p:cNvSpPr txBox="1"/>
          <p:nvPr/>
        </p:nvSpPr>
        <p:spPr>
          <a:xfrm>
            <a:off x="1142640" y="4714200"/>
            <a:ext cx="4370040" cy="171000"/>
          </a:xfrm>
          <a:prstGeom prst="rect">
            <a:avLst/>
          </a:prstGeom>
          <a:noFill/>
          <a:ln w="0">
            <a:noFill/>
          </a:ln>
        </p:spPr>
        <p:txBody>
          <a:bodyPr wrap="none" lIns="0" rIns="0" tIns="0" bIns="0" anchor="t">
            <a:noAutofit/>
          </a:bodyPr>
          <a:p>
            <a:r>
              <a:rPr b="0" lang="en-US" sz="1200" spc="-1" strike="noStrike">
                <a:solidFill>
                  <a:srgbClr val="20252c"/>
                </a:solidFill>
                <a:latin typeface="Arial"/>
                <a:ea typeface="Arial"/>
              </a:rPr>
              <a:t>We documented the 118 → 49 MHz timing regression, traced its </a:t>
            </a:r>
            <a:endParaRPr b="0" lang="en-US" sz="1200" spc="-1" strike="noStrike">
              <a:solidFill>
                <a:srgbClr val="000000"/>
              </a:solidFill>
              <a:latin typeface="Times New Roman"/>
            </a:endParaRPr>
          </a:p>
        </p:txBody>
      </p:sp>
      <p:sp>
        <p:nvSpPr>
          <p:cNvPr id="474" name=""/>
          <p:cNvSpPr txBox="1"/>
          <p:nvPr/>
        </p:nvSpPr>
        <p:spPr>
          <a:xfrm>
            <a:off x="1142640" y="4897080"/>
            <a:ext cx="3243960" cy="171000"/>
          </a:xfrm>
          <a:prstGeom prst="rect">
            <a:avLst/>
          </a:prstGeom>
          <a:noFill/>
          <a:ln w="0">
            <a:noFill/>
          </a:ln>
        </p:spPr>
        <p:txBody>
          <a:bodyPr wrap="none" lIns="0" rIns="0" tIns="0" bIns="0" anchor="t">
            <a:noAutofit/>
          </a:bodyPr>
          <a:p>
            <a:r>
              <a:rPr b="0" lang="en-US" sz="1200" spc="-1" strike="noStrike">
                <a:solidFill>
                  <a:srgbClr val="20252c"/>
                </a:solidFill>
                <a:latin typeface="Arial"/>
                <a:ea typeface="Arial"/>
              </a:rPr>
              <a:t>CRC-64 critical path and recovered to 255 MHz.</a:t>
            </a:r>
            <a:endParaRPr b="0" lang="en-US" sz="1200" spc="-1" strike="noStrike">
              <a:solidFill>
                <a:srgbClr val="000000"/>
              </a:solidFill>
              <a:latin typeface="Times New Roman"/>
            </a:endParaRPr>
          </a:p>
        </p:txBody>
      </p:sp>
      <p:sp>
        <p:nvSpPr>
          <p:cNvPr id="475" name=""/>
          <p:cNvSpPr txBox="1"/>
          <p:nvPr/>
        </p:nvSpPr>
        <p:spPr>
          <a:xfrm>
            <a:off x="6235920" y="4374000"/>
            <a:ext cx="228240" cy="256320"/>
          </a:xfrm>
          <a:prstGeom prst="rect">
            <a:avLst/>
          </a:prstGeom>
          <a:noFill/>
          <a:ln w="0">
            <a:noFill/>
          </a:ln>
        </p:spPr>
        <p:txBody>
          <a:bodyPr wrap="none" lIns="0" rIns="0" tIns="0" bIns="0" anchor="t">
            <a:noAutofit/>
          </a:bodyPr>
          <a:p>
            <a:r>
              <a:rPr b="1" lang="en-US" sz="1800" spc="-1" strike="noStrike">
                <a:solidFill>
                  <a:srgbClr val="284f78"/>
                </a:solidFill>
                <a:latin typeface="Arial"/>
                <a:ea typeface="Arial"/>
              </a:rPr>
              <a:t>6.</a:t>
            </a:r>
            <a:endParaRPr b="0" lang="en-US" sz="1800" spc="-1" strike="noStrike">
              <a:solidFill>
                <a:srgbClr val="000000"/>
              </a:solidFill>
              <a:latin typeface="Times New Roman"/>
            </a:endParaRPr>
          </a:p>
        </p:txBody>
      </p:sp>
      <p:sp>
        <p:nvSpPr>
          <p:cNvPr id="476" name=""/>
          <p:cNvSpPr txBox="1"/>
          <p:nvPr/>
        </p:nvSpPr>
        <p:spPr>
          <a:xfrm>
            <a:off x="6629400" y="4398840"/>
            <a:ext cx="2050560" cy="200160"/>
          </a:xfrm>
          <a:prstGeom prst="rect">
            <a:avLst/>
          </a:prstGeom>
          <a:noFill/>
          <a:ln w="0">
            <a:noFill/>
          </a:ln>
        </p:spPr>
        <p:txBody>
          <a:bodyPr wrap="none" lIns="0" rIns="0" tIns="0" bIns="0" anchor="t">
            <a:noAutofit/>
          </a:bodyPr>
          <a:p>
            <a:r>
              <a:rPr b="1" lang="en-US" sz="1410" spc="-1" strike="noStrike">
                <a:solidFill>
                  <a:srgbClr val="1d3859"/>
                </a:solidFill>
                <a:latin typeface="Arial"/>
                <a:ea typeface="Arial"/>
              </a:rPr>
              <a:t>Two technology profiles</a:t>
            </a:r>
            <a:endParaRPr b="0" lang="en-US" sz="1410" spc="-1" strike="noStrike">
              <a:solidFill>
                <a:srgbClr val="000000"/>
              </a:solidFill>
              <a:latin typeface="Times New Roman"/>
            </a:endParaRPr>
          </a:p>
        </p:txBody>
      </p:sp>
      <p:sp>
        <p:nvSpPr>
          <p:cNvPr id="477" name=""/>
          <p:cNvSpPr txBox="1"/>
          <p:nvPr/>
        </p:nvSpPr>
        <p:spPr>
          <a:xfrm>
            <a:off x="6629040" y="4714200"/>
            <a:ext cx="3895920" cy="171000"/>
          </a:xfrm>
          <a:prstGeom prst="rect">
            <a:avLst/>
          </a:prstGeom>
          <a:noFill/>
          <a:ln w="0">
            <a:noFill/>
          </a:ln>
        </p:spPr>
        <p:txBody>
          <a:bodyPr wrap="none" lIns="0" rIns="0" tIns="0" bIns="0" anchor="t">
            <a:noAutofit/>
          </a:bodyPr>
          <a:p>
            <a:r>
              <a:rPr b="0" lang="en-US" sz="1200" spc="-1" strike="noStrike">
                <a:solidFill>
                  <a:srgbClr val="20252c"/>
                </a:solidFill>
                <a:latin typeface="Arial"/>
                <a:ea typeface="Arial"/>
              </a:rPr>
              <a:t>Wide FPGA configuration and resource-reduced SKY130 </a:t>
            </a:r>
            <a:endParaRPr b="0" lang="en-US" sz="1200" spc="-1" strike="noStrike">
              <a:solidFill>
                <a:srgbClr val="000000"/>
              </a:solidFill>
              <a:latin typeface="Times New Roman"/>
            </a:endParaRPr>
          </a:p>
        </p:txBody>
      </p:sp>
      <p:sp>
        <p:nvSpPr>
          <p:cNvPr id="478" name=""/>
          <p:cNvSpPr/>
          <p:nvPr/>
        </p:nvSpPr>
        <p:spPr>
          <a:xfrm>
            <a:off x="731520" y="5888520"/>
            <a:ext cx="10662120" cy="0"/>
          </a:xfrm>
          <a:prstGeom prst="line">
            <a:avLst/>
          </a:prstGeom>
          <a:ln w="11160">
            <a:solidFill>
              <a:srgbClr val="ced4da"/>
            </a:solidFill>
            <a:round/>
          </a:ln>
        </p:spPr>
        <p:style>
          <a:lnRef idx="0"/>
          <a:fillRef idx="0"/>
          <a:effectRef idx="0"/>
          <a:fontRef idx="minor"/>
        </p:style>
        <p:txBody>
          <a:bodyPr lIns="5400" rIns="5400" tIns="-5400" bIns="-5400" anchor="t">
            <a:noAutofit/>
          </a:bodyPr>
          <a:p>
            <a:endParaRPr b="0" lang="en-US" sz="2400" spc="-1" strike="noStrike">
              <a:solidFill>
                <a:srgbClr val="000000"/>
              </a:solidFill>
              <a:latin typeface="Times New Roman"/>
            </a:endParaRPr>
          </a:p>
        </p:txBody>
      </p:sp>
      <p:sp>
        <p:nvSpPr>
          <p:cNvPr id="479" name=""/>
          <p:cNvSpPr txBox="1"/>
          <p:nvPr/>
        </p:nvSpPr>
        <p:spPr>
          <a:xfrm>
            <a:off x="6629040" y="4897080"/>
            <a:ext cx="4667040" cy="171000"/>
          </a:xfrm>
          <a:prstGeom prst="rect">
            <a:avLst/>
          </a:prstGeom>
          <a:noFill/>
          <a:ln w="0">
            <a:noFill/>
          </a:ln>
        </p:spPr>
        <p:txBody>
          <a:bodyPr wrap="none" lIns="0" rIns="0" tIns="0" bIns="0" anchor="t">
            <a:noAutofit/>
          </a:bodyPr>
          <a:p>
            <a:r>
              <a:rPr b="0" lang="en-US" sz="1200" spc="-1" strike="noStrike">
                <a:solidFill>
                  <a:srgbClr val="20252c"/>
                </a:solidFill>
                <a:latin typeface="Arial"/>
                <a:ea typeface="Arial"/>
              </a:rPr>
              <a:t>configuration share RTL, with Yosys-safe logic for ASIC experiments.</a:t>
            </a:r>
            <a:endParaRPr b="0" lang="en-US" sz="1200" spc="-1" strike="noStrike">
              <a:solidFill>
                <a:srgbClr val="000000"/>
              </a:solidFill>
              <a:latin typeface="Times New Roman"/>
            </a:endParaRPr>
          </a:p>
        </p:txBody>
      </p:sp>
      <p:sp>
        <p:nvSpPr>
          <p:cNvPr id="480" name=""/>
          <p:cNvSpPr txBox="1"/>
          <p:nvPr/>
        </p:nvSpPr>
        <p:spPr>
          <a:xfrm>
            <a:off x="749520" y="6031800"/>
            <a:ext cx="2062800" cy="169560"/>
          </a:xfrm>
          <a:prstGeom prst="rect">
            <a:avLst/>
          </a:prstGeom>
          <a:noFill/>
          <a:ln w="0">
            <a:noFill/>
          </a:ln>
        </p:spPr>
        <p:txBody>
          <a:bodyPr wrap="none" lIns="0" rIns="0" tIns="0" bIns="0" anchor="t">
            <a:noAutofit/>
          </a:bodyPr>
          <a:p>
            <a:r>
              <a:rPr b="1" lang="en-US" sz="1190" spc="-1" strike="noStrike">
                <a:solidFill>
                  <a:srgbClr val="1d3859"/>
                </a:solidFill>
                <a:latin typeface="Arial"/>
                <a:ea typeface="Arial"/>
              </a:rPr>
              <a:t>Remaining engineering work</a:t>
            </a:r>
            <a:endParaRPr b="0" lang="en-US" sz="1190" spc="-1" strike="noStrike">
              <a:solidFill>
                <a:srgbClr val="000000"/>
              </a:solidFill>
              <a:latin typeface="Times New Roman"/>
            </a:endParaRPr>
          </a:p>
        </p:txBody>
      </p:sp>
      <p:sp>
        <p:nvSpPr>
          <p:cNvPr id="481" name=""/>
          <p:cNvSpPr txBox="1"/>
          <p:nvPr/>
        </p:nvSpPr>
        <p:spPr>
          <a:xfrm>
            <a:off x="3264120" y="6108480"/>
            <a:ext cx="6349680" cy="162000"/>
          </a:xfrm>
          <a:prstGeom prst="rect">
            <a:avLst/>
          </a:prstGeom>
          <a:noFill/>
          <a:ln w="0">
            <a:noFill/>
          </a:ln>
        </p:spPr>
        <p:txBody>
          <a:bodyPr wrap="none" lIns="0" rIns="0" tIns="0" bIns="0" anchor="t">
            <a:noAutofit/>
          </a:bodyPr>
          <a:p>
            <a:r>
              <a:rPr b="0" lang="en-US" sz="1140" spc="-1" strike="noStrike">
                <a:solidFill>
                  <a:srgbClr val="525b65"/>
                </a:solidFill>
                <a:latin typeface="Arial"/>
                <a:ea typeface="Arial"/>
              </a:rPr>
              <a:t>Full-bridge SKY130 sign-off, complete I/O timing constraints and improved heavy-noise throughput.</a:t>
            </a:r>
            <a:endParaRPr b="0" lang="en-US" sz="1140" spc="-1" strike="noStrike">
              <a:solidFill>
                <a:srgbClr val="000000"/>
              </a:solidFill>
              <a:latin typeface="Times New Roman"/>
            </a:endParaRPr>
          </a:p>
        </p:txBody>
      </p:sp>
      <p:sp>
        <p:nvSpPr>
          <p:cNvPr id="482" name=""/>
          <p:cNvSpPr txBox="1"/>
          <p:nvPr/>
        </p:nvSpPr>
        <p:spPr>
          <a:xfrm>
            <a:off x="11413440" y="230760"/>
            <a:ext cx="135000" cy="136080"/>
          </a:xfrm>
          <a:prstGeom prst="rect">
            <a:avLst/>
          </a:prstGeom>
          <a:noFill/>
          <a:ln w="0">
            <a:noFill/>
          </a:ln>
        </p:spPr>
        <p:txBody>
          <a:bodyPr wrap="none" lIns="0" rIns="0" tIns="0" bIns="0" anchor="t">
            <a:noAutofit/>
          </a:bodyPr>
          <a:p>
            <a:r>
              <a:rPr b="0" lang="en-US" sz="960" spc="-1" strike="noStrike">
                <a:solidFill>
                  <a:srgbClr val="525b65"/>
                </a:solidFill>
                <a:latin typeface="Arial"/>
                <a:ea typeface="Arial"/>
              </a:rPr>
              <a:t>10</a:t>
            </a:r>
            <a:endParaRPr b="0" lang="en-US" sz="960" spc="-1" strike="noStrike">
              <a:solidFill>
                <a:srgbClr val="000000"/>
              </a:solidFill>
              <a:latin typeface="Times New Roman"/>
            </a:endParaRPr>
          </a:p>
        </p:txBody>
      </p:sp>
      <p:sp>
        <p:nvSpPr>
          <p:cNvPr id="483" name=""/>
          <p:cNvSpPr txBox="1"/>
          <p:nvPr/>
        </p:nvSpPr>
        <p:spPr>
          <a:xfrm>
            <a:off x="11201040" y="6578280"/>
            <a:ext cx="340560" cy="123840"/>
          </a:xfrm>
          <a:prstGeom prst="rect">
            <a:avLst/>
          </a:prstGeom>
          <a:noFill/>
          <a:ln w="0">
            <a:noFill/>
          </a:ln>
        </p:spPr>
        <p:txBody>
          <a:bodyPr wrap="none" lIns="0" rIns="0" tIns="0" bIns="0" anchor="t">
            <a:noAutofit/>
          </a:bodyPr>
          <a:p>
            <a:r>
              <a:rPr b="0" lang="en-US" sz="870" spc="-1" strike="noStrike">
                <a:solidFill>
                  <a:srgbClr val="7a8188"/>
                </a:solidFill>
                <a:latin typeface="Arial"/>
                <a:ea typeface="Arial"/>
              </a:rPr>
              <a:t>10 / 10</a:t>
            </a:r>
            <a:endParaRPr b="0" lang="en-US" sz="87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